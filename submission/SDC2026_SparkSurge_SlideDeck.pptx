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6" r:id="rId17"/>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948368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[0:00 to 0:15]  Hi, we are Spark Surge from UTHM, and this is LARIS, a chat-native quotation tracker for Malaysian SMEs. Our promise: quote in minutes, and never guess a price.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[0:15 to 0:55]  Meet a small shop owner. It is eleven at night, and she is quoting from her phone, between jobs. Enquiries arrive as Manglish voice notes. Supplier prices sit in photos and PDFs. So she prices from memory, then chases by hand. This is not a niche: Malaysia has about 1.07 million MSMEs, 39.7 percent of GDP, 48.7 percent of jobs, and businesses wait 61 days on average to be paid. A slow reply loses the job. A stale price loses the margin. Honestly, nobody has measured quote turnaround here, so we are timing it with owners.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[0:55 to 1:29]  LARIS keeps customers in chat and owners in control. One: the customer asks on Telegram or WhatsApp, by text or voice note. Two: ILMU turns the message into items and quantities. Three: rules, not AI, price it from the owner's cost book, with a margin floor. Four: the owner approves with one tap, and staff never see margins. Five: LARIS sends the quote, tracks it, exports it and chases it. The AI reads. Rules price. The owner approves.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[1:29 to 2:15]  Six things matter. First, chat and voice enquiries, read into items. Second, rule-based pricing with a margin guard and stale-cost alerts, so no AI price. Third, a catalog from a photo: one shelf photo becomes reviewable items, read by Qwen2.5-VL on a RunPod GPU. Fourth, availability and quote asks: customers can ask is it available, and request a quote. Fifth, supplier price lists come in as PDF, photo, Excel, Word or CSV, and quotes go out as PDF, Excel or CSV. Sixth, owner control: approval, roles, audit log, tracker and reminders. Telegram is live, and WhatsApp is built and waiting for Meta setup.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[2:15 to 3:15]  This is the real Telegram bot. The customer taps start and gets a short guide. Then asks, in Malay-English: do you sell eSUN filament? The bot answers only from the confirmed catalog: eSUN ePETG filament, ten ringgit for the 100 gram size. And it says listed means we carry it, not that it is in stock. We never claim stock we do not track. Then the customer asks for a quote on fifty kilos. LARIS does not promise a price. It creates draft QT-2026-0001 and tells the customer the owner will confirm the bulk price. On the right is what the owner sees: needs review, the item, the quantity, the listed price, and the bulk price waiting for the owner. One tap to approve and send. All of this is synthetic sample data.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[3:15 to 3:41]  Why is this different? Chat and spreadsheets are where owners already are, but nothing checks the price. Accounting and ERP tools are not built for chat and need setup. LARIS lives in the chat, reads voice, lists and photos, and keeps the price in rules with the owner in control. This compares categories of tools, not named products.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[3:41 to 4:23]  Our impact target is SDG 8, target 8.3: helping micro, small and medium enterprises grow. We track three KPIs. Minutes from enquiry to sent quote, targeting minus fifty percent. Enquiries answered within an hour, targeting ninety percent. And sent quotes on a stale cost with no warning, targeting zero. The baselines come from owner timing sessions we are running now, so these are targets, not results. And it is cheap to run: a thirty second voice note costs about six tenths of a sen on ILMU.</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[4:23 to 5:01]  The business model. Customers are made-to-order micro and small firms, such as signage, printing, 3D printing and fabrication, who quote from chat. The value is a quote in minutes, no guessed prices, and an owner who approves. We reach them through Telegram, WhatsApp, the web app and trade communities. Revenue is a subscription per business with seats, already built as a signed licence, illustratively thirty-nine ringgit a month, plus optional per-quote add-ons. Costs are mostly usage. The next slide shows the numbers.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[5:45 to 6:13]  Under the hood: chat messages reach FastAPI on Replit, which calls ILMU and RunPod, then the rules engine and cost book, then the owner web app. Replit hosts the app and PostgreSQL. A RunPod GPU runs Qwen2.5-VL and is stopped when idle. ILMU does Manglish speech and extraction. About five hundred automated tests run on every commit, on synthetic data.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[6:13 to 6:43]  Next we will connect WhatsApp through Meta, add per-size prices and quantity tiers, time real owners, and add stock levels. This is team Spark Surge: Harrish, Larm Kai Xian, Kevinraj, Teoh Yeong Boon and Muhammad Aqil. You can try it now: message the Telegram bot Gyser 3D Print Bot, or open the web app. The judge login is on screen. Terima kasih, thank you.</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[5:01 to 5:45]  How does it pay? These are illustrative assumptions we still need to validate with owners. Say thirty quotes a month, with ten minutes saved on each. At the minimum wage of eight ringgit seventy-two an hour, that is worth forty-three ringgit sixty a month. Our price hypothesis is thirty-nine ringgit, so the owner is covered even at the wage floor. Our cost to serve is about seven sen a quote, roughly ninety-five percent variable margin. As a scenario, not a forecast: a hundred businesses is about forty-seven thousand ringgit a year.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a:effectLst/>
      </p:bgPr>
    </p:bg>
    <p:spTree>
      <p:nvGrpSpPr>
        <p:cNvPr id="1" name=""/>
        <p:cNvGrpSpPr/>
        <p:nvPr/>
      </p:nvGrpSpPr>
      <p:grpSpPr>
        <a:xfrm>
          <a:off x="0" y="0"/>
          <a:ext cx="0" cy="0"/>
          <a:chOff x="0" y="0"/>
          <a:chExt cx="0" cy="0"/>
        </a:xfrm>
      </p:grpSpPr>
      <p:pic>
        <p:nvPicPr>
          <p:cNvPr id="2" name="Image 0" descr="C:/LARIS/web/public/brand/laris-logo.png"/>
          <p:cNvPicPr>
            <a:picLocks noChangeAspect="1"/>
          </p:cNvPicPr>
          <p:nvPr/>
        </p:nvPicPr>
        <p:blipFill>
          <a:blip r:embed="rId2"/>
          <a:stretch>
            <a:fillRect/>
          </a:stretch>
        </p:blipFill>
        <p:spPr>
          <a:xfrm>
            <a:off x="7223760" y="310896"/>
            <a:ext cx="1463040" cy="313639"/>
          </a:xfrm>
          <a:prstGeom prst="rect">
            <a:avLst/>
          </a:prstGeom>
        </p:spPr>
      </p:pic>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63"/>
                </a:solidFill>
                <a:latin typeface="Arial"/>
                <a:ea typeface="Arial"/>
                <a:cs typeface="Arial"/>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F5E48"/>
        </a:solidFill>
        <a:effectLst/>
      </p:bgPr>
    </p:bg>
    <p:spTree>
      <p:nvGrpSpPr>
        <p:cNvPr id="1" name=""/>
        <p:cNvGrpSpPr/>
        <p:nvPr/>
      </p:nvGrpSpPr>
      <p:grpSpPr>
        <a:xfrm>
          <a:off x="0" y="0"/>
          <a:ext cx="0" cy="0"/>
          <a:chOff x="0" y="0"/>
          <a:chExt cx="0" cy="0"/>
        </a:xfrm>
      </p:grpSpPr>
      <p:pic>
        <p:nvPicPr>
          <p:cNvPr id="2" name="Image 0" descr="C:/LARIS/web/public/brand/laris-logo-dark.png"/>
          <p:cNvPicPr>
            <a:picLocks noChangeAspect="1"/>
          </p:cNvPicPr>
          <p:nvPr/>
        </p:nvPicPr>
        <p:blipFill>
          <a:blip r:embed="rId2"/>
          <a:stretch>
            <a:fillRect/>
          </a:stretch>
        </p:blipFill>
        <p:spPr>
          <a:xfrm>
            <a:off x="7223760" y="310896"/>
            <a:ext cx="1463040" cy="313639"/>
          </a:xfrm>
          <a:prstGeom prst="rect">
            <a:avLst/>
          </a:prstGeom>
        </p:spPr>
      </p:pic>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CFE3DA"/>
                </a:solidFill>
                <a:latin typeface="Arial"/>
                <a:ea typeface="Arial"/>
                <a:cs typeface="Aria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63"/>
                </a:solidFill>
                <a:latin typeface="Arial"/>
                <a:ea typeface="Arial"/>
                <a:cs typeface="Aria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8.png"/><Relationship Id="rId5" Type="http://schemas.openxmlformats.org/officeDocument/2006/relationships/image" Target="../media/image12.png"/><Relationship Id="rId6" Type="http://schemas.openxmlformats.org/officeDocument/2006/relationships/image" Target="../media/image7.png"/><Relationship Id="rId7" Type="http://schemas.openxmlformats.org/officeDocument/2006/relationships/image" Target="../media/image13.png"/><Relationship Id="rId8"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1234440"/>
            <a:ext cx="8229600" cy="822960"/>
          </a:xfrm>
          <a:prstGeom prst="rect">
            <a:avLst/>
          </a:prstGeom>
          <a:noFill/>
          <a:ln/>
        </p:spPr>
        <p:txBody>
          <a:bodyPr wrap="square" lIns="0" tIns="0" rIns="0" bIns="0" rtlCol="0" anchor="t"/>
          <a:lstStyle/>
          <a:p>
            <a:pPr marL="0" indent="0">
              <a:buNone/>
            </a:pPr>
            <a:r>
              <a:rPr lang="en-US" sz="4800" b="1" dirty="0">
                <a:solidFill>
                  <a:srgbClr val="FFFFFF"/>
                </a:solidFill>
                <a:latin typeface="Arial" pitchFamily="34" charset="0"/>
                <a:ea typeface="Arial" pitchFamily="34" charset="-122"/>
                <a:cs typeface="Arial" pitchFamily="34" charset="-120"/>
              </a:rPr>
              <a:t>Quote in minutes.</a:t>
            </a:r>
            <a:endParaRPr lang="en-US" sz="4800" dirty="0"/>
          </a:p>
        </p:txBody>
      </p:sp>
      <p:sp>
        <p:nvSpPr>
          <p:cNvPr id="3" name="Text 1"/>
          <p:cNvSpPr txBox="1"/>
          <p:nvPr/>
        </p:nvSpPr>
        <p:spPr>
          <a:xfrm>
            <a:off x="457200" y="2011680"/>
            <a:ext cx="8229600" cy="822960"/>
          </a:xfrm>
          <a:prstGeom prst="rect">
            <a:avLst/>
          </a:prstGeom>
          <a:noFill/>
          <a:ln/>
        </p:spPr>
        <p:txBody>
          <a:bodyPr wrap="square" lIns="0" tIns="0" rIns="0" bIns="0" rtlCol="0" anchor="t"/>
          <a:lstStyle/>
          <a:p>
            <a:pPr marL="0" indent="0">
              <a:buNone/>
            </a:pPr>
            <a:r>
              <a:rPr lang="en-US" sz="4800" b="1" dirty="0">
                <a:solidFill>
                  <a:srgbClr val="F2AC2E"/>
                </a:solidFill>
                <a:latin typeface="Arial" pitchFamily="34" charset="0"/>
                <a:ea typeface="Arial" pitchFamily="34" charset="-122"/>
                <a:cs typeface="Arial" pitchFamily="34" charset="-120"/>
              </a:rPr>
              <a:t>Never guess a price.</a:t>
            </a:r>
            <a:endParaRPr lang="en-US" sz="4800" dirty="0"/>
          </a:p>
        </p:txBody>
      </p:sp>
      <p:sp>
        <p:nvSpPr>
          <p:cNvPr id="4" name="Text 2"/>
          <p:cNvSpPr txBox="1"/>
          <p:nvPr/>
        </p:nvSpPr>
        <p:spPr>
          <a:xfrm>
            <a:off x="457200" y="2926080"/>
            <a:ext cx="7772400" cy="365760"/>
          </a:xfrm>
          <a:prstGeom prst="rect">
            <a:avLst/>
          </a:prstGeom>
          <a:noFill/>
          <a:ln/>
        </p:spPr>
        <p:txBody>
          <a:bodyPr wrap="square" lIns="0" tIns="0" rIns="0" bIns="0" rtlCol="0" anchor="t"/>
          <a:lstStyle/>
          <a:p>
            <a:pPr marL="0" indent="0">
              <a:buNone/>
            </a:pPr>
            <a:r>
              <a:rPr lang="en-US" sz="1800" dirty="0">
                <a:solidFill>
                  <a:srgbClr val="FFFFFF"/>
                </a:solidFill>
                <a:latin typeface="Calibri" pitchFamily="34" charset="0"/>
                <a:ea typeface="Calibri" pitchFamily="34" charset="-122"/>
                <a:cs typeface="Calibri" pitchFamily="34" charset="-120"/>
              </a:rPr>
              <a:t>The chat-native quotation tracker for Malaysian SMEs.</a:t>
            </a:r>
            <a:endParaRPr lang="en-US" sz="1800" dirty="0"/>
          </a:p>
        </p:txBody>
      </p:sp>
      <p:sp>
        <p:nvSpPr>
          <p:cNvPr id="5" name="Text 3"/>
          <p:cNvSpPr txBox="1"/>
          <p:nvPr/>
        </p:nvSpPr>
        <p:spPr>
          <a:xfrm>
            <a:off x="457200" y="3886200"/>
            <a:ext cx="8229600" cy="228600"/>
          </a:xfrm>
          <a:prstGeom prst="rect">
            <a:avLst/>
          </a:prstGeom>
          <a:noFill/>
          <a:ln/>
        </p:spPr>
        <p:txBody>
          <a:bodyPr wrap="square" lIns="0" tIns="0" rIns="0" bIns="0" rtlCol="0" anchor="t"/>
          <a:lstStyle/>
          <a:p>
            <a:pPr marL="0" indent="0">
              <a:buNone/>
            </a:pPr>
            <a:r>
              <a:rPr lang="en-US" sz="1100" b="1" kern="0" spc="100" dirty="0">
                <a:solidFill>
                  <a:srgbClr val="CFE3DA"/>
                </a:solidFill>
                <a:latin typeface="Calibri" pitchFamily="34" charset="0"/>
                <a:ea typeface="Calibri" pitchFamily="34" charset="-122"/>
                <a:cs typeface="Calibri" pitchFamily="34" charset="-120"/>
              </a:rPr>
              <a:t>TEAM SPARK SURGE   ·   DOMAIN 2   ·   SDG 8 DECENT WORK AND ECONOMIC GROWTH</a:t>
            </a:r>
            <a:endParaRPr lang="en-US" sz="1100" dirty="0"/>
          </a:p>
        </p:txBody>
      </p:sp>
      <p:sp>
        <p:nvSpPr>
          <p:cNvPr id="6" name="Text 4"/>
          <p:cNvSpPr txBox="1"/>
          <p:nvPr/>
        </p:nvSpPr>
        <p:spPr>
          <a:xfrm>
            <a:off x="457200" y="4160520"/>
            <a:ext cx="8229600" cy="274320"/>
          </a:xfrm>
          <a:prstGeom prst="rect">
            <a:avLst/>
          </a:prstGeom>
          <a:noFill/>
          <a:ln/>
        </p:spPr>
        <p:txBody>
          <a:bodyPr wrap="square" lIns="0" tIns="0" rIns="0" bIns="0" rtlCol="0" anchor="t"/>
          <a:lstStyle/>
          <a:p>
            <a:pPr marL="0" indent="0">
              <a:buNone/>
            </a:pPr>
            <a:r>
              <a:rPr lang="en-US" sz="1200" dirty="0">
                <a:solidFill>
                  <a:srgbClr val="CFE3DA"/>
                </a:solidFill>
                <a:latin typeface="Calibri" pitchFamily="34" charset="0"/>
                <a:ea typeface="Calibri" pitchFamily="34" charset="-122"/>
                <a:cs typeface="Calibri" pitchFamily="34" charset="-120"/>
              </a:rPr>
              <a:t>Universiti Tun Hussein Onn Malaysia (UTHM)</a:t>
            </a:r>
            <a:endParaRPr lang="en-US" sz="1200" dirty="0"/>
          </a:p>
        </p:txBody>
      </p:sp>
      <p:sp>
        <p:nvSpPr>
          <p:cNvPr id="7" name="Text 5"/>
          <p:cNvSpPr txBox="1"/>
          <p:nvPr/>
        </p:nvSpPr>
        <p:spPr>
          <a:xfrm>
            <a:off x="457200" y="4434840"/>
            <a:ext cx="8229600" cy="274320"/>
          </a:xfrm>
          <a:prstGeom prst="rect">
            <a:avLst/>
          </a:prstGeom>
          <a:noFill/>
          <a:ln/>
        </p:spPr>
        <p:txBody>
          <a:bodyPr wrap="square" lIns="0" tIns="0" rIns="0" bIns="0" rtlCol="0" anchor="t"/>
          <a:lstStyle/>
          <a:p>
            <a:pPr marL="0" indent="0">
              <a:buNone/>
            </a:pPr>
            <a:r>
              <a:rPr lang="en-US" sz="1200" dirty="0">
                <a:solidFill>
                  <a:srgbClr val="CFE3DA"/>
                </a:solidFill>
                <a:latin typeface="Calibri" pitchFamily="34" charset="0"/>
                <a:ea typeface="Calibri" pitchFamily="34" charset="-122"/>
                <a:cs typeface="Calibri" pitchFamily="34" charset="-120"/>
              </a:rPr>
              <a:t>Harrish Govind · Larm Kai Xian · Kevinraj Gaunder · Teoh Yeong Boon · Muhammad Aqil</a:t>
            </a:r>
            <a:endParaRPr lang="en-US" sz="12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CFE3DA"/>
                </a:solidFill>
                <a:latin typeface="Arial"/>
                <a:ea typeface="Arial"/>
                <a:cs typeface="Arial"/>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28600"/>
            <a:ext cx="6583680" cy="731520"/>
          </a:xfrm>
          <a:prstGeom prst="rect">
            <a:avLst/>
          </a:prstGeom>
          <a:noFill/>
          <a:ln/>
        </p:spPr>
        <p:txBody>
          <a:bodyPr wrap="square" lIns="0" tIns="0" rIns="0" bIns="0" rtlCol="0" anchor="ctr"/>
          <a:lstStyle/>
          <a:p>
            <a:pPr marL="0" indent="0">
              <a:buNone/>
            </a:pPr>
            <a:r>
              <a:rPr lang="en-US" sz="3200" b="1" dirty="0">
                <a:solidFill>
                  <a:srgbClr val="16221B"/>
                </a:solidFill>
                <a:latin typeface="Arial" pitchFamily="34" charset="0"/>
                <a:ea typeface="Arial" pitchFamily="34" charset="-122"/>
                <a:cs typeface="Arial" pitchFamily="34" charset="-120"/>
              </a:rPr>
              <a:t>1. The Problem</a:t>
            </a:r>
            <a:endParaRPr lang="en-US" sz="3200" dirty="0"/>
          </a:p>
        </p:txBody>
      </p:sp>
      <p:sp>
        <p:nvSpPr>
          <p:cNvPr id="3" name="Text 1"/>
          <p:cNvSpPr txBox="1"/>
          <p:nvPr/>
        </p:nvSpPr>
        <p:spPr>
          <a:xfrm>
            <a:off x="457200" y="1097280"/>
            <a:ext cx="4023360" cy="228600"/>
          </a:xfrm>
          <a:prstGeom prst="rect">
            <a:avLst/>
          </a:prstGeom>
          <a:noFill/>
          <a:ln/>
        </p:spPr>
        <p:txBody>
          <a:bodyPr wrap="square" lIns="0" tIns="0" rIns="0" bIns="0" rtlCol="0" anchor="t"/>
          <a:lstStyle/>
          <a:p>
            <a:pPr marL="0" indent="0">
              <a:buNone/>
            </a:pPr>
            <a:r>
              <a:rPr lang="en-US" sz="1100" b="1" dirty="0">
                <a:solidFill>
                  <a:srgbClr val="0F5E48"/>
                </a:solidFill>
                <a:latin typeface="Calibri" pitchFamily="34" charset="0"/>
                <a:ea typeface="Calibri" pitchFamily="34" charset="-122"/>
                <a:cs typeface="Calibri" pitchFamily="34" charset="-120"/>
              </a:rPr>
              <a:t>ILLUSTRATIVE OWNER  ·  11 PM</a:t>
            </a:r>
            <a:endParaRPr lang="en-US" sz="1100" dirty="0"/>
          </a:p>
        </p:txBody>
      </p:sp>
      <p:sp>
        <p:nvSpPr>
          <p:cNvPr id="4" name="Text 2"/>
          <p:cNvSpPr txBox="1"/>
          <p:nvPr/>
        </p:nvSpPr>
        <p:spPr>
          <a:xfrm>
            <a:off x="457200" y="1371600"/>
            <a:ext cx="4023360" cy="640080"/>
          </a:xfrm>
          <a:prstGeom prst="rect">
            <a:avLst/>
          </a:prstGeom>
          <a:noFill/>
          <a:ln/>
        </p:spPr>
        <p:txBody>
          <a:bodyPr wrap="square" lIns="0" tIns="0" rIns="0" bIns="0" rtlCol="0" anchor="t"/>
          <a:lstStyle/>
          <a:p>
            <a:pPr marL="0" indent="0">
              <a:buNone/>
            </a:pPr>
            <a:r>
              <a:rPr lang="en-US" sz="2000" b="1" dirty="0">
                <a:solidFill>
                  <a:srgbClr val="16221B"/>
                </a:solidFill>
                <a:latin typeface="Arial" pitchFamily="34" charset="0"/>
                <a:ea typeface="Arial" pitchFamily="34" charset="-122"/>
                <a:cs typeface="Arial" pitchFamily="34" charset="-120"/>
              </a:rPr>
              <a:t>She quotes from her phone, between jobs.</a:t>
            </a:r>
            <a:endParaRPr lang="en-US" sz="2000" dirty="0"/>
          </a:p>
        </p:txBody>
      </p:sp>
      <p:sp>
        <p:nvSpPr>
          <p:cNvPr id="5" name="Shape 3"/>
          <p:cNvSpPr/>
          <p:nvPr/>
        </p:nvSpPr>
        <p:spPr>
          <a:xfrm>
            <a:off x="457200" y="2194560"/>
            <a:ext cx="384048" cy="384048"/>
          </a:xfrm>
          <a:prstGeom prst="ellipse">
            <a:avLst/>
          </a:prstGeom>
          <a:solidFill>
            <a:srgbClr val="EEF5F1"/>
          </a:solidFill>
          <a:ln w="12700">
            <a:solidFill>
              <a:srgbClr val="EEF5F1"/>
            </a:solidFill>
            <a:prstDash val="solid"/>
          </a:ln>
        </p:spPr>
        <p:txBody>
          <a:bodyPr/>
          <a:p/>
        </p:txBody>
      </p:sp>
      <p:pic>
        <p:nvPicPr>
          <p:cNvPr id="6" name="Image 0" descr="preencoded.png"/>
          <p:cNvPicPr>
            <a:picLocks noChangeAspect="1"/>
          </p:cNvPicPr>
          <p:nvPr/>
        </p:nvPicPr>
        <p:blipFill>
          <a:blip r:embed="rId3"/>
          <a:stretch>
            <a:fillRect/>
          </a:stretch>
        </p:blipFill>
        <p:spPr>
          <a:xfrm>
            <a:off x="548640" y="2286000"/>
            <a:ext cx="201168" cy="201168"/>
          </a:xfrm>
          <a:prstGeom prst="rect">
            <a:avLst/>
          </a:prstGeom>
        </p:spPr>
      </p:pic>
      <p:sp>
        <p:nvSpPr>
          <p:cNvPr id="7" name="Text 4"/>
          <p:cNvSpPr txBox="1"/>
          <p:nvPr/>
        </p:nvSpPr>
        <p:spPr>
          <a:xfrm>
            <a:off x="1005840" y="2194560"/>
            <a:ext cx="3474720" cy="384048"/>
          </a:xfrm>
          <a:prstGeom prst="rect">
            <a:avLst/>
          </a:prstGeom>
          <a:noFill/>
          <a:ln/>
        </p:spPr>
        <p:txBody>
          <a:bodyPr wrap="square" lIns="0" tIns="0" rIns="0" bIns="0" rtlCol="0" anchor="ctr"/>
          <a:lstStyle/>
          <a:p>
            <a:pPr marL="0" indent="0">
              <a:buNone/>
            </a:pPr>
            <a:r>
              <a:rPr lang="en-US" sz="1400" dirty="0">
                <a:solidFill>
                  <a:srgbClr val="16221B"/>
                </a:solidFill>
                <a:latin typeface="Calibri" pitchFamily="34" charset="0"/>
                <a:ea typeface="Calibri" pitchFamily="34" charset="-122"/>
                <a:cs typeface="Calibri" pitchFamily="34" charset="-120"/>
              </a:rPr>
              <a:t>Enquiries arrive as Manglish voice notes</a:t>
            </a:r>
            <a:endParaRPr lang="en-US" sz="1400" dirty="0"/>
          </a:p>
        </p:txBody>
      </p:sp>
      <p:sp>
        <p:nvSpPr>
          <p:cNvPr id="8" name="Shape 5"/>
          <p:cNvSpPr/>
          <p:nvPr/>
        </p:nvSpPr>
        <p:spPr>
          <a:xfrm>
            <a:off x="457200" y="2724912"/>
            <a:ext cx="384048" cy="384048"/>
          </a:xfrm>
          <a:prstGeom prst="ellipse">
            <a:avLst/>
          </a:prstGeom>
          <a:solidFill>
            <a:srgbClr val="EEF5F1"/>
          </a:solidFill>
          <a:ln w="12700">
            <a:solidFill>
              <a:srgbClr val="EEF5F1"/>
            </a:solidFill>
            <a:prstDash val="solid"/>
          </a:ln>
        </p:spPr>
        <p:txBody>
          <a:bodyPr/>
          <a:p/>
        </p:txBody>
      </p:sp>
      <p:pic>
        <p:nvPicPr>
          <p:cNvPr id="9" name="Image 1" descr="preencoded.png"/>
          <p:cNvPicPr>
            <a:picLocks noChangeAspect="1"/>
          </p:cNvPicPr>
          <p:nvPr/>
        </p:nvPicPr>
        <p:blipFill>
          <a:blip r:embed="rId4"/>
          <a:stretch>
            <a:fillRect/>
          </a:stretch>
        </p:blipFill>
        <p:spPr>
          <a:xfrm>
            <a:off x="548640" y="2816352"/>
            <a:ext cx="201168" cy="201168"/>
          </a:xfrm>
          <a:prstGeom prst="rect">
            <a:avLst/>
          </a:prstGeom>
        </p:spPr>
      </p:pic>
      <p:sp>
        <p:nvSpPr>
          <p:cNvPr id="10" name="Text 6"/>
          <p:cNvSpPr txBox="1"/>
          <p:nvPr/>
        </p:nvSpPr>
        <p:spPr>
          <a:xfrm>
            <a:off x="1005840" y="2724912"/>
            <a:ext cx="3474720" cy="384048"/>
          </a:xfrm>
          <a:prstGeom prst="rect">
            <a:avLst/>
          </a:prstGeom>
          <a:noFill/>
          <a:ln/>
        </p:spPr>
        <p:txBody>
          <a:bodyPr wrap="square" lIns="0" tIns="0" rIns="0" bIns="0" rtlCol="0" anchor="ctr"/>
          <a:lstStyle/>
          <a:p>
            <a:pPr marL="0" indent="0">
              <a:buNone/>
            </a:pPr>
            <a:r>
              <a:rPr lang="en-US" sz="1400" dirty="0">
                <a:solidFill>
                  <a:srgbClr val="16221B"/>
                </a:solidFill>
                <a:latin typeface="Calibri" pitchFamily="34" charset="0"/>
                <a:ea typeface="Calibri" pitchFamily="34" charset="-122"/>
                <a:cs typeface="Calibri" pitchFamily="34" charset="-120"/>
              </a:rPr>
              <a:t>Supplier prices sit in photos and PDFs</a:t>
            </a:r>
            <a:endParaRPr lang="en-US" sz="1400" dirty="0"/>
          </a:p>
        </p:txBody>
      </p:sp>
      <p:sp>
        <p:nvSpPr>
          <p:cNvPr id="11" name="Shape 7"/>
          <p:cNvSpPr/>
          <p:nvPr/>
        </p:nvSpPr>
        <p:spPr>
          <a:xfrm>
            <a:off x="457200" y="3255264"/>
            <a:ext cx="384048" cy="384048"/>
          </a:xfrm>
          <a:prstGeom prst="ellipse">
            <a:avLst/>
          </a:prstGeom>
          <a:solidFill>
            <a:srgbClr val="EEF5F1"/>
          </a:solidFill>
          <a:ln w="12700">
            <a:solidFill>
              <a:srgbClr val="EEF5F1"/>
            </a:solidFill>
            <a:prstDash val="solid"/>
          </a:ln>
        </p:spPr>
        <p:txBody>
          <a:bodyPr/>
          <a:p/>
        </p:txBody>
      </p:sp>
      <p:pic>
        <p:nvPicPr>
          <p:cNvPr id="12" name="Image 2" descr="preencoded.png"/>
          <p:cNvPicPr>
            <a:picLocks noChangeAspect="1"/>
          </p:cNvPicPr>
          <p:nvPr/>
        </p:nvPicPr>
        <p:blipFill>
          <a:blip r:embed="rId5"/>
          <a:stretch>
            <a:fillRect/>
          </a:stretch>
        </p:blipFill>
        <p:spPr>
          <a:xfrm>
            <a:off x="548640" y="3346704"/>
            <a:ext cx="201168" cy="201168"/>
          </a:xfrm>
          <a:prstGeom prst="rect">
            <a:avLst/>
          </a:prstGeom>
        </p:spPr>
      </p:pic>
      <p:sp>
        <p:nvSpPr>
          <p:cNvPr id="13" name="Text 8"/>
          <p:cNvSpPr txBox="1"/>
          <p:nvPr/>
        </p:nvSpPr>
        <p:spPr>
          <a:xfrm>
            <a:off x="1005840" y="3255264"/>
            <a:ext cx="3474720" cy="384048"/>
          </a:xfrm>
          <a:prstGeom prst="rect">
            <a:avLst/>
          </a:prstGeom>
          <a:noFill/>
          <a:ln/>
        </p:spPr>
        <p:txBody>
          <a:bodyPr wrap="square" lIns="0" tIns="0" rIns="0" bIns="0" rtlCol="0" anchor="ctr"/>
          <a:lstStyle/>
          <a:p>
            <a:pPr marL="0" indent="0">
              <a:buNone/>
            </a:pPr>
            <a:r>
              <a:rPr lang="en-US" sz="1400" dirty="0">
                <a:solidFill>
                  <a:srgbClr val="16221B"/>
                </a:solidFill>
                <a:latin typeface="Calibri" pitchFamily="34" charset="0"/>
                <a:ea typeface="Calibri" pitchFamily="34" charset="-122"/>
                <a:cs typeface="Calibri" pitchFamily="34" charset="-120"/>
              </a:rPr>
              <a:t>Quotes are priced from memory, then chased by hand</a:t>
            </a:r>
            <a:endParaRPr lang="en-US" sz="1400" dirty="0"/>
          </a:p>
        </p:txBody>
      </p:sp>
      <p:sp>
        <p:nvSpPr>
          <p:cNvPr id="14" name="Shape 9"/>
          <p:cNvSpPr/>
          <p:nvPr/>
        </p:nvSpPr>
        <p:spPr>
          <a:xfrm>
            <a:off x="4754880" y="1097280"/>
            <a:ext cx="1920240" cy="1234440"/>
          </a:xfrm>
          <a:prstGeom prst="roundRect">
            <a:avLst>
              <a:gd name="adj" fmla="val 5926"/>
            </a:avLst>
          </a:prstGeom>
          <a:solidFill>
            <a:srgbClr val="EEF5F1"/>
          </a:solidFill>
          <a:ln w="12700">
            <a:solidFill>
              <a:srgbClr val="EEF5F1"/>
            </a:solidFill>
            <a:prstDash val="solid"/>
          </a:ln>
        </p:spPr>
        <p:txBody>
          <a:bodyPr/>
          <a:p/>
        </p:txBody>
      </p:sp>
      <p:sp>
        <p:nvSpPr>
          <p:cNvPr id="15" name="Text 10"/>
          <p:cNvSpPr txBox="1"/>
          <p:nvPr/>
        </p:nvSpPr>
        <p:spPr>
          <a:xfrm>
            <a:off x="4892040" y="1234440"/>
            <a:ext cx="1691640" cy="502920"/>
          </a:xfrm>
          <a:prstGeom prst="rect">
            <a:avLst/>
          </a:prstGeom>
          <a:noFill/>
          <a:ln/>
        </p:spPr>
        <p:txBody>
          <a:bodyPr wrap="square" lIns="0" tIns="0" rIns="0" bIns="0" rtlCol="0" anchor="t"/>
          <a:lstStyle/>
          <a:p>
            <a:pPr marL="0" indent="0">
              <a:buNone/>
            </a:pPr>
            <a:r>
              <a:rPr lang="en-US" sz="2800" b="1" dirty="0">
                <a:solidFill>
                  <a:srgbClr val="0F5E48"/>
                </a:solidFill>
                <a:latin typeface="Arial" pitchFamily="34" charset="0"/>
                <a:ea typeface="Arial" pitchFamily="34" charset="-122"/>
                <a:cs typeface="Arial" pitchFamily="34" charset="-120"/>
              </a:rPr>
              <a:t>1.07M</a:t>
            </a:r>
            <a:endParaRPr lang="en-US" sz="2800" dirty="0"/>
          </a:p>
        </p:txBody>
      </p:sp>
      <p:sp>
        <p:nvSpPr>
          <p:cNvPr id="16" name="Text 11"/>
          <p:cNvSpPr txBox="1"/>
          <p:nvPr/>
        </p:nvSpPr>
        <p:spPr>
          <a:xfrm>
            <a:off x="4892040" y="1783080"/>
            <a:ext cx="1691640" cy="457200"/>
          </a:xfrm>
          <a:prstGeom prst="rect">
            <a:avLst/>
          </a:prstGeom>
          <a:noFill/>
          <a:ln/>
        </p:spPr>
        <p:txBody>
          <a:bodyPr wrap="square" lIns="0" tIns="0" rIns="0" bIns="0" rtlCol="0" anchor="t"/>
          <a:lstStyle/>
          <a:p>
            <a:pPr marL="0" indent="0">
              <a:buNone/>
            </a:pPr>
            <a:r>
              <a:rPr lang="en-US" sz="1200" dirty="0">
                <a:solidFill>
                  <a:srgbClr val="16221B"/>
                </a:solidFill>
                <a:latin typeface="Calibri" pitchFamily="34" charset="0"/>
                <a:ea typeface="Calibri" pitchFamily="34" charset="-122"/>
                <a:cs typeface="Calibri" pitchFamily="34" charset="-120"/>
              </a:rPr>
              <a:t>MSME establishments (DOSM, 2023)</a:t>
            </a:r>
            <a:endParaRPr lang="en-US" sz="1200" dirty="0"/>
          </a:p>
        </p:txBody>
      </p:sp>
      <p:sp>
        <p:nvSpPr>
          <p:cNvPr id="17" name="Shape 12"/>
          <p:cNvSpPr/>
          <p:nvPr/>
        </p:nvSpPr>
        <p:spPr>
          <a:xfrm>
            <a:off x="6812280" y="1097280"/>
            <a:ext cx="1920240" cy="1234440"/>
          </a:xfrm>
          <a:prstGeom prst="roundRect">
            <a:avLst>
              <a:gd name="adj" fmla="val 5926"/>
            </a:avLst>
          </a:prstGeom>
          <a:solidFill>
            <a:srgbClr val="EEF5F1"/>
          </a:solidFill>
          <a:ln w="12700">
            <a:solidFill>
              <a:srgbClr val="EEF5F1"/>
            </a:solidFill>
            <a:prstDash val="solid"/>
          </a:ln>
        </p:spPr>
        <p:txBody>
          <a:bodyPr/>
          <a:p/>
        </p:txBody>
      </p:sp>
      <p:sp>
        <p:nvSpPr>
          <p:cNvPr id="18" name="Text 13"/>
          <p:cNvSpPr txBox="1"/>
          <p:nvPr/>
        </p:nvSpPr>
        <p:spPr>
          <a:xfrm>
            <a:off x="6949440" y="1234440"/>
            <a:ext cx="1691640" cy="502920"/>
          </a:xfrm>
          <a:prstGeom prst="rect">
            <a:avLst/>
          </a:prstGeom>
          <a:noFill/>
          <a:ln/>
        </p:spPr>
        <p:txBody>
          <a:bodyPr wrap="square" lIns="0" tIns="0" rIns="0" bIns="0" rtlCol="0" anchor="t"/>
          <a:lstStyle/>
          <a:p>
            <a:pPr marL="0" indent="0">
              <a:buNone/>
            </a:pPr>
            <a:r>
              <a:rPr lang="en-US" sz="2800" b="1" dirty="0">
                <a:solidFill>
                  <a:srgbClr val="0F5E48"/>
                </a:solidFill>
                <a:latin typeface="Arial" pitchFamily="34" charset="0"/>
                <a:ea typeface="Arial" pitchFamily="34" charset="-122"/>
                <a:cs typeface="Arial" pitchFamily="34" charset="-120"/>
              </a:rPr>
              <a:t>39.7%</a:t>
            </a:r>
            <a:endParaRPr lang="en-US" sz="2800" dirty="0"/>
          </a:p>
        </p:txBody>
      </p:sp>
      <p:sp>
        <p:nvSpPr>
          <p:cNvPr id="19" name="Text 14"/>
          <p:cNvSpPr txBox="1"/>
          <p:nvPr/>
        </p:nvSpPr>
        <p:spPr>
          <a:xfrm>
            <a:off x="6949440" y="1783080"/>
            <a:ext cx="1691640" cy="457200"/>
          </a:xfrm>
          <a:prstGeom prst="rect">
            <a:avLst/>
          </a:prstGeom>
          <a:noFill/>
          <a:ln/>
        </p:spPr>
        <p:txBody>
          <a:bodyPr wrap="square" lIns="0" tIns="0" rIns="0" bIns="0" rtlCol="0" anchor="t"/>
          <a:lstStyle/>
          <a:p>
            <a:pPr marL="0" indent="0">
              <a:buNone/>
            </a:pPr>
            <a:r>
              <a:rPr lang="en-US" sz="1200" dirty="0">
                <a:solidFill>
                  <a:srgbClr val="16221B"/>
                </a:solidFill>
                <a:latin typeface="Calibri" pitchFamily="34" charset="0"/>
                <a:ea typeface="Calibri" pitchFamily="34" charset="-122"/>
                <a:cs typeface="Calibri" pitchFamily="34" charset="-120"/>
              </a:rPr>
              <a:t>of GDP comes from MSMEs (DOSM, 2025)</a:t>
            </a:r>
            <a:endParaRPr lang="en-US" sz="1200" dirty="0"/>
          </a:p>
        </p:txBody>
      </p:sp>
      <p:sp>
        <p:nvSpPr>
          <p:cNvPr id="20" name="Shape 15"/>
          <p:cNvSpPr/>
          <p:nvPr/>
        </p:nvSpPr>
        <p:spPr>
          <a:xfrm>
            <a:off x="4754880" y="2468880"/>
            <a:ext cx="1920240" cy="1234440"/>
          </a:xfrm>
          <a:prstGeom prst="roundRect">
            <a:avLst>
              <a:gd name="adj" fmla="val 5926"/>
            </a:avLst>
          </a:prstGeom>
          <a:solidFill>
            <a:srgbClr val="EEF5F1"/>
          </a:solidFill>
          <a:ln w="12700">
            <a:solidFill>
              <a:srgbClr val="EEF5F1"/>
            </a:solidFill>
            <a:prstDash val="solid"/>
          </a:ln>
        </p:spPr>
        <p:txBody>
          <a:bodyPr/>
          <a:p/>
        </p:txBody>
      </p:sp>
      <p:sp>
        <p:nvSpPr>
          <p:cNvPr id="21" name="Text 16"/>
          <p:cNvSpPr txBox="1"/>
          <p:nvPr/>
        </p:nvSpPr>
        <p:spPr>
          <a:xfrm>
            <a:off x="4892040" y="2606040"/>
            <a:ext cx="1691640" cy="502920"/>
          </a:xfrm>
          <a:prstGeom prst="rect">
            <a:avLst/>
          </a:prstGeom>
          <a:noFill/>
          <a:ln/>
        </p:spPr>
        <p:txBody>
          <a:bodyPr wrap="square" lIns="0" tIns="0" rIns="0" bIns="0" rtlCol="0" anchor="t"/>
          <a:lstStyle/>
          <a:p>
            <a:pPr marL="0" indent="0">
              <a:buNone/>
            </a:pPr>
            <a:r>
              <a:rPr lang="en-US" sz="2800" b="1" dirty="0">
                <a:solidFill>
                  <a:srgbClr val="0F5E48"/>
                </a:solidFill>
                <a:latin typeface="Arial" pitchFamily="34" charset="0"/>
                <a:ea typeface="Arial" pitchFamily="34" charset="-122"/>
                <a:cs typeface="Arial" pitchFamily="34" charset="-120"/>
              </a:rPr>
              <a:t>48.7%</a:t>
            </a:r>
            <a:endParaRPr lang="en-US" sz="2800" dirty="0"/>
          </a:p>
        </p:txBody>
      </p:sp>
      <p:sp>
        <p:nvSpPr>
          <p:cNvPr id="22" name="Text 17"/>
          <p:cNvSpPr txBox="1"/>
          <p:nvPr/>
        </p:nvSpPr>
        <p:spPr>
          <a:xfrm>
            <a:off x="4892040" y="3154680"/>
            <a:ext cx="1691640" cy="457200"/>
          </a:xfrm>
          <a:prstGeom prst="rect">
            <a:avLst/>
          </a:prstGeom>
          <a:noFill/>
          <a:ln/>
        </p:spPr>
        <p:txBody>
          <a:bodyPr wrap="square" lIns="0" tIns="0" rIns="0" bIns="0" rtlCol="0" anchor="t"/>
          <a:lstStyle/>
          <a:p>
            <a:pPr marL="0" indent="0">
              <a:buNone/>
            </a:pPr>
            <a:r>
              <a:rPr lang="en-US" sz="1200" dirty="0">
                <a:solidFill>
                  <a:srgbClr val="16221B"/>
                </a:solidFill>
                <a:latin typeface="Calibri" pitchFamily="34" charset="0"/>
                <a:ea typeface="Calibri" pitchFamily="34" charset="-122"/>
                <a:cs typeface="Calibri" pitchFamily="34" charset="-120"/>
              </a:rPr>
              <a:t>of national employment (DOSM, 2025)</a:t>
            </a:r>
            <a:endParaRPr lang="en-US" sz="1200" dirty="0"/>
          </a:p>
        </p:txBody>
      </p:sp>
      <p:sp>
        <p:nvSpPr>
          <p:cNvPr id="23" name="Shape 18"/>
          <p:cNvSpPr/>
          <p:nvPr/>
        </p:nvSpPr>
        <p:spPr>
          <a:xfrm>
            <a:off x="6812280" y="2468880"/>
            <a:ext cx="1920240" cy="1234440"/>
          </a:xfrm>
          <a:prstGeom prst="roundRect">
            <a:avLst>
              <a:gd name="adj" fmla="val 5926"/>
            </a:avLst>
          </a:prstGeom>
          <a:solidFill>
            <a:srgbClr val="EEF5F1"/>
          </a:solidFill>
          <a:ln w="12700">
            <a:solidFill>
              <a:srgbClr val="EEF5F1"/>
            </a:solidFill>
            <a:prstDash val="solid"/>
          </a:ln>
        </p:spPr>
        <p:txBody>
          <a:bodyPr/>
          <a:p/>
        </p:txBody>
      </p:sp>
      <p:sp>
        <p:nvSpPr>
          <p:cNvPr id="24" name="Text 19"/>
          <p:cNvSpPr txBox="1"/>
          <p:nvPr/>
        </p:nvSpPr>
        <p:spPr>
          <a:xfrm>
            <a:off x="6949440" y="2606040"/>
            <a:ext cx="1691640" cy="502920"/>
          </a:xfrm>
          <a:prstGeom prst="rect">
            <a:avLst/>
          </a:prstGeom>
          <a:noFill/>
          <a:ln/>
        </p:spPr>
        <p:txBody>
          <a:bodyPr wrap="square" lIns="0" tIns="0" rIns="0" bIns="0" rtlCol="0" anchor="t"/>
          <a:lstStyle/>
          <a:p>
            <a:pPr marL="0" indent="0">
              <a:buNone/>
            </a:pPr>
            <a:r>
              <a:rPr lang="en-US" sz="2800" b="1" dirty="0">
                <a:solidFill>
                  <a:srgbClr val="0F5E48"/>
                </a:solidFill>
                <a:latin typeface="Arial" pitchFamily="34" charset="0"/>
                <a:ea typeface="Arial" pitchFamily="34" charset="-122"/>
                <a:cs typeface="Arial" pitchFamily="34" charset="-120"/>
              </a:rPr>
              <a:t>61 days</a:t>
            </a:r>
            <a:endParaRPr lang="en-US" sz="2800" dirty="0"/>
          </a:p>
        </p:txBody>
      </p:sp>
      <p:sp>
        <p:nvSpPr>
          <p:cNvPr id="25" name="Text 20"/>
          <p:cNvSpPr txBox="1"/>
          <p:nvPr/>
        </p:nvSpPr>
        <p:spPr>
          <a:xfrm>
            <a:off x="6949440" y="3154680"/>
            <a:ext cx="1691640" cy="457200"/>
          </a:xfrm>
          <a:prstGeom prst="rect">
            <a:avLst/>
          </a:prstGeom>
          <a:noFill/>
          <a:ln/>
        </p:spPr>
        <p:txBody>
          <a:bodyPr wrap="square" lIns="0" tIns="0" rIns="0" bIns="0" rtlCol="0" anchor="t"/>
          <a:lstStyle/>
          <a:p>
            <a:pPr marL="0" indent="0">
              <a:buNone/>
            </a:pPr>
            <a:r>
              <a:rPr lang="en-US" sz="1200" dirty="0">
                <a:solidFill>
                  <a:srgbClr val="16221B"/>
                </a:solidFill>
                <a:latin typeface="Calibri" pitchFamily="34" charset="0"/>
                <a:ea typeface="Calibri" pitchFamily="34" charset="-122"/>
                <a:cs typeface="Calibri" pitchFamily="34" charset="-120"/>
              </a:rPr>
              <a:t>average business payment delay (Experian, 2025)</a:t>
            </a:r>
            <a:endParaRPr lang="en-US" sz="1200" dirty="0"/>
          </a:p>
        </p:txBody>
      </p:sp>
      <p:sp>
        <p:nvSpPr>
          <p:cNvPr id="26" name="Shape 21"/>
          <p:cNvSpPr/>
          <p:nvPr/>
        </p:nvSpPr>
        <p:spPr>
          <a:xfrm>
            <a:off x="457200" y="3931920"/>
            <a:ext cx="8229600" cy="566928"/>
          </a:xfrm>
          <a:prstGeom prst="roundRect">
            <a:avLst>
              <a:gd name="adj" fmla="val 12903"/>
            </a:avLst>
          </a:prstGeom>
          <a:solidFill>
            <a:srgbClr val="0F5E48"/>
          </a:solidFill>
          <a:ln w="12700">
            <a:solidFill>
              <a:srgbClr val="0F5E48"/>
            </a:solidFill>
            <a:prstDash val="solid"/>
          </a:ln>
        </p:spPr>
        <p:txBody>
          <a:bodyPr/>
          <a:p/>
        </p:txBody>
      </p:sp>
      <p:sp>
        <p:nvSpPr>
          <p:cNvPr id="27" name="Text 22"/>
          <p:cNvSpPr txBox="1"/>
          <p:nvPr/>
        </p:nvSpPr>
        <p:spPr>
          <a:xfrm>
            <a:off x="640080" y="3931920"/>
            <a:ext cx="7863840" cy="566928"/>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Slow reply = lost job.   </a:t>
            </a:r>
            <a:r>
              <a:rPr lang="en-US" sz="2000" b="1" dirty="0">
                <a:solidFill>
                  <a:srgbClr val="F2AC2E"/>
                </a:solidFill>
                <a:latin typeface="Arial" pitchFamily="34" charset="0"/>
                <a:ea typeface="Arial" pitchFamily="34" charset="-122"/>
                <a:cs typeface="Arial" pitchFamily="34" charset="-120"/>
              </a:rPr>
              <a:t>Stale price = lost margin.</a:t>
            </a:r>
            <a:endParaRPr lang="en-US" sz="2000" dirty="0"/>
          </a:p>
        </p:txBody>
      </p:sp>
      <p:sp>
        <p:nvSpPr>
          <p:cNvPr id="28" name="Text 23"/>
          <p:cNvSpPr txBox="1"/>
          <p:nvPr/>
        </p:nvSpPr>
        <p:spPr>
          <a:xfrm>
            <a:off x="457200" y="4572000"/>
            <a:ext cx="7680960" cy="365760"/>
          </a:xfrm>
          <a:prstGeom prst="rect">
            <a:avLst/>
          </a:prstGeom>
          <a:noFill/>
          <a:ln/>
        </p:spPr>
        <p:txBody>
          <a:bodyPr wrap="square" lIns="0" tIns="0" rIns="0" bIns="0" rtlCol="0" anchor="t"/>
          <a:lstStyle/>
          <a:p>
            <a:pPr marL="0" indent="0">
              <a:buNone/>
            </a:pPr>
            <a:r>
              <a:rPr lang="en-US" sz="1000" dirty="0">
                <a:solidFill>
                  <a:srgbClr val="5B6B63"/>
                </a:solidFill>
                <a:latin typeface="Calibri" pitchFamily="34" charset="0"/>
                <a:ea typeface="Calibri" pitchFamily="34" charset="-122"/>
                <a:cs typeface="Calibri" pitchFamily="34" charset="-120"/>
              </a:rPr>
              <a:t>No Malaysian survey measures quote turnaround, so we are timing it with owners. Sources: DOSM MSME Performance 2025 and Economic Census 2023; Experian State of Credit 2025. The owner is an illustrative persona.</a:t>
            </a:r>
            <a:endParaRPr lang="en-US" sz="1000" dirty="0"/>
          </a:p>
        </p:txBody>
      </p:sp>
      <p:sp>
        <p:nvSpPr>
          <p:cNvPr id="29"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63"/>
                </a:solidFill>
                <a:latin typeface="Arial"/>
                <a:ea typeface="Arial"/>
                <a:cs typeface="Aria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28600"/>
            <a:ext cx="6583680" cy="731520"/>
          </a:xfrm>
          <a:prstGeom prst="rect">
            <a:avLst/>
          </a:prstGeom>
          <a:noFill/>
          <a:ln/>
        </p:spPr>
        <p:txBody>
          <a:bodyPr wrap="square" lIns="0" tIns="0" rIns="0" bIns="0" rtlCol="0" anchor="ctr"/>
          <a:lstStyle/>
          <a:p>
            <a:pPr marL="0" indent="0">
              <a:buNone/>
            </a:pPr>
            <a:r>
              <a:rPr lang="en-US" sz="3200" b="1" dirty="0">
                <a:solidFill>
                  <a:srgbClr val="16221B"/>
                </a:solidFill>
                <a:latin typeface="Arial" pitchFamily="34" charset="0"/>
                <a:ea typeface="Arial" pitchFamily="34" charset="-122"/>
                <a:cs typeface="Arial" pitchFamily="34" charset="-120"/>
              </a:rPr>
              <a:t>2. Our Solution</a:t>
            </a:r>
            <a:endParaRPr lang="en-US" sz="3200" dirty="0"/>
          </a:p>
        </p:txBody>
      </p:sp>
      <p:sp>
        <p:nvSpPr>
          <p:cNvPr id="3" name="Text 1"/>
          <p:cNvSpPr txBox="1"/>
          <p:nvPr/>
        </p:nvSpPr>
        <p:spPr>
          <a:xfrm>
            <a:off x="457200" y="1005840"/>
            <a:ext cx="7772400" cy="365760"/>
          </a:xfrm>
          <a:prstGeom prst="rect">
            <a:avLst/>
          </a:prstGeom>
          <a:noFill/>
          <a:ln/>
        </p:spPr>
        <p:txBody>
          <a:bodyPr wrap="square" lIns="0" tIns="0" rIns="0" bIns="0" rtlCol="0" anchor="t"/>
          <a:lstStyle/>
          <a:p>
            <a:pPr marL="0" indent="0">
              <a:buNone/>
            </a:pPr>
            <a:r>
              <a:rPr lang="en-US" sz="1800" b="1" dirty="0">
                <a:solidFill>
                  <a:srgbClr val="0F5E48"/>
                </a:solidFill>
                <a:latin typeface="Arial" pitchFamily="34" charset="0"/>
                <a:ea typeface="Arial" pitchFamily="34" charset="-122"/>
                <a:cs typeface="Arial" pitchFamily="34" charset="-120"/>
              </a:rPr>
              <a:t>Customers stay in chat. Owners stay in control.</a:t>
            </a:r>
            <a:endParaRPr lang="en-US" sz="1800" dirty="0"/>
          </a:p>
        </p:txBody>
      </p:sp>
      <p:sp>
        <p:nvSpPr>
          <p:cNvPr id="4" name="Shape 2"/>
          <p:cNvSpPr/>
          <p:nvPr/>
        </p:nvSpPr>
        <p:spPr>
          <a:xfrm>
            <a:off x="457200" y="1600200"/>
            <a:ext cx="1499616" cy="2103120"/>
          </a:xfrm>
          <a:prstGeom prst="roundRect">
            <a:avLst>
              <a:gd name="adj" fmla="val 4878"/>
            </a:avLst>
          </a:prstGeom>
          <a:solidFill>
            <a:srgbClr val="EEF5F1"/>
          </a:solidFill>
          <a:ln w="12700">
            <a:solidFill>
              <a:srgbClr val="EEF5F1"/>
            </a:solidFill>
            <a:prstDash val="solid"/>
          </a:ln>
        </p:spPr>
        <p:txBody>
          <a:bodyPr/>
          <a:p/>
        </p:txBody>
      </p:sp>
      <p:sp>
        <p:nvSpPr>
          <p:cNvPr id="5" name="Shape 3"/>
          <p:cNvSpPr/>
          <p:nvPr/>
        </p:nvSpPr>
        <p:spPr>
          <a:xfrm>
            <a:off x="594360" y="1737360"/>
            <a:ext cx="457200" cy="457200"/>
          </a:xfrm>
          <a:prstGeom prst="ellipse">
            <a:avLst/>
          </a:prstGeom>
          <a:solidFill>
            <a:srgbClr val="0F5E48"/>
          </a:solidFill>
          <a:ln w="12700">
            <a:solidFill>
              <a:srgbClr val="0F5E48"/>
            </a:solidFill>
            <a:prstDash val="solid"/>
          </a:ln>
        </p:spPr>
        <p:txBody>
          <a:bodyPr/>
          <a:p/>
        </p:txBody>
      </p:sp>
      <p:pic>
        <p:nvPicPr>
          <p:cNvPr id="6" name="Image 0" descr="preencoded.png"/>
          <p:cNvPicPr>
            <a:picLocks noChangeAspect="1"/>
          </p:cNvPicPr>
          <p:nvPr/>
        </p:nvPicPr>
        <p:blipFill>
          <a:blip r:embed="rId3"/>
          <a:stretch>
            <a:fillRect/>
          </a:stretch>
        </p:blipFill>
        <p:spPr>
          <a:xfrm>
            <a:off x="708660" y="1851660"/>
            <a:ext cx="228600" cy="228600"/>
          </a:xfrm>
          <a:prstGeom prst="rect">
            <a:avLst/>
          </a:prstGeom>
        </p:spPr>
      </p:pic>
      <p:sp>
        <p:nvSpPr>
          <p:cNvPr id="7" name="Text 4"/>
          <p:cNvSpPr txBox="1"/>
          <p:nvPr/>
        </p:nvSpPr>
        <p:spPr>
          <a:xfrm>
            <a:off x="594360" y="2331720"/>
            <a:ext cx="1316736" cy="228600"/>
          </a:xfrm>
          <a:prstGeom prst="rect">
            <a:avLst/>
          </a:prstGeom>
          <a:noFill/>
          <a:ln/>
        </p:spPr>
        <p:txBody>
          <a:bodyPr wrap="square" lIns="0" tIns="0" rIns="0" bIns="0" rtlCol="0" anchor="t"/>
          <a:lstStyle/>
          <a:p>
            <a:pPr marL="0" indent="0">
              <a:buNone/>
            </a:pPr>
            <a:r>
              <a:rPr lang="en-US" sz="1100" b="1" dirty="0">
                <a:solidFill>
                  <a:srgbClr val="0F5E48"/>
                </a:solidFill>
                <a:latin typeface="Calibri" pitchFamily="34" charset="0"/>
                <a:ea typeface="Calibri" pitchFamily="34" charset="-122"/>
                <a:cs typeface="Calibri" pitchFamily="34" charset="-120"/>
              </a:rPr>
              <a:t>01  ASK</a:t>
            </a:r>
            <a:endParaRPr lang="en-US" sz="1100" dirty="0"/>
          </a:p>
        </p:txBody>
      </p:sp>
      <p:sp>
        <p:nvSpPr>
          <p:cNvPr id="8" name="Text 5"/>
          <p:cNvSpPr txBox="1"/>
          <p:nvPr/>
        </p:nvSpPr>
        <p:spPr>
          <a:xfrm>
            <a:off x="594360" y="2606040"/>
            <a:ext cx="1271016" cy="1005840"/>
          </a:xfrm>
          <a:prstGeom prst="rect">
            <a:avLst/>
          </a:prstGeom>
          <a:noFill/>
          <a:ln/>
        </p:spPr>
        <p:txBody>
          <a:bodyPr wrap="square" lIns="0" tIns="0" rIns="0" bIns="0" rtlCol="0" anchor="t"/>
          <a:lstStyle/>
          <a:p>
            <a:pPr marL="0" indent="0">
              <a:buNone/>
            </a:pPr>
            <a:r>
              <a:rPr lang="en-US" sz="1300" dirty="0">
                <a:solidFill>
                  <a:srgbClr val="16221B"/>
                </a:solidFill>
                <a:latin typeface="Calibri" pitchFamily="34" charset="0"/>
                <a:ea typeface="Calibri" pitchFamily="34" charset="-122"/>
                <a:cs typeface="Calibri" pitchFamily="34" charset="-120"/>
              </a:rPr>
              <a:t>Customer asks on Telegram or WhatsApp, in text or a voice note.</a:t>
            </a:r>
            <a:endParaRPr lang="en-US" sz="1300" dirty="0"/>
          </a:p>
        </p:txBody>
      </p:sp>
      <p:sp>
        <p:nvSpPr>
          <p:cNvPr id="9" name="Shape 6"/>
          <p:cNvSpPr/>
          <p:nvPr/>
        </p:nvSpPr>
        <p:spPr>
          <a:xfrm>
            <a:off x="2139696" y="1600200"/>
            <a:ext cx="1499616" cy="2103120"/>
          </a:xfrm>
          <a:prstGeom prst="roundRect">
            <a:avLst>
              <a:gd name="adj" fmla="val 4878"/>
            </a:avLst>
          </a:prstGeom>
          <a:solidFill>
            <a:srgbClr val="EEF5F1"/>
          </a:solidFill>
          <a:ln w="12700">
            <a:solidFill>
              <a:srgbClr val="EEF5F1"/>
            </a:solidFill>
            <a:prstDash val="solid"/>
          </a:ln>
        </p:spPr>
        <p:txBody>
          <a:bodyPr/>
          <a:p/>
        </p:txBody>
      </p:sp>
      <p:sp>
        <p:nvSpPr>
          <p:cNvPr id="10" name="Shape 7"/>
          <p:cNvSpPr/>
          <p:nvPr/>
        </p:nvSpPr>
        <p:spPr>
          <a:xfrm>
            <a:off x="2276856" y="1737360"/>
            <a:ext cx="457200" cy="457200"/>
          </a:xfrm>
          <a:prstGeom prst="ellipse">
            <a:avLst/>
          </a:prstGeom>
          <a:solidFill>
            <a:srgbClr val="0F5E48"/>
          </a:solidFill>
          <a:ln w="12700">
            <a:solidFill>
              <a:srgbClr val="0F5E48"/>
            </a:solidFill>
            <a:prstDash val="solid"/>
          </a:ln>
        </p:spPr>
        <p:txBody>
          <a:bodyPr/>
          <a:p/>
        </p:txBody>
      </p:sp>
      <p:pic>
        <p:nvPicPr>
          <p:cNvPr id="11" name="Image 1" descr="preencoded.png"/>
          <p:cNvPicPr>
            <a:picLocks noChangeAspect="1"/>
          </p:cNvPicPr>
          <p:nvPr/>
        </p:nvPicPr>
        <p:blipFill>
          <a:blip r:embed="rId4"/>
          <a:stretch>
            <a:fillRect/>
          </a:stretch>
        </p:blipFill>
        <p:spPr>
          <a:xfrm>
            <a:off x="2391156" y="1851660"/>
            <a:ext cx="228600" cy="228600"/>
          </a:xfrm>
          <a:prstGeom prst="rect">
            <a:avLst/>
          </a:prstGeom>
        </p:spPr>
      </p:pic>
      <p:sp>
        <p:nvSpPr>
          <p:cNvPr id="12" name="Text 8"/>
          <p:cNvSpPr txBox="1"/>
          <p:nvPr/>
        </p:nvSpPr>
        <p:spPr>
          <a:xfrm>
            <a:off x="2276856" y="2331720"/>
            <a:ext cx="1316736" cy="228600"/>
          </a:xfrm>
          <a:prstGeom prst="rect">
            <a:avLst/>
          </a:prstGeom>
          <a:noFill/>
          <a:ln/>
        </p:spPr>
        <p:txBody>
          <a:bodyPr wrap="square" lIns="0" tIns="0" rIns="0" bIns="0" rtlCol="0" anchor="t"/>
          <a:lstStyle/>
          <a:p>
            <a:pPr marL="0" indent="0">
              <a:buNone/>
            </a:pPr>
            <a:r>
              <a:rPr lang="en-US" sz="1100" b="1" dirty="0">
                <a:solidFill>
                  <a:srgbClr val="0F5E48"/>
                </a:solidFill>
                <a:latin typeface="Calibri" pitchFamily="34" charset="0"/>
                <a:ea typeface="Calibri" pitchFamily="34" charset="-122"/>
                <a:cs typeface="Calibri" pitchFamily="34" charset="-120"/>
              </a:rPr>
              <a:t>02  UNDERSTAND</a:t>
            </a:r>
            <a:endParaRPr lang="en-US" sz="1100" dirty="0"/>
          </a:p>
        </p:txBody>
      </p:sp>
      <p:sp>
        <p:nvSpPr>
          <p:cNvPr id="13" name="Text 9"/>
          <p:cNvSpPr txBox="1"/>
          <p:nvPr/>
        </p:nvSpPr>
        <p:spPr>
          <a:xfrm>
            <a:off x="2276856" y="2606040"/>
            <a:ext cx="1271016" cy="1005840"/>
          </a:xfrm>
          <a:prstGeom prst="rect">
            <a:avLst/>
          </a:prstGeom>
          <a:noFill/>
          <a:ln/>
        </p:spPr>
        <p:txBody>
          <a:bodyPr wrap="square" lIns="0" tIns="0" rIns="0" bIns="0" rtlCol="0" anchor="t"/>
          <a:lstStyle/>
          <a:p>
            <a:pPr marL="0" indent="0">
              <a:buNone/>
            </a:pPr>
            <a:r>
              <a:rPr lang="en-US" sz="1300" dirty="0">
                <a:solidFill>
                  <a:srgbClr val="16221B"/>
                </a:solidFill>
                <a:latin typeface="Calibri" pitchFamily="34" charset="0"/>
                <a:ea typeface="Calibri" pitchFamily="34" charset="-122"/>
                <a:cs typeface="Calibri" pitchFamily="34" charset="-120"/>
              </a:rPr>
              <a:t>ILMU turns the message into items and quantities.</a:t>
            </a:r>
            <a:endParaRPr lang="en-US" sz="1300" dirty="0"/>
          </a:p>
        </p:txBody>
      </p:sp>
      <p:sp>
        <p:nvSpPr>
          <p:cNvPr id="14" name="Shape 10"/>
          <p:cNvSpPr/>
          <p:nvPr/>
        </p:nvSpPr>
        <p:spPr>
          <a:xfrm>
            <a:off x="3822192" y="1600200"/>
            <a:ext cx="1499616" cy="2103120"/>
          </a:xfrm>
          <a:prstGeom prst="roundRect">
            <a:avLst>
              <a:gd name="adj" fmla="val 4878"/>
            </a:avLst>
          </a:prstGeom>
          <a:solidFill>
            <a:srgbClr val="EEF5F1"/>
          </a:solidFill>
          <a:ln w="12700">
            <a:solidFill>
              <a:srgbClr val="EEF5F1"/>
            </a:solidFill>
            <a:prstDash val="solid"/>
          </a:ln>
        </p:spPr>
        <p:txBody>
          <a:bodyPr/>
          <a:p/>
        </p:txBody>
      </p:sp>
      <p:sp>
        <p:nvSpPr>
          <p:cNvPr id="15" name="Shape 11"/>
          <p:cNvSpPr/>
          <p:nvPr/>
        </p:nvSpPr>
        <p:spPr>
          <a:xfrm>
            <a:off x="3959352" y="1737360"/>
            <a:ext cx="457200" cy="457200"/>
          </a:xfrm>
          <a:prstGeom prst="ellipse">
            <a:avLst/>
          </a:prstGeom>
          <a:solidFill>
            <a:srgbClr val="0F5E48"/>
          </a:solidFill>
          <a:ln w="12700">
            <a:solidFill>
              <a:srgbClr val="0F5E48"/>
            </a:solidFill>
            <a:prstDash val="solid"/>
          </a:ln>
        </p:spPr>
        <p:txBody>
          <a:bodyPr/>
          <a:p/>
        </p:txBody>
      </p:sp>
      <p:pic>
        <p:nvPicPr>
          <p:cNvPr id="16" name="Image 2" descr="preencoded.png"/>
          <p:cNvPicPr>
            <a:picLocks noChangeAspect="1"/>
          </p:cNvPicPr>
          <p:nvPr/>
        </p:nvPicPr>
        <p:blipFill>
          <a:blip r:embed="rId5"/>
          <a:stretch>
            <a:fillRect/>
          </a:stretch>
        </p:blipFill>
        <p:spPr>
          <a:xfrm>
            <a:off x="4073652" y="1851660"/>
            <a:ext cx="228600" cy="228600"/>
          </a:xfrm>
          <a:prstGeom prst="rect">
            <a:avLst/>
          </a:prstGeom>
        </p:spPr>
      </p:pic>
      <p:sp>
        <p:nvSpPr>
          <p:cNvPr id="17" name="Text 12"/>
          <p:cNvSpPr txBox="1"/>
          <p:nvPr/>
        </p:nvSpPr>
        <p:spPr>
          <a:xfrm>
            <a:off x="3959352" y="2331720"/>
            <a:ext cx="1316736" cy="228600"/>
          </a:xfrm>
          <a:prstGeom prst="rect">
            <a:avLst/>
          </a:prstGeom>
          <a:noFill/>
          <a:ln/>
        </p:spPr>
        <p:txBody>
          <a:bodyPr wrap="square" lIns="0" tIns="0" rIns="0" bIns="0" rtlCol="0" anchor="t"/>
          <a:lstStyle/>
          <a:p>
            <a:pPr marL="0" indent="0">
              <a:buNone/>
            </a:pPr>
            <a:r>
              <a:rPr lang="en-US" sz="1100" b="1" dirty="0">
                <a:solidFill>
                  <a:srgbClr val="0F5E48"/>
                </a:solidFill>
                <a:latin typeface="Calibri" pitchFamily="34" charset="0"/>
                <a:ea typeface="Calibri" pitchFamily="34" charset="-122"/>
                <a:cs typeface="Calibri" pitchFamily="34" charset="-120"/>
              </a:rPr>
              <a:t>03  PRICE</a:t>
            </a:r>
            <a:endParaRPr lang="en-US" sz="1100" dirty="0"/>
          </a:p>
        </p:txBody>
      </p:sp>
      <p:sp>
        <p:nvSpPr>
          <p:cNvPr id="18" name="Text 13"/>
          <p:cNvSpPr txBox="1"/>
          <p:nvPr/>
        </p:nvSpPr>
        <p:spPr>
          <a:xfrm>
            <a:off x="3959352" y="2606040"/>
            <a:ext cx="1271016" cy="1005840"/>
          </a:xfrm>
          <a:prstGeom prst="rect">
            <a:avLst/>
          </a:prstGeom>
          <a:noFill/>
          <a:ln/>
        </p:spPr>
        <p:txBody>
          <a:bodyPr wrap="square" lIns="0" tIns="0" rIns="0" bIns="0" rtlCol="0" anchor="t"/>
          <a:lstStyle/>
          <a:p>
            <a:pPr marL="0" indent="0">
              <a:buNone/>
            </a:pPr>
            <a:r>
              <a:rPr lang="en-US" sz="1300" dirty="0">
                <a:solidFill>
                  <a:srgbClr val="16221B"/>
                </a:solidFill>
                <a:latin typeface="Calibri" pitchFamily="34" charset="0"/>
                <a:ea typeface="Calibri" pitchFamily="34" charset="-122"/>
                <a:cs typeface="Calibri" pitchFamily="34" charset="-120"/>
              </a:rPr>
              <a:t>Rules price it from the cost book and apply a margin floor.</a:t>
            </a:r>
            <a:endParaRPr lang="en-US" sz="1300" dirty="0"/>
          </a:p>
        </p:txBody>
      </p:sp>
      <p:sp>
        <p:nvSpPr>
          <p:cNvPr id="19" name="Shape 14"/>
          <p:cNvSpPr/>
          <p:nvPr/>
        </p:nvSpPr>
        <p:spPr>
          <a:xfrm>
            <a:off x="5504688" y="1600200"/>
            <a:ext cx="1499616" cy="2103120"/>
          </a:xfrm>
          <a:prstGeom prst="roundRect">
            <a:avLst>
              <a:gd name="adj" fmla="val 4878"/>
            </a:avLst>
          </a:prstGeom>
          <a:solidFill>
            <a:srgbClr val="EEF5F1"/>
          </a:solidFill>
          <a:ln w="12700">
            <a:solidFill>
              <a:srgbClr val="EEF5F1"/>
            </a:solidFill>
            <a:prstDash val="solid"/>
          </a:ln>
        </p:spPr>
        <p:txBody>
          <a:bodyPr/>
          <a:p/>
        </p:txBody>
      </p:sp>
      <p:sp>
        <p:nvSpPr>
          <p:cNvPr id="20" name="Shape 15"/>
          <p:cNvSpPr/>
          <p:nvPr/>
        </p:nvSpPr>
        <p:spPr>
          <a:xfrm>
            <a:off x="5641848" y="1737360"/>
            <a:ext cx="457200" cy="457200"/>
          </a:xfrm>
          <a:prstGeom prst="ellipse">
            <a:avLst/>
          </a:prstGeom>
          <a:solidFill>
            <a:srgbClr val="0F5E48"/>
          </a:solidFill>
          <a:ln w="12700">
            <a:solidFill>
              <a:srgbClr val="0F5E48"/>
            </a:solidFill>
            <a:prstDash val="solid"/>
          </a:ln>
        </p:spPr>
        <p:txBody>
          <a:bodyPr/>
          <a:p/>
        </p:txBody>
      </p:sp>
      <p:pic>
        <p:nvPicPr>
          <p:cNvPr id="21" name="Image 3" descr="preencoded.png"/>
          <p:cNvPicPr>
            <a:picLocks noChangeAspect="1"/>
          </p:cNvPicPr>
          <p:nvPr/>
        </p:nvPicPr>
        <p:blipFill>
          <a:blip r:embed="rId6"/>
          <a:stretch>
            <a:fillRect/>
          </a:stretch>
        </p:blipFill>
        <p:spPr>
          <a:xfrm>
            <a:off x="5756148" y="1851660"/>
            <a:ext cx="228600" cy="228600"/>
          </a:xfrm>
          <a:prstGeom prst="rect">
            <a:avLst/>
          </a:prstGeom>
        </p:spPr>
      </p:pic>
      <p:sp>
        <p:nvSpPr>
          <p:cNvPr id="22" name="Text 16"/>
          <p:cNvSpPr txBox="1"/>
          <p:nvPr/>
        </p:nvSpPr>
        <p:spPr>
          <a:xfrm>
            <a:off x="5641848" y="2331720"/>
            <a:ext cx="1316736" cy="228600"/>
          </a:xfrm>
          <a:prstGeom prst="rect">
            <a:avLst/>
          </a:prstGeom>
          <a:noFill/>
          <a:ln/>
        </p:spPr>
        <p:txBody>
          <a:bodyPr wrap="square" lIns="0" tIns="0" rIns="0" bIns="0" rtlCol="0" anchor="t"/>
          <a:lstStyle/>
          <a:p>
            <a:pPr marL="0" indent="0">
              <a:buNone/>
            </a:pPr>
            <a:r>
              <a:rPr lang="en-US" sz="1100" b="1" dirty="0">
                <a:solidFill>
                  <a:srgbClr val="0F5E48"/>
                </a:solidFill>
                <a:latin typeface="Calibri" pitchFamily="34" charset="0"/>
                <a:ea typeface="Calibri" pitchFamily="34" charset="-122"/>
                <a:cs typeface="Calibri" pitchFamily="34" charset="-120"/>
              </a:rPr>
              <a:t>04  APPROVE</a:t>
            </a:r>
            <a:endParaRPr lang="en-US" sz="1100" dirty="0"/>
          </a:p>
        </p:txBody>
      </p:sp>
      <p:sp>
        <p:nvSpPr>
          <p:cNvPr id="23" name="Text 17"/>
          <p:cNvSpPr txBox="1"/>
          <p:nvPr/>
        </p:nvSpPr>
        <p:spPr>
          <a:xfrm>
            <a:off x="5641848" y="2606040"/>
            <a:ext cx="1271016" cy="1005840"/>
          </a:xfrm>
          <a:prstGeom prst="rect">
            <a:avLst/>
          </a:prstGeom>
          <a:noFill/>
          <a:ln/>
        </p:spPr>
        <p:txBody>
          <a:bodyPr wrap="square" lIns="0" tIns="0" rIns="0" bIns="0" rtlCol="0" anchor="t"/>
          <a:lstStyle/>
          <a:p>
            <a:pPr marL="0" indent="0">
              <a:buNone/>
            </a:pPr>
            <a:r>
              <a:rPr lang="en-US" sz="1300" dirty="0">
                <a:solidFill>
                  <a:srgbClr val="16221B"/>
                </a:solidFill>
                <a:latin typeface="Calibri" pitchFamily="34" charset="0"/>
                <a:ea typeface="Calibri" pitchFamily="34" charset="-122"/>
                <a:cs typeface="Calibri" pitchFamily="34" charset="-120"/>
              </a:rPr>
              <a:t>The owner approves with one tap. Staff never see margins.</a:t>
            </a:r>
            <a:endParaRPr lang="en-US" sz="1300" dirty="0"/>
          </a:p>
        </p:txBody>
      </p:sp>
      <p:sp>
        <p:nvSpPr>
          <p:cNvPr id="24" name="Shape 18"/>
          <p:cNvSpPr/>
          <p:nvPr/>
        </p:nvSpPr>
        <p:spPr>
          <a:xfrm>
            <a:off x="7187184" y="1600200"/>
            <a:ext cx="1499616" cy="2103120"/>
          </a:xfrm>
          <a:prstGeom prst="roundRect">
            <a:avLst>
              <a:gd name="adj" fmla="val 4878"/>
            </a:avLst>
          </a:prstGeom>
          <a:solidFill>
            <a:srgbClr val="EEF5F1"/>
          </a:solidFill>
          <a:ln w="12700">
            <a:solidFill>
              <a:srgbClr val="EEF5F1"/>
            </a:solidFill>
            <a:prstDash val="solid"/>
          </a:ln>
        </p:spPr>
        <p:txBody>
          <a:bodyPr/>
          <a:p/>
        </p:txBody>
      </p:sp>
      <p:sp>
        <p:nvSpPr>
          <p:cNvPr id="25" name="Shape 19"/>
          <p:cNvSpPr/>
          <p:nvPr/>
        </p:nvSpPr>
        <p:spPr>
          <a:xfrm>
            <a:off x="7324344" y="1737360"/>
            <a:ext cx="457200" cy="457200"/>
          </a:xfrm>
          <a:prstGeom prst="ellipse">
            <a:avLst/>
          </a:prstGeom>
          <a:solidFill>
            <a:srgbClr val="0F5E48"/>
          </a:solidFill>
          <a:ln w="12700">
            <a:solidFill>
              <a:srgbClr val="0F5E48"/>
            </a:solidFill>
            <a:prstDash val="solid"/>
          </a:ln>
        </p:spPr>
        <p:txBody>
          <a:bodyPr/>
          <a:p/>
        </p:txBody>
      </p:sp>
      <p:pic>
        <p:nvPicPr>
          <p:cNvPr id="26" name="Image 4" descr="preencoded.png"/>
          <p:cNvPicPr>
            <a:picLocks noChangeAspect="1"/>
          </p:cNvPicPr>
          <p:nvPr/>
        </p:nvPicPr>
        <p:blipFill>
          <a:blip r:embed="rId7"/>
          <a:stretch>
            <a:fillRect/>
          </a:stretch>
        </p:blipFill>
        <p:spPr>
          <a:xfrm>
            <a:off x="7438644" y="1851660"/>
            <a:ext cx="228600" cy="228600"/>
          </a:xfrm>
          <a:prstGeom prst="rect">
            <a:avLst/>
          </a:prstGeom>
        </p:spPr>
      </p:pic>
      <p:sp>
        <p:nvSpPr>
          <p:cNvPr id="27" name="Text 20"/>
          <p:cNvSpPr txBox="1"/>
          <p:nvPr/>
        </p:nvSpPr>
        <p:spPr>
          <a:xfrm>
            <a:off x="7324344" y="2331720"/>
            <a:ext cx="1316736" cy="228600"/>
          </a:xfrm>
          <a:prstGeom prst="rect">
            <a:avLst/>
          </a:prstGeom>
          <a:noFill/>
          <a:ln/>
        </p:spPr>
        <p:txBody>
          <a:bodyPr wrap="square" lIns="0" tIns="0" rIns="0" bIns="0" rtlCol="0" anchor="t"/>
          <a:lstStyle/>
          <a:p>
            <a:pPr marL="0" indent="0">
              <a:buNone/>
            </a:pPr>
            <a:r>
              <a:rPr lang="en-US" sz="1100" b="1" dirty="0">
                <a:solidFill>
                  <a:srgbClr val="0F5E48"/>
                </a:solidFill>
                <a:latin typeface="Calibri" pitchFamily="34" charset="0"/>
                <a:ea typeface="Calibri" pitchFamily="34" charset="-122"/>
                <a:cs typeface="Calibri" pitchFamily="34" charset="-120"/>
              </a:rPr>
              <a:t>05  TRACK</a:t>
            </a:r>
            <a:endParaRPr lang="en-US" sz="1100" dirty="0"/>
          </a:p>
        </p:txBody>
      </p:sp>
      <p:sp>
        <p:nvSpPr>
          <p:cNvPr id="28" name="Text 21"/>
          <p:cNvSpPr txBox="1"/>
          <p:nvPr/>
        </p:nvSpPr>
        <p:spPr>
          <a:xfrm>
            <a:off x="7324344" y="2606040"/>
            <a:ext cx="1271016" cy="1005840"/>
          </a:xfrm>
          <a:prstGeom prst="rect">
            <a:avLst/>
          </a:prstGeom>
          <a:noFill/>
          <a:ln/>
        </p:spPr>
        <p:txBody>
          <a:bodyPr wrap="square" lIns="0" tIns="0" rIns="0" bIns="0" rtlCol="0" anchor="t"/>
          <a:lstStyle/>
          <a:p>
            <a:pPr marL="0" indent="0">
              <a:buNone/>
            </a:pPr>
            <a:r>
              <a:rPr lang="en-US" sz="1300" dirty="0">
                <a:solidFill>
                  <a:srgbClr val="16221B"/>
                </a:solidFill>
                <a:latin typeface="Calibri" pitchFamily="34" charset="0"/>
                <a:ea typeface="Calibri" pitchFamily="34" charset="-122"/>
                <a:cs typeface="Calibri" pitchFamily="34" charset="-120"/>
              </a:rPr>
              <a:t>Quote is sent, tracked, exported and chased automatically.</a:t>
            </a:r>
            <a:endParaRPr lang="en-US" sz="1300" dirty="0"/>
          </a:p>
        </p:txBody>
      </p:sp>
      <p:sp>
        <p:nvSpPr>
          <p:cNvPr id="29" name="Shape 22"/>
          <p:cNvSpPr/>
          <p:nvPr/>
        </p:nvSpPr>
        <p:spPr>
          <a:xfrm>
            <a:off x="457200" y="3931920"/>
            <a:ext cx="8229600" cy="566928"/>
          </a:xfrm>
          <a:prstGeom prst="roundRect">
            <a:avLst>
              <a:gd name="adj" fmla="val 12903"/>
            </a:avLst>
          </a:prstGeom>
          <a:solidFill>
            <a:srgbClr val="0F5E48"/>
          </a:solidFill>
          <a:ln w="12700">
            <a:solidFill>
              <a:srgbClr val="0F5E48"/>
            </a:solidFill>
            <a:prstDash val="solid"/>
          </a:ln>
        </p:spPr>
        <p:txBody>
          <a:bodyPr/>
          <a:p/>
        </p:txBody>
      </p:sp>
      <p:sp>
        <p:nvSpPr>
          <p:cNvPr id="30" name="Text 23"/>
          <p:cNvSpPr txBox="1"/>
          <p:nvPr/>
        </p:nvSpPr>
        <p:spPr>
          <a:xfrm>
            <a:off x="640080" y="3931920"/>
            <a:ext cx="7863840" cy="566928"/>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The AI reads.  Rules price.  The owner approves.</a:t>
            </a:r>
            <a:endParaRPr lang="en-US" sz="2000" dirty="0"/>
          </a:p>
        </p:txBody>
      </p:sp>
      <p:sp>
        <p:nvSpPr>
          <p:cNvPr id="31"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63"/>
                </a:solidFill>
                <a:latin typeface="Arial"/>
                <a:ea typeface="Arial"/>
                <a:cs typeface="Aria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28600"/>
            <a:ext cx="6583680" cy="731520"/>
          </a:xfrm>
          <a:prstGeom prst="rect">
            <a:avLst/>
          </a:prstGeom>
          <a:noFill/>
          <a:ln/>
        </p:spPr>
        <p:txBody>
          <a:bodyPr wrap="square" lIns="0" tIns="0" rIns="0" bIns="0" rtlCol="0" anchor="ctr"/>
          <a:lstStyle/>
          <a:p>
            <a:pPr marL="0" indent="0">
              <a:buNone/>
            </a:pPr>
            <a:r>
              <a:rPr lang="en-US" sz="3200" b="1" dirty="0">
                <a:solidFill>
                  <a:srgbClr val="16221B"/>
                </a:solidFill>
                <a:latin typeface="Arial" pitchFamily="34" charset="0"/>
                <a:ea typeface="Arial" pitchFamily="34" charset="-122"/>
                <a:cs typeface="Arial" pitchFamily="34" charset="-120"/>
              </a:rPr>
              <a:t>3. What It Does</a:t>
            </a:r>
            <a:endParaRPr lang="en-US" sz="3200" dirty="0"/>
          </a:p>
        </p:txBody>
      </p:sp>
      <p:sp>
        <p:nvSpPr>
          <p:cNvPr id="3" name="Shape 1"/>
          <p:cNvSpPr/>
          <p:nvPr/>
        </p:nvSpPr>
        <p:spPr>
          <a:xfrm>
            <a:off x="457200" y="1143000"/>
            <a:ext cx="2651760" cy="1600200"/>
          </a:xfrm>
          <a:prstGeom prst="roundRect">
            <a:avLst>
              <a:gd name="adj" fmla="val 4571"/>
            </a:avLst>
          </a:prstGeom>
          <a:solidFill>
            <a:srgbClr val="EEF5F1"/>
          </a:solidFill>
          <a:ln w="12700">
            <a:solidFill>
              <a:srgbClr val="EEF5F1"/>
            </a:solidFill>
            <a:prstDash val="solid"/>
          </a:ln>
        </p:spPr>
        <p:txBody>
          <a:bodyPr/>
          <a:p/>
        </p:txBody>
      </p:sp>
      <p:sp>
        <p:nvSpPr>
          <p:cNvPr id="4" name="Shape 2"/>
          <p:cNvSpPr/>
          <p:nvPr/>
        </p:nvSpPr>
        <p:spPr>
          <a:xfrm>
            <a:off x="640080" y="1325880"/>
            <a:ext cx="457200" cy="457200"/>
          </a:xfrm>
          <a:prstGeom prst="ellipse">
            <a:avLst/>
          </a:prstGeom>
          <a:solidFill>
            <a:srgbClr val="0F5E48"/>
          </a:solidFill>
          <a:ln w="12700">
            <a:solidFill>
              <a:srgbClr val="0F5E48"/>
            </a:solidFill>
            <a:prstDash val="solid"/>
          </a:ln>
        </p:spPr>
        <p:txBody>
          <a:bodyPr/>
          <a:p/>
        </p:txBody>
      </p:sp>
      <p:pic>
        <p:nvPicPr>
          <p:cNvPr id="5" name="Image 0" descr="preencoded.png"/>
          <p:cNvPicPr>
            <a:picLocks noChangeAspect="1"/>
          </p:cNvPicPr>
          <p:nvPr/>
        </p:nvPicPr>
        <p:blipFill>
          <a:blip r:embed="rId3"/>
          <a:stretch>
            <a:fillRect/>
          </a:stretch>
        </p:blipFill>
        <p:spPr>
          <a:xfrm>
            <a:off x="754380" y="1440180"/>
            <a:ext cx="228600" cy="228600"/>
          </a:xfrm>
          <a:prstGeom prst="rect">
            <a:avLst/>
          </a:prstGeom>
        </p:spPr>
      </p:pic>
      <p:sp>
        <p:nvSpPr>
          <p:cNvPr id="6" name="Text 3"/>
          <p:cNvSpPr txBox="1"/>
          <p:nvPr/>
        </p:nvSpPr>
        <p:spPr>
          <a:xfrm>
            <a:off x="1234440" y="1325880"/>
            <a:ext cx="1783080" cy="457200"/>
          </a:xfrm>
          <a:prstGeom prst="rect">
            <a:avLst/>
          </a:prstGeom>
          <a:noFill/>
          <a:ln/>
        </p:spPr>
        <p:txBody>
          <a:bodyPr wrap="square" lIns="0" tIns="0" rIns="0" bIns="0" rtlCol="0" anchor="ctr"/>
          <a:lstStyle/>
          <a:p>
            <a:pPr marL="0" indent="0">
              <a:buNone/>
            </a:pPr>
            <a:r>
              <a:rPr lang="en-US" sz="1400" b="1" dirty="0">
                <a:solidFill>
                  <a:srgbClr val="16221B"/>
                </a:solidFill>
                <a:latin typeface="Arial" pitchFamily="34" charset="0"/>
                <a:ea typeface="Arial" pitchFamily="34" charset="-122"/>
                <a:cs typeface="Arial" pitchFamily="34" charset="-120"/>
              </a:rPr>
              <a:t>Chat and voice enquiries</a:t>
            </a:r>
            <a:endParaRPr lang="en-US" sz="1400" dirty="0"/>
          </a:p>
        </p:txBody>
      </p:sp>
      <p:sp>
        <p:nvSpPr>
          <p:cNvPr id="7" name="Text 4"/>
          <p:cNvSpPr txBox="1"/>
          <p:nvPr/>
        </p:nvSpPr>
        <p:spPr>
          <a:xfrm>
            <a:off x="640080" y="1920240"/>
            <a:ext cx="2331720" cy="777240"/>
          </a:xfrm>
          <a:prstGeom prst="rect">
            <a:avLst/>
          </a:prstGeom>
          <a:noFill/>
          <a:ln/>
        </p:spPr>
        <p:txBody>
          <a:bodyPr wrap="square" lIns="0" tIns="0" rIns="0" bIns="0" rtlCol="0" anchor="t"/>
          <a:lstStyle/>
          <a:p>
            <a:pPr marL="0" indent="0">
              <a:buNone/>
            </a:pPr>
            <a:r>
              <a:rPr lang="en-US" sz="1300" dirty="0">
                <a:solidFill>
                  <a:srgbClr val="16221B"/>
                </a:solidFill>
                <a:latin typeface="Calibri" pitchFamily="34" charset="0"/>
                <a:ea typeface="Calibri" pitchFamily="34" charset="-122"/>
                <a:cs typeface="Calibri" pitchFamily="34" charset="-120"/>
              </a:rPr>
              <a:t>Text or Manglish voice notes on Telegram, read into items.</a:t>
            </a:r>
            <a:endParaRPr lang="en-US" sz="1300" dirty="0"/>
          </a:p>
        </p:txBody>
      </p:sp>
      <p:sp>
        <p:nvSpPr>
          <p:cNvPr id="8" name="Shape 5"/>
          <p:cNvSpPr/>
          <p:nvPr/>
        </p:nvSpPr>
        <p:spPr>
          <a:xfrm>
            <a:off x="3246120" y="1143000"/>
            <a:ext cx="2651760" cy="1600200"/>
          </a:xfrm>
          <a:prstGeom prst="roundRect">
            <a:avLst>
              <a:gd name="adj" fmla="val 4571"/>
            </a:avLst>
          </a:prstGeom>
          <a:solidFill>
            <a:srgbClr val="EEF5F1"/>
          </a:solidFill>
          <a:ln w="12700">
            <a:solidFill>
              <a:srgbClr val="EEF5F1"/>
            </a:solidFill>
            <a:prstDash val="solid"/>
          </a:ln>
        </p:spPr>
        <p:txBody>
          <a:bodyPr/>
          <a:p/>
        </p:txBody>
      </p:sp>
      <p:sp>
        <p:nvSpPr>
          <p:cNvPr id="9" name="Shape 6"/>
          <p:cNvSpPr/>
          <p:nvPr/>
        </p:nvSpPr>
        <p:spPr>
          <a:xfrm>
            <a:off x="3429000" y="1325880"/>
            <a:ext cx="457200" cy="457200"/>
          </a:xfrm>
          <a:prstGeom prst="ellipse">
            <a:avLst/>
          </a:prstGeom>
          <a:solidFill>
            <a:srgbClr val="0F5E48"/>
          </a:solidFill>
          <a:ln w="12700">
            <a:solidFill>
              <a:srgbClr val="0F5E48"/>
            </a:solidFill>
            <a:prstDash val="solid"/>
          </a:ln>
        </p:spPr>
        <p:txBody>
          <a:bodyPr/>
          <a:p/>
        </p:txBody>
      </p:sp>
      <p:pic>
        <p:nvPicPr>
          <p:cNvPr id="10" name="Image 1" descr="preencoded.png"/>
          <p:cNvPicPr>
            <a:picLocks noChangeAspect="1"/>
          </p:cNvPicPr>
          <p:nvPr/>
        </p:nvPicPr>
        <p:blipFill>
          <a:blip r:embed="rId4"/>
          <a:stretch>
            <a:fillRect/>
          </a:stretch>
        </p:blipFill>
        <p:spPr>
          <a:xfrm>
            <a:off x="3543300" y="1440180"/>
            <a:ext cx="228600" cy="228600"/>
          </a:xfrm>
          <a:prstGeom prst="rect">
            <a:avLst/>
          </a:prstGeom>
        </p:spPr>
      </p:pic>
      <p:sp>
        <p:nvSpPr>
          <p:cNvPr id="11" name="Text 7"/>
          <p:cNvSpPr txBox="1"/>
          <p:nvPr/>
        </p:nvSpPr>
        <p:spPr>
          <a:xfrm>
            <a:off x="4023360" y="1325880"/>
            <a:ext cx="1783080" cy="457200"/>
          </a:xfrm>
          <a:prstGeom prst="rect">
            <a:avLst/>
          </a:prstGeom>
          <a:noFill/>
          <a:ln/>
        </p:spPr>
        <p:txBody>
          <a:bodyPr wrap="square" lIns="0" tIns="0" rIns="0" bIns="0" rtlCol="0" anchor="ctr"/>
          <a:lstStyle/>
          <a:p>
            <a:pPr marL="0" indent="0">
              <a:buNone/>
            </a:pPr>
            <a:r>
              <a:rPr lang="en-US" sz="1400" b="1" dirty="0">
                <a:solidFill>
                  <a:srgbClr val="16221B"/>
                </a:solidFill>
                <a:latin typeface="Arial" pitchFamily="34" charset="0"/>
                <a:ea typeface="Arial" pitchFamily="34" charset="-122"/>
                <a:cs typeface="Arial" pitchFamily="34" charset="-120"/>
              </a:rPr>
              <a:t>Rule-based pricing</a:t>
            </a:r>
            <a:endParaRPr lang="en-US" sz="1400" dirty="0"/>
          </a:p>
        </p:txBody>
      </p:sp>
      <p:sp>
        <p:nvSpPr>
          <p:cNvPr id="12" name="Text 8"/>
          <p:cNvSpPr txBox="1"/>
          <p:nvPr/>
        </p:nvSpPr>
        <p:spPr>
          <a:xfrm>
            <a:off x="3429000" y="1920240"/>
            <a:ext cx="2331720" cy="777240"/>
          </a:xfrm>
          <a:prstGeom prst="rect">
            <a:avLst/>
          </a:prstGeom>
          <a:noFill/>
          <a:ln/>
        </p:spPr>
        <p:txBody>
          <a:bodyPr wrap="square" lIns="0" tIns="0" rIns="0" bIns="0" rtlCol="0" anchor="t"/>
          <a:lstStyle/>
          <a:p>
            <a:pPr marL="0" indent="0">
              <a:buNone/>
            </a:pPr>
            <a:r>
              <a:rPr lang="en-US" sz="1300" dirty="0">
                <a:solidFill>
                  <a:srgbClr val="16221B"/>
                </a:solidFill>
                <a:latin typeface="Calibri" pitchFamily="34" charset="0"/>
                <a:ea typeface="Calibri" pitchFamily="34" charset="-122"/>
                <a:cs typeface="Calibri" pitchFamily="34" charset="-120"/>
              </a:rPr>
              <a:t>Cost book, margin guard, stale-cost alerts. No AI price.</a:t>
            </a:r>
            <a:endParaRPr lang="en-US" sz="1300" dirty="0"/>
          </a:p>
        </p:txBody>
      </p:sp>
      <p:sp>
        <p:nvSpPr>
          <p:cNvPr id="13" name="Shape 9"/>
          <p:cNvSpPr/>
          <p:nvPr/>
        </p:nvSpPr>
        <p:spPr>
          <a:xfrm>
            <a:off x="6035040" y="1143000"/>
            <a:ext cx="2651760" cy="1600200"/>
          </a:xfrm>
          <a:prstGeom prst="roundRect">
            <a:avLst>
              <a:gd name="adj" fmla="val 4571"/>
            </a:avLst>
          </a:prstGeom>
          <a:solidFill>
            <a:srgbClr val="EEF5F1"/>
          </a:solidFill>
          <a:ln w="12700">
            <a:solidFill>
              <a:srgbClr val="EEF5F1"/>
            </a:solidFill>
            <a:prstDash val="solid"/>
          </a:ln>
        </p:spPr>
        <p:txBody>
          <a:bodyPr/>
          <a:p/>
        </p:txBody>
      </p:sp>
      <p:sp>
        <p:nvSpPr>
          <p:cNvPr id="14" name="Shape 10"/>
          <p:cNvSpPr/>
          <p:nvPr/>
        </p:nvSpPr>
        <p:spPr>
          <a:xfrm>
            <a:off x="6217920" y="1325880"/>
            <a:ext cx="457200" cy="457200"/>
          </a:xfrm>
          <a:prstGeom prst="ellipse">
            <a:avLst/>
          </a:prstGeom>
          <a:solidFill>
            <a:srgbClr val="0F5E48"/>
          </a:solidFill>
          <a:ln w="12700">
            <a:solidFill>
              <a:srgbClr val="0F5E48"/>
            </a:solidFill>
            <a:prstDash val="solid"/>
          </a:ln>
        </p:spPr>
        <p:txBody>
          <a:bodyPr/>
          <a:p/>
        </p:txBody>
      </p:sp>
      <p:pic>
        <p:nvPicPr>
          <p:cNvPr id="15" name="Image 2" descr="preencoded.png"/>
          <p:cNvPicPr>
            <a:picLocks noChangeAspect="1"/>
          </p:cNvPicPr>
          <p:nvPr/>
        </p:nvPicPr>
        <p:blipFill>
          <a:blip r:embed="rId5"/>
          <a:stretch>
            <a:fillRect/>
          </a:stretch>
        </p:blipFill>
        <p:spPr>
          <a:xfrm>
            <a:off x="6332220" y="1440180"/>
            <a:ext cx="228600" cy="228600"/>
          </a:xfrm>
          <a:prstGeom prst="rect">
            <a:avLst/>
          </a:prstGeom>
        </p:spPr>
      </p:pic>
      <p:sp>
        <p:nvSpPr>
          <p:cNvPr id="16" name="Text 11"/>
          <p:cNvSpPr txBox="1"/>
          <p:nvPr/>
        </p:nvSpPr>
        <p:spPr>
          <a:xfrm>
            <a:off x="6812280" y="1325880"/>
            <a:ext cx="1783080" cy="457200"/>
          </a:xfrm>
          <a:prstGeom prst="rect">
            <a:avLst/>
          </a:prstGeom>
          <a:noFill/>
          <a:ln/>
        </p:spPr>
        <p:txBody>
          <a:bodyPr wrap="square" lIns="0" tIns="0" rIns="0" bIns="0" rtlCol="0" anchor="ctr"/>
          <a:lstStyle/>
          <a:p>
            <a:pPr marL="0" indent="0">
              <a:buNone/>
            </a:pPr>
            <a:r>
              <a:rPr lang="en-US" sz="1400" b="1" dirty="0">
                <a:solidFill>
                  <a:srgbClr val="16221B"/>
                </a:solidFill>
                <a:latin typeface="Arial" pitchFamily="34" charset="0"/>
                <a:ea typeface="Arial" pitchFamily="34" charset="-122"/>
                <a:cs typeface="Arial" pitchFamily="34" charset="-120"/>
              </a:rPr>
              <a:t>Catalog from a photo</a:t>
            </a:r>
            <a:endParaRPr lang="en-US" sz="1400" dirty="0"/>
          </a:p>
        </p:txBody>
      </p:sp>
      <p:sp>
        <p:nvSpPr>
          <p:cNvPr id="17" name="Text 12"/>
          <p:cNvSpPr txBox="1"/>
          <p:nvPr/>
        </p:nvSpPr>
        <p:spPr>
          <a:xfrm>
            <a:off x="6217920" y="1920240"/>
            <a:ext cx="2331720" cy="777240"/>
          </a:xfrm>
          <a:prstGeom prst="rect">
            <a:avLst/>
          </a:prstGeom>
          <a:noFill/>
          <a:ln/>
        </p:spPr>
        <p:txBody>
          <a:bodyPr wrap="square" lIns="0" tIns="0" rIns="0" bIns="0" rtlCol="0" anchor="t"/>
          <a:lstStyle/>
          <a:p>
            <a:pPr marL="0" indent="0">
              <a:buNone/>
            </a:pPr>
            <a:r>
              <a:rPr lang="en-US" sz="1300" dirty="0">
                <a:solidFill>
                  <a:srgbClr val="16221B"/>
                </a:solidFill>
                <a:latin typeface="Calibri" pitchFamily="34" charset="0"/>
                <a:ea typeface="Calibri" pitchFamily="34" charset="-122"/>
                <a:cs typeface="Calibri" pitchFamily="34" charset="-120"/>
              </a:rPr>
              <a:t>One shelf photo becomes reviewable items (Qwen2.5-VL on RunPod).</a:t>
            </a:r>
            <a:endParaRPr lang="en-US" sz="1300" dirty="0"/>
          </a:p>
        </p:txBody>
      </p:sp>
      <p:sp>
        <p:nvSpPr>
          <p:cNvPr id="18" name="Shape 13"/>
          <p:cNvSpPr/>
          <p:nvPr/>
        </p:nvSpPr>
        <p:spPr>
          <a:xfrm>
            <a:off x="457200" y="2880360"/>
            <a:ext cx="2651760" cy="1600200"/>
          </a:xfrm>
          <a:prstGeom prst="roundRect">
            <a:avLst>
              <a:gd name="adj" fmla="val 4571"/>
            </a:avLst>
          </a:prstGeom>
          <a:solidFill>
            <a:srgbClr val="EEF5F1"/>
          </a:solidFill>
          <a:ln w="12700">
            <a:solidFill>
              <a:srgbClr val="EEF5F1"/>
            </a:solidFill>
            <a:prstDash val="solid"/>
          </a:ln>
        </p:spPr>
        <p:txBody>
          <a:bodyPr/>
          <a:p/>
        </p:txBody>
      </p:sp>
      <p:sp>
        <p:nvSpPr>
          <p:cNvPr id="19" name="Shape 14"/>
          <p:cNvSpPr/>
          <p:nvPr/>
        </p:nvSpPr>
        <p:spPr>
          <a:xfrm>
            <a:off x="640080" y="3063240"/>
            <a:ext cx="457200" cy="457200"/>
          </a:xfrm>
          <a:prstGeom prst="ellipse">
            <a:avLst/>
          </a:prstGeom>
          <a:solidFill>
            <a:srgbClr val="0F5E48"/>
          </a:solidFill>
          <a:ln w="12700">
            <a:solidFill>
              <a:srgbClr val="0F5E48"/>
            </a:solidFill>
            <a:prstDash val="solid"/>
          </a:ln>
        </p:spPr>
        <p:txBody>
          <a:bodyPr/>
          <a:p/>
        </p:txBody>
      </p:sp>
      <p:pic>
        <p:nvPicPr>
          <p:cNvPr id="20" name="Image 3" descr="preencoded.png"/>
          <p:cNvPicPr>
            <a:picLocks noChangeAspect="1"/>
          </p:cNvPicPr>
          <p:nvPr/>
        </p:nvPicPr>
        <p:blipFill>
          <a:blip r:embed="rId6"/>
          <a:stretch>
            <a:fillRect/>
          </a:stretch>
        </p:blipFill>
        <p:spPr>
          <a:xfrm>
            <a:off x="754380" y="3177540"/>
            <a:ext cx="228600" cy="228600"/>
          </a:xfrm>
          <a:prstGeom prst="rect">
            <a:avLst/>
          </a:prstGeom>
        </p:spPr>
      </p:pic>
      <p:sp>
        <p:nvSpPr>
          <p:cNvPr id="21" name="Text 15"/>
          <p:cNvSpPr txBox="1"/>
          <p:nvPr/>
        </p:nvSpPr>
        <p:spPr>
          <a:xfrm>
            <a:off x="1234440" y="3063240"/>
            <a:ext cx="1783080" cy="457200"/>
          </a:xfrm>
          <a:prstGeom prst="rect">
            <a:avLst/>
          </a:prstGeom>
          <a:noFill/>
          <a:ln/>
        </p:spPr>
        <p:txBody>
          <a:bodyPr wrap="square" lIns="0" tIns="0" rIns="0" bIns="0" rtlCol="0" anchor="ctr"/>
          <a:lstStyle/>
          <a:p>
            <a:pPr marL="0" indent="0">
              <a:buNone/>
            </a:pPr>
            <a:r>
              <a:rPr lang="en-US" sz="1400" b="1" dirty="0">
                <a:solidFill>
                  <a:srgbClr val="16221B"/>
                </a:solidFill>
                <a:latin typeface="Arial" pitchFamily="34" charset="0"/>
                <a:ea typeface="Arial" pitchFamily="34" charset="-122"/>
                <a:cs typeface="Arial" pitchFamily="34" charset="-120"/>
              </a:rPr>
              <a:t>Availability and quote asks</a:t>
            </a:r>
            <a:endParaRPr lang="en-US" sz="1400" dirty="0"/>
          </a:p>
        </p:txBody>
      </p:sp>
      <p:sp>
        <p:nvSpPr>
          <p:cNvPr id="22" name="Text 16"/>
          <p:cNvSpPr txBox="1"/>
          <p:nvPr/>
        </p:nvSpPr>
        <p:spPr>
          <a:xfrm>
            <a:off x="640080" y="3657600"/>
            <a:ext cx="2331720" cy="777240"/>
          </a:xfrm>
          <a:prstGeom prst="rect">
            <a:avLst/>
          </a:prstGeom>
          <a:noFill/>
          <a:ln/>
        </p:spPr>
        <p:txBody>
          <a:bodyPr wrap="square" lIns="0" tIns="0" rIns="0" bIns="0" rtlCol="0" anchor="t"/>
          <a:lstStyle/>
          <a:p>
            <a:pPr marL="0" indent="0">
              <a:buNone/>
            </a:pPr>
            <a:r>
              <a:rPr lang="en-US" sz="1300" dirty="0">
                <a:solidFill>
                  <a:srgbClr val="16221B"/>
                </a:solidFill>
                <a:latin typeface="Calibri" pitchFamily="34" charset="0"/>
                <a:ea typeface="Calibri" pitchFamily="34" charset="-122"/>
                <a:cs typeface="Calibri" pitchFamily="34" charset="-120"/>
              </a:rPr>
              <a:t>Customers ask "is it available?" and "quote 50 kg".</a:t>
            </a:r>
            <a:endParaRPr lang="en-US" sz="1300" dirty="0"/>
          </a:p>
        </p:txBody>
      </p:sp>
      <p:sp>
        <p:nvSpPr>
          <p:cNvPr id="23" name="Shape 17"/>
          <p:cNvSpPr/>
          <p:nvPr/>
        </p:nvSpPr>
        <p:spPr>
          <a:xfrm>
            <a:off x="3246120" y="2880360"/>
            <a:ext cx="2651760" cy="1600200"/>
          </a:xfrm>
          <a:prstGeom prst="roundRect">
            <a:avLst>
              <a:gd name="adj" fmla="val 4571"/>
            </a:avLst>
          </a:prstGeom>
          <a:solidFill>
            <a:srgbClr val="EEF5F1"/>
          </a:solidFill>
          <a:ln w="12700">
            <a:solidFill>
              <a:srgbClr val="EEF5F1"/>
            </a:solidFill>
            <a:prstDash val="solid"/>
          </a:ln>
        </p:spPr>
        <p:txBody>
          <a:bodyPr/>
          <a:p/>
        </p:txBody>
      </p:sp>
      <p:sp>
        <p:nvSpPr>
          <p:cNvPr id="24" name="Shape 18"/>
          <p:cNvSpPr/>
          <p:nvPr/>
        </p:nvSpPr>
        <p:spPr>
          <a:xfrm>
            <a:off x="3429000" y="3063240"/>
            <a:ext cx="457200" cy="457200"/>
          </a:xfrm>
          <a:prstGeom prst="ellipse">
            <a:avLst/>
          </a:prstGeom>
          <a:solidFill>
            <a:srgbClr val="0F5E48"/>
          </a:solidFill>
          <a:ln w="12700">
            <a:solidFill>
              <a:srgbClr val="0F5E48"/>
            </a:solidFill>
            <a:prstDash val="solid"/>
          </a:ln>
        </p:spPr>
        <p:txBody>
          <a:bodyPr/>
          <a:p/>
        </p:txBody>
      </p:sp>
      <p:pic>
        <p:nvPicPr>
          <p:cNvPr id="25" name="Image 4" descr="preencoded.png"/>
          <p:cNvPicPr>
            <a:picLocks noChangeAspect="1"/>
          </p:cNvPicPr>
          <p:nvPr/>
        </p:nvPicPr>
        <p:blipFill>
          <a:blip r:embed="rId7"/>
          <a:stretch>
            <a:fillRect/>
          </a:stretch>
        </p:blipFill>
        <p:spPr>
          <a:xfrm>
            <a:off x="3543300" y="3177540"/>
            <a:ext cx="228600" cy="228600"/>
          </a:xfrm>
          <a:prstGeom prst="rect">
            <a:avLst/>
          </a:prstGeom>
        </p:spPr>
      </p:pic>
      <p:sp>
        <p:nvSpPr>
          <p:cNvPr id="26" name="Text 19"/>
          <p:cNvSpPr txBox="1"/>
          <p:nvPr/>
        </p:nvSpPr>
        <p:spPr>
          <a:xfrm>
            <a:off x="4023360" y="3063240"/>
            <a:ext cx="1783080" cy="457200"/>
          </a:xfrm>
          <a:prstGeom prst="rect">
            <a:avLst/>
          </a:prstGeom>
          <a:noFill/>
          <a:ln/>
        </p:spPr>
        <p:txBody>
          <a:bodyPr wrap="square" lIns="0" tIns="0" rIns="0" bIns="0" rtlCol="0" anchor="ctr"/>
          <a:lstStyle/>
          <a:p>
            <a:pPr marL="0" indent="0">
              <a:buNone/>
            </a:pPr>
            <a:r>
              <a:rPr lang="en-US" sz="1400" b="1" dirty="0">
                <a:solidFill>
                  <a:srgbClr val="16221B"/>
                </a:solidFill>
                <a:latin typeface="Arial" pitchFamily="34" charset="0"/>
                <a:ea typeface="Arial" pitchFamily="34" charset="-122"/>
                <a:cs typeface="Arial" pitchFamily="34" charset="-120"/>
              </a:rPr>
              <a:t>Price lists in, quotes out</a:t>
            </a:r>
            <a:endParaRPr lang="en-US" sz="1400" dirty="0"/>
          </a:p>
        </p:txBody>
      </p:sp>
      <p:sp>
        <p:nvSpPr>
          <p:cNvPr id="27" name="Text 20"/>
          <p:cNvSpPr txBox="1"/>
          <p:nvPr/>
        </p:nvSpPr>
        <p:spPr>
          <a:xfrm>
            <a:off x="3429000" y="3657600"/>
            <a:ext cx="2331720" cy="777240"/>
          </a:xfrm>
          <a:prstGeom prst="rect">
            <a:avLst/>
          </a:prstGeom>
          <a:noFill/>
          <a:ln/>
        </p:spPr>
        <p:txBody>
          <a:bodyPr wrap="square" lIns="0" tIns="0" rIns="0" bIns="0" rtlCol="0" anchor="t"/>
          <a:lstStyle/>
          <a:p>
            <a:pPr marL="0" indent="0">
              <a:buNone/>
            </a:pPr>
            <a:r>
              <a:rPr lang="en-US" sz="1300" dirty="0">
                <a:solidFill>
                  <a:srgbClr val="16221B"/>
                </a:solidFill>
                <a:latin typeface="Calibri" pitchFamily="34" charset="0"/>
                <a:ea typeface="Calibri" pitchFamily="34" charset="-122"/>
                <a:cs typeface="Calibri" pitchFamily="34" charset="-120"/>
              </a:rPr>
              <a:t>PDF, photo, XLSX, DOCX, CSV in. PDF, XLSX, CSV out.</a:t>
            </a:r>
            <a:endParaRPr lang="en-US" sz="1300" dirty="0"/>
          </a:p>
        </p:txBody>
      </p:sp>
      <p:sp>
        <p:nvSpPr>
          <p:cNvPr id="28" name="Shape 21"/>
          <p:cNvSpPr/>
          <p:nvPr/>
        </p:nvSpPr>
        <p:spPr>
          <a:xfrm>
            <a:off x="6035040" y="2880360"/>
            <a:ext cx="2651760" cy="1600200"/>
          </a:xfrm>
          <a:prstGeom prst="roundRect">
            <a:avLst>
              <a:gd name="adj" fmla="val 4571"/>
            </a:avLst>
          </a:prstGeom>
          <a:solidFill>
            <a:srgbClr val="EEF5F1"/>
          </a:solidFill>
          <a:ln w="12700">
            <a:solidFill>
              <a:srgbClr val="EEF5F1"/>
            </a:solidFill>
            <a:prstDash val="solid"/>
          </a:ln>
        </p:spPr>
        <p:txBody>
          <a:bodyPr/>
          <a:p/>
        </p:txBody>
      </p:sp>
      <p:sp>
        <p:nvSpPr>
          <p:cNvPr id="29" name="Shape 22"/>
          <p:cNvSpPr/>
          <p:nvPr/>
        </p:nvSpPr>
        <p:spPr>
          <a:xfrm>
            <a:off x="6217920" y="3063240"/>
            <a:ext cx="457200" cy="457200"/>
          </a:xfrm>
          <a:prstGeom prst="ellipse">
            <a:avLst/>
          </a:prstGeom>
          <a:solidFill>
            <a:srgbClr val="0F5E48"/>
          </a:solidFill>
          <a:ln w="12700">
            <a:solidFill>
              <a:srgbClr val="0F5E48"/>
            </a:solidFill>
            <a:prstDash val="solid"/>
          </a:ln>
        </p:spPr>
        <p:txBody>
          <a:bodyPr/>
          <a:p/>
        </p:txBody>
      </p:sp>
      <p:pic>
        <p:nvPicPr>
          <p:cNvPr id="30" name="Image 5" descr="preencoded.png"/>
          <p:cNvPicPr>
            <a:picLocks noChangeAspect="1"/>
          </p:cNvPicPr>
          <p:nvPr/>
        </p:nvPicPr>
        <p:blipFill>
          <a:blip r:embed="rId8"/>
          <a:stretch>
            <a:fillRect/>
          </a:stretch>
        </p:blipFill>
        <p:spPr>
          <a:xfrm>
            <a:off x="6332220" y="3177540"/>
            <a:ext cx="228600" cy="228600"/>
          </a:xfrm>
          <a:prstGeom prst="rect">
            <a:avLst/>
          </a:prstGeom>
        </p:spPr>
      </p:pic>
      <p:sp>
        <p:nvSpPr>
          <p:cNvPr id="31" name="Text 23"/>
          <p:cNvSpPr txBox="1"/>
          <p:nvPr/>
        </p:nvSpPr>
        <p:spPr>
          <a:xfrm>
            <a:off x="6812280" y="3063240"/>
            <a:ext cx="1783080" cy="457200"/>
          </a:xfrm>
          <a:prstGeom prst="rect">
            <a:avLst/>
          </a:prstGeom>
          <a:noFill/>
          <a:ln/>
        </p:spPr>
        <p:txBody>
          <a:bodyPr wrap="square" lIns="0" tIns="0" rIns="0" bIns="0" rtlCol="0" anchor="ctr"/>
          <a:lstStyle/>
          <a:p>
            <a:pPr marL="0" indent="0">
              <a:buNone/>
            </a:pPr>
            <a:r>
              <a:rPr lang="en-US" sz="1400" b="1" dirty="0">
                <a:solidFill>
                  <a:srgbClr val="16221B"/>
                </a:solidFill>
                <a:latin typeface="Arial" pitchFamily="34" charset="0"/>
                <a:ea typeface="Arial" pitchFamily="34" charset="-122"/>
                <a:cs typeface="Arial" pitchFamily="34" charset="-120"/>
              </a:rPr>
              <a:t>Owner control</a:t>
            </a:r>
            <a:endParaRPr lang="en-US" sz="1400" dirty="0"/>
          </a:p>
        </p:txBody>
      </p:sp>
      <p:sp>
        <p:nvSpPr>
          <p:cNvPr id="32" name="Text 24"/>
          <p:cNvSpPr txBox="1"/>
          <p:nvPr/>
        </p:nvSpPr>
        <p:spPr>
          <a:xfrm>
            <a:off x="6217920" y="3657600"/>
            <a:ext cx="2331720" cy="777240"/>
          </a:xfrm>
          <a:prstGeom prst="rect">
            <a:avLst/>
          </a:prstGeom>
          <a:noFill/>
          <a:ln/>
        </p:spPr>
        <p:txBody>
          <a:bodyPr wrap="square" lIns="0" tIns="0" rIns="0" bIns="0" rtlCol="0" anchor="t"/>
          <a:lstStyle/>
          <a:p>
            <a:pPr marL="0" indent="0">
              <a:buNone/>
            </a:pPr>
            <a:r>
              <a:rPr lang="en-US" sz="1300" dirty="0">
                <a:solidFill>
                  <a:srgbClr val="16221B"/>
                </a:solidFill>
                <a:latin typeface="Calibri" pitchFamily="34" charset="0"/>
                <a:ea typeface="Calibri" pitchFamily="34" charset="-122"/>
                <a:cs typeface="Calibri" pitchFamily="34" charset="-120"/>
              </a:rPr>
              <a:t>Approval step, roles, audit log, tracker and reminders.</a:t>
            </a:r>
            <a:endParaRPr lang="en-US" sz="1300" dirty="0"/>
          </a:p>
        </p:txBody>
      </p:sp>
      <p:sp>
        <p:nvSpPr>
          <p:cNvPr id="33" name="Text 25"/>
          <p:cNvSpPr txBox="1"/>
          <p:nvPr/>
        </p:nvSpPr>
        <p:spPr>
          <a:xfrm>
            <a:off x="457200" y="4617720"/>
            <a:ext cx="7315200" cy="228600"/>
          </a:xfrm>
          <a:prstGeom prst="rect">
            <a:avLst/>
          </a:prstGeom>
          <a:noFill/>
          <a:ln/>
        </p:spPr>
        <p:txBody>
          <a:bodyPr wrap="square" lIns="0" tIns="0" rIns="0" bIns="0" rtlCol="0" anchor="t"/>
          <a:lstStyle/>
          <a:p>
            <a:pPr marL="0" indent="0">
              <a:buNone/>
            </a:pPr>
            <a:r>
              <a:rPr lang="en-US" sz="1100" dirty="0">
                <a:solidFill>
                  <a:srgbClr val="5B6B63"/>
                </a:solidFill>
                <a:latin typeface="Calibri" pitchFamily="34" charset="0"/>
                <a:ea typeface="Calibri" pitchFamily="34" charset="-122"/>
                <a:cs typeface="Calibri" pitchFamily="34" charset="-120"/>
              </a:rPr>
              <a:t>Telegram is live. WhatsApp is built and waiting for Meta setup.</a:t>
            </a:r>
            <a:endParaRPr lang="en-US" sz="1100" dirty="0"/>
          </a:p>
        </p:txBody>
      </p:sp>
      <p:sp>
        <p:nvSpPr>
          <p:cNvPr id="34"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63"/>
                </a:solidFill>
                <a:latin typeface="Arial"/>
                <a:ea typeface="Arial"/>
                <a:cs typeface="Aria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28600"/>
            <a:ext cx="6583680" cy="731520"/>
          </a:xfrm>
          <a:prstGeom prst="rect">
            <a:avLst/>
          </a:prstGeom>
          <a:noFill/>
          <a:ln/>
        </p:spPr>
        <p:txBody>
          <a:bodyPr wrap="square" lIns="0" tIns="0" rIns="0" bIns="0" rtlCol="0" anchor="ctr"/>
          <a:lstStyle/>
          <a:p>
            <a:pPr marL="0" indent="0">
              <a:buNone/>
            </a:pPr>
            <a:r>
              <a:rPr lang="en-US" sz="3200" b="1" dirty="0">
                <a:solidFill>
                  <a:srgbClr val="16221B"/>
                </a:solidFill>
                <a:latin typeface="Arial" pitchFamily="34" charset="0"/>
                <a:ea typeface="Arial" pitchFamily="34" charset="-122"/>
                <a:cs typeface="Arial" pitchFamily="34" charset="-120"/>
              </a:rPr>
              <a:t>See It Work</a:t>
            </a:r>
            <a:endParaRPr lang="en-US" sz="3200" dirty="0"/>
          </a:p>
        </p:txBody>
      </p:sp>
      <p:sp>
        <p:nvSpPr>
          <p:cNvPr id="3" name="Shape 1"/>
          <p:cNvSpPr/>
          <p:nvPr/>
        </p:nvSpPr>
        <p:spPr>
          <a:xfrm>
            <a:off x="457200" y="1051560"/>
            <a:ext cx="3566160" cy="3474720"/>
          </a:xfrm>
          <a:prstGeom prst="roundRect">
            <a:avLst>
              <a:gd name="adj" fmla="val 5263"/>
            </a:avLst>
          </a:prstGeom>
          <a:solidFill>
            <a:srgbClr val="F4F7F5"/>
          </a:solidFill>
          <a:ln w="19050">
            <a:solidFill>
              <a:srgbClr val="16221B"/>
            </a:solidFill>
            <a:prstDash val="solid"/>
          </a:ln>
        </p:spPr>
        <p:txBody>
          <a:bodyPr/>
          <a:p/>
        </p:txBody>
      </p:sp>
      <p:sp>
        <p:nvSpPr>
          <p:cNvPr id="4" name="Shape 2"/>
          <p:cNvSpPr/>
          <p:nvPr/>
        </p:nvSpPr>
        <p:spPr>
          <a:xfrm>
            <a:off x="463157" y="1058925"/>
            <a:ext cx="3566160" cy="217204"/>
          </a:xfrm>
          <a:prstGeom prst="roundRect">
            <a:avLst>
              <a:gd name="adj" fmla="val 40000"/>
            </a:avLst>
          </a:prstGeom>
          <a:solidFill>
            <a:srgbClr val="0F5E48"/>
          </a:solidFill>
          <a:ln w="12700">
            <a:solidFill>
              <a:srgbClr val="0F5E48"/>
            </a:solidFill>
            <a:prstDash val="solid"/>
          </a:ln>
        </p:spPr>
        <p:txBody>
          <a:bodyPr/>
          <a:p/>
        </p:txBody>
      </p:sp>
      <p:sp>
        <p:nvSpPr>
          <p:cNvPr id="6" name="Text 4"/>
          <p:cNvSpPr txBox="1"/>
          <p:nvPr/>
        </p:nvSpPr>
        <p:spPr>
          <a:xfrm>
            <a:off x="960120" y="1039331"/>
            <a:ext cx="3200400" cy="22860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Gyser 3D Print  ·  @Gyser3DPrintBot</a:t>
            </a:r>
            <a:endParaRPr lang="en-US" sz="1200" dirty="0"/>
          </a:p>
        </p:txBody>
      </p:sp>
      <p:sp>
        <p:nvSpPr>
          <p:cNvPr id="15" name="Shape 13"/>
          <p:cNvSpPr/>
          <p:nvPr/>
        </p:nvSpPr>
        <p:spPr>
          <a:xfrm>
            <a:off x="4160520" y="2606040"/>
            <a:ext cx="502920" cy="365760"/>
          </a:xfrm>
          <a:prstGeom prst="rightArrow">
            <a:avLst/>
          </a:prstGeom>
          <a:solidFill>
            <a:srgbClr val="F2AC2E"/>
          </a:solidFill>
          <a:ln w="12700">
            <a:solidFill>
              <a:srgbClr val="F2AC2E"/>
            </a:solidFill>
            <a:prstDash val="solid"/>
          </a:ln>
        </p:spPr>
        <p:txBody>
          <a:bodyPr/>
          <a:p/>
        </p:txBody>
      </p:sp>
      <p:sp>
        <p:nvSpPr>
          <p:cNvPr id="16" name="Shape 14"/>
          <p:cNvSpPr/>
          <p:nvPr/>
        </p:nvSpPr>
        <p:spPr>
          <a:xfrm>
            <a:off x="4800600" y="1051560"/>
            <a:ext cx="3886200" cy="3474720"/>
          </a:xfrm>
          <a:prstGeom prst="roundRect">
            <a:avLst>
              <a:gd name="adj" fmla="val 2105"/>
            </a:avLst>
          </a:prstGeom>
          <a:solidFill>
            <a:srgbClr val="FFFFFF"/>
          </a:solidFill>
          <a:ln w="12700">
            <a:solidFill>
              <a:srgbClr val="D9E3DD"/>
            </a:solidFill>
            <a:prstDash val="solid"/>
          </a:ln>
        </p:spPr>
        <p:txBody>
          <a:bodyPr/>
          <a:p/>
        </p:txBody>
      </p:sp>
      <p:sp>
        <p:nvSpPr>
          <p:cNvPr id="17" name="Text 15"/>
          <p:cNvSpPr txBox="1"/>
          <p:nvPr/>
        </p:nvSpPr>
        <p:spPr>
          <a:xfrm>
            <a:off x="4983480" y="1188720"/>
            <a:ext cx="3200400" cy="228600"/>
          </a:xfrm>
          <a:prstGeom prst="rect">
            <a:avLst/>
          </a:prstGeom>
          <a:noFill/>
          <a:ln/>
        </p:spPr>
        <p:txBody>
          <a:bodyPr wrap="square" lIns="0" tIns="0" rIns="0" bIns="0" rtlCol="0" anchor="t"/>
          <a:lstStyle/>
          <a:p>
            <a:pPr marL="0" indent="0">
              <a:buNone/>
            </a:pPr>
            <a:r>
              <a:rPr lang="en-US" sz="1100" b="1" dirty="0">
                <a:solidFill>
                  <a:srgbClr val="0F5E48"/>
                </a:solidFill>
                <a:latin typeface="Calibri" pitchFamily="34" charset="0"/>
                <a:ea typeface="Calibri" pitchFamily="34" charset="-122"/>
                <a:cs typeface="Calibri" pitchFamily="34" charset="-120"/>
              </a:rPr>
              <a:t>OWNER'S SCREEN</a:t>
            </a:r>
            <a:endParaRPr lang="en-US" sz="1100" dirty="0"/>
          </a:p>
        </p:txBody>
      </p:sp>
      <p:sp>
        <p:nvSpPr>
          <p:cNvPr id="18" name="Text 16"/>
          <p:cNvSpPr txBox="1"/>
          <p:nvPr/>
        </p:nvSpPr>
        <p:spPr>
          <a:xfrm>
            <a:off x="4983480" y="1463040"/>
            <a:ext cx="3474720" cy="365760"/>
          </a:xfrm>
          <a:prstGeom prst="rect">
            <a:avLst/>
          </a:prstGeom>
          <a:noFill/>
          <a:ln/>
        </p:spPr>
        <p:txBody>
          <a:bodyPr wrap="square" lIns="0" tIns="0" rIns="0" bIns="0" rtlCol="0" anchor="t"/>
          <a:lstStyle/>
          <a:p>
            <a:pPr marL="0" indent="0">
              <a:buNone/>
            </a:pPr>
            <a:r>
              <a:rPr lang="en-US" sz="1800" b="1" dirty="0">
                <a:solidFill>
                  <a:srgbClr val="16221B"/>
                </a:solidFill>
                <a:latin typeface="Arial" pitchFamily="34" charset="0"/>
                <a:ea typeface="Arial" pitchFamily="34" charset="-122"/>
                <a:cs typeface="Arial" pitchFamily="34" charset="-120"/>
              </a:rPr>
              <a:t>Draft QT-2026-0001</a:t>
            </a:r>
            <a:endParaRPr lang="en-US" sz="1800" dirty="0"/>
          </a:p>
        </p:txBody>
      </p:sp>
      <p:sp>
        <p:nvSpPr>
          <p:cNvPr id="19" name="Shape 17"/>
          <p:cNvSpPr/>
          <p:nvPr/>
        </p:nvSpPr>
        <p:spPr>
          <a:xfrm>
            <a:off x="4983480" y="1920240"/>
            <a:ext cx="1508760" cy="274320"/>
          </a:xfrm>
          <a:prstGeom prst="roundRect">
            <a:avLst>
              <a:gd name="adj" fmla="val 26667"/>
            </a:avLst>
          </a:prstGeom>
          <a:solidFill>
            <a:srgbClr val="F2AC2E"/>
          </a:solidFill>
          <a:ln w="12700">
            <a:solidFill>
              <a:srgbClr val="F2AC2E"/>
            </a:solidFill>
            <a:prstDash val="solid"/>
          </a:ln>
        </p:spPr>
        <p:txBody>
          <a:bodyPr/>
          <a:p/>
        </p:txBody>
      </p:sp>
      <p:sp>
        <p:nvSpPr>
          <p:cNvPr id="20" name="Text 18"/>
          <p:cNvSpPr txBox="1"/>
          <p:nvPr/>
        </p:nvSpPr>
        <p:spPr>
          <a:xfrm>
            <a:off x="4983480" y="1920240"/>
            <a:ext cx="1508760" cy="274320"/>
          </a:xfrm>
          <a:prstGeom prst="rect">
            <a:avLst/>
          </a:prstGeom>
          <a:noFill/>
          <a:ln/>
        </p:spPr>
        <p:txBody>
          <a:bodyPr wrap="square" lIns="0" tIns="0" rIns="0" bIns="0" rtlCol="0" anchor="ctr"/>
          <a:lstStyle/>
          <a:p>
            <a:pPr marL="0" indent="0" algn="ctr">
              <a:buNone/>
            </a:pPr>
            <a:r>
              <a:rPr lang="en-US" sz="1100" b="1" dirty="0">
                <a:solidFill>
                  <a:srgbClr val="16221B"/>
                </a:solidFill>
                <a:latin typeface="Calibri" pitchFamily="34" charset="0"/>
                <a:ea typeface="Calibri" pitchFamily="34" charset="-122"/>
                <a:cs typeface="Calibri" pitchFamily="34" charset="-120"/>
              </a:rPr>
              <a:t>NEEDS REVIEW</a:t>
            </a:r>
            <a:endParaRPr lang="en-US" sz="1100" dirty="0"/>
          </a:p>
        </p:txBody>
      </p:sp>
      <p:sp>
        <p:nvSpPr>
          <p:cNvPr id="21" name="Text 19"/>
          <p:cNvSpPr txBox="1"/>
          <p:nvPr/>
        </p:nvSpPr>
        <p:spPr>
          <a:xfrm>
            <a:off x="4983480" y="2377440"/>
            <a:ext cx="1188720" cy="320040"/>
          </a:xfrm>
          <a:prstGeom prst="rect">
            <a:avLst/>
          </a:prstGeom>
          <a:noFill/>
          <a:ln/>
        </p:spPr>
        <p:txBody>
          <a:bodyPr wrap="square" lIns="0" tIns="0" rIns="0" bIns="0" rtlCol="0" anchor="ctr"/>
          <a:lstStyle/>
          <a:p>
            <a:pPr marL="0" indent="0">
              <a:buNone/>
            </a:pPr>
            <a:r>
              <a:rPr lang="en-US" sz="1200" dirty="0">
                <a:solidFill>
                  <a:srgbClr val="5B6B63"/>
                </a:solidFill>
                <a:latin typeface="Calibri" pitchFamily="34" charset="0"/>
                <a:ea typeface="Calibri" pitchFamily="34" charset="-122"/>
                <a:cs typeface="Calibri" pitchFamily="34" charset="-120"/>
              </a:rPr>
              <a:t>Item</a:t>
            </a:r>
            <a:endParaRPr lang="en-US" sz="1200" dirty="0"/>
          </a:p>
        </p:txBody>
      </p:sp>
      <p:sp>
        <p:nvSpPr>
          <p:cNvPr id="22" name="Text 20"/>
          <p:cNvSpPr txBox="1"/>
          <p:nvPr/>
        </p:nvSpPr>
        <p:spPr>
          <a:xfrm>
            <a:off x="6217920" y="2377440"/>
            <a:ext cx="2331720" cy="320040"/>
          </a:xfrm>
          <a:prstGeom prst="rect">
            <a:avLst/>
          </a:prstGeom>
          <a:noFill/>
          <a:ln/>
        </p:spPr>
        <p:txBody>
          <a:bodyPr wrap="square" lIns="0" tIns="0" rIns="0" bIns="0" rtlCol="0" anchor="ctr"/>
          <a:lstStyle/>
          <a:p>
            <a:pPr marL="0" indent="0">
              <a:buNone/>
            </a:pPr>
            <a:r>
              <a:rPr lang="en-US" sz="1200" b="1" dirty="0">
                <a:solidFill>
                  <a:srgbClr val="16221B"/>
                </a:solidFill>
                <a:latin typeface="Calibri" pitchFamily="34" charset="0"/>
                <a:ea typeface="Calibri" pitchFamily="34" charset="-122"/>
                <a:cs typeface="Calibri" pitchFamily="34" charset="-120"/>
              </a:rPr>
              <a:t>eSUN ePETG+HS 3D Printer Filament</a:t>
            </a:r>
            <a:endParaRPr lang="en-US" sz="1200" dirty="0"/>
          </a:p>
        </p:txBody>
      </p:sp>
      <p:sp>
        <p:nvSpPr>
          <p:cNvPr id="23" name="Text 21"/>
          <p:cNvSpPr txBox="1"/>
          <p:nvPr/>
        </p:nvSpPr>
        <p:spPr>
          <a:xfrm>
            <a:off x="4983480" y="2743200"/>
            <a:ext cx="1188720" cy="320040"/>
          </a:xfrm>
          <a:prstGeom prst="rect">
            <a:avLst/>
          </a:prstGeom>
          <a:noFill/>
          <a:ln/>
        </p:spPr>
        <p:txBody>
          <a:bodyPr wrap="square" lIns="0" tIns="0" rIns="0" bIns="0" rtlCol="0" anchor="ctr"/>
          <a:lstStyle/>
          <a:p>
            <a:pPr marL="0" indent="0">
              <a:buNone/>
            </a:pPr>
            <a:r>
              <a:rPr lang="en-US" sz="1200" dirty="0">
                <a:solidFill>
                  <a:srgbClr val="5B6B63"/>
                </a:solidFill>
                <a:latin typeface="Calibri" pitchFamily="34" charset="0"/>
                <a:ea typeface="Calibri" pitchFamily="34" charset="-122"/>
                <a:cs typeface="Calibri" pitchFamily="34" charset="-120"/>
              </a:rPr>
              <a:t>Quantity</a:t>
            </a:r>
            <a:endParaRPr lang="en-US" sz="1200" dirty="0"/>
          </a:p>
        </p:txBody>
      </p:sp>
      <p:sp>
        <p:nvSpPr>
          <p:cNvPr id="24" name="Text 22"/>
          <p:cNvSpPr txBox="1"/>
          <p:nvPr/>
        </p:nvSpPr>
        <p:spPr>
          <a:xfrm>
            <a:off x="6217920" y="2743200"/>
            <a:ext cx="2331720" cy="320040"/>
          </a:xfrm>
          <a:prstGeom prst="rect">
            <a:avLst/>
          </a:prstGeom>
          <a:noFill/>
          <a:ln/>
        </p:spPr>
        <p:txBody>
          <a:bodyPr wrap="square" lIns="0" tIns="0" rIns="0" bIns="0" rtlCol="0" anchor="ctr"/>
          <a:lstStyle/>
          <a:p>
            <a:pPr marL="0" indent="0">
              <a:buNone/>
            </a:pPr>
            <a:r>
              <a:rPr lang="en-US" sz="1200" b="1" dirty="0">
                <a:solidFill>
                  <a:srgbClr val="16221B"/>
                </a:solidFill>
                <a:latin typeface="Calibri" pitchFamily="34" charset="0"/>
                <a:ea typeface="Calibri" pitchFamily="34" charset="-122"/>
                <a:cs typeface="Calibri" pitchFamily="34" charset="-120"/>
              </a:rPr>
              <a:t>50 kg (customer asked in Malay)</a:t>
            </a:r>
            <a:endParaRPr lang="en-US" sz="1200" dirty="0"/>
          </a:p>
        </p:txBody>
      </p:sp>
      <p:sp>
        <p:nvSpPr>
          <p:cNvPr id="25" name="Text 23"/>
          <p:cNvSpPr txBox="1"/>
          <p:nvPr/>
        </p:nvSpPr>
        <p:spPr>
          <a:xfrm>
            <a:off x="4983480" y="3108960"/>
            <a:ext cx="1188720" cy="320040"/>
          </a:xfrm>
          <a:prstGeom prst="rect">
            <a:avLst/>
          </a:prstGeom>
          <a:noFill/>
          <a:ln/>
        </p:spPr>
        <p:txBody>
          <a:bodyPr wrap="square" lIns="0" tIns="0" rIns="0" bIns="0" rtlCol="0" anchor="ctr"/>
          <a:lstStyle/>
          <a:p>
            <a:pPr marL="0" indent="0">
              <a:buNone/>
            </a:pPr>
            <a:r>
              <a:rPr lang="en-US" sz="1200" dirty="0">
                <a:solidFill>
                  <a:srgbClr val="5B6B63"/>
                </a:solidFill>
                <a:latin typeface="Calibri" pitchFamily="34" charset="0"/>
                <a:ea typeface="Calibri" pitchFamily="34" charset="-122"/>
                <a:cs typeface="Calibri" pitchFamily="34" charset="-120"/>
              </a:rPr>
              <a:t>Listed price</a:t>
            </a:r>
            <a:endParaRPr lang="en-US" sz="1200" dirty="0"/>
          </a:p>
        </p:txBody>
      </p:sp>
      <p:sp>
        <p:nvSpPr>
          <p:cNvPr id="26" name="Text 24"/>
          <p:cNvSpPr txBox="1"/>
          <p:nvPr/>
        </p:nvSpPr>
        <p:spPr>
          <a:xfrm>
            <a:off x="6217920" y="3108960"/>
            <a:ext cx="2331720" cy="320040"/>
          </a:xfrm>
          <a:prstGeom prst="rect">
            <a:avLst/>
          </a:prstGeom>
          <a:noFill/>
          <a:ln/>
        </p:spPr>
        <p:txBody>
          <a:bodyPr wrap="square" lIns="0" tIns="0" rIns="0" bIns="0" rtlCol="0" anchor="ctr"/>
          <a:lstStyle/>
          <a:p>
            <a:pPr marL="0" indent="0">
              <a:buNone/>
            </a:pPr>
            <a:r>
              <a:rPr lang="en-US" sz="1200" b="1" dirty="0">
                <a:solidFill>
                  <a:srgbClr val="16221B"/>
                </a:solidFill>
                <a:latin typeface="Calibri" pitchFamily="34" charset="0"/>
                <a:ea typeface="Calibri" pitchFamily="34" charset="-122"/>
                <a:cs typeface="Calibri" pitchFamily="34" charset="-120"/>
              </a:rPr>
              <a:t>MYR 10.00 per unit (100g size)</a:t>
            </a:r>
            <a:endParaRPr lang="en-US" sz="1200" dirty="0"/>
          </a:p>
        </p:txBody>
      </p:sp>
      <p:sp>
        <p:nvSpPr>
          <p:cNvPr id="27" name="Text 25"/>
          <p:cNvSpPr txBox="1"/>
          <p:nvPr/>
        </p:nvSpPr>
        <p:spPr>
          <a:xfrm>
            <a:off x="4983480" y="3474720"/>
            <a:ext cx="1188720" cy="320040"/>
          </a:xfrm>
          <a:prstGeom prst="rect">
            <a:avLst/>
          </a:prstGeom>
          <a:noFill/>
          <a:ln/>
        </p:spPr>
        <p:txBody>
          <a:bodyPr wrap="square" lIns="0" tIns="0" rIns="0" bIns="0" rtlCol="0" anchor="ctr"/>
          <a:lstStyle/>
          <a:p>
            <a:pPr marL="0" indent="0">
              <a:buNone/>
            </a:pPr>
            <a:r>
              <a:rPr lang="en-US" sz="1200" dirty="0">
                <a:solidFill>
                  <a:srgbClr val="5B6B63"/>
                </a:solidFill>
                <a:latin typeface="Calibri" pitchFamily="34" charset="0"/>
                <a:ea typeface="Calibri" pitchFamily="34" charset="-122"/>
                <a:cs typeface="Calibri" pitchFamily="34" charset="-120"/>
              </a:rPr>
              <a:t>Bulk price</a:t>
            </a:r>
            <a:endParaRPr lang="en-US" sz="1200" dirty="0"/>
          </a:p>
        </p:txBody>
      </p:sp>
      <p:sp>
        <p:nvSpPr>
          <p:cNvPr id="28" name="Text 26"/>
          <p:cNvSpPr txBox="1"/>
          <p:nvPr/>
        </p:nvSpPr>
        <p:spPr>
          <a:xfrm>
            <a:off x="6217920" y="3474720"/>
            <a:ext cx="2331720" cy="320040"/>
          </a:xfrm>
          <a:prstGeom prst="rect">
            <a:avLst/>
          </a:prstGeom>
          <a:noFill/>
          <a:ln/>
        </p:spPr>
        <p:txBody>
          <a:bodyPr wrap="square" lIns="0" tIns="0" rIns="0" bIns="0" rtlCol="0" anchor="ctr"/>
          <a:lstStyle/>
          <a:p>
            <a:pPr marL="0" indent="0">
              <a:buNone/>
            </a:pPr>
            <a:r>
              <a:rPr lang="en-US" sz="1200" b="1" dirty="0">
                <a:solidFill>
                  <a:srgbClr val="16221B"/>
                </a:solidFill>
                <a:latin typeface="Calibri" pitchFamily="34" charset="0"/>
                <a:ea typeface="Calibri" pitchFamily="34" charset="-122"/>
                <a:cs typeface="Calibri" pitchFamily="34" charset="-120"/>
              </a:rPr>
              <a:t>Owner to confirm</a:t>
            </a:r>
            <a:endParaRPr lang="en-US" sz="1200" dirty="0"/>
          </a:p>
        </p:txBody>
      </p:sp>
      <p:sp>
        <p:nvSpPr>
          <p:cNvPr id="29" name="Shape 27"/>
          <p:cNvSpPr/>
          <p:nvPr/>
        </p:nvSpPr>
        <p:spPr>
          <a:xfrm>
            <a:off x="4983480" y="3977640"/>
            <a:ext cx="2011680" cy="384048"/>
          </a:xfrm>
          <a:prstGeom prst="roundRect">
            <a:avLst>
              <a:gd name="adj" fmla="val 19048"/>
            </a:avLst>
          </a:prstGeom>
          <a:solidFill>
            <a:srgbClr val="0F5E48"/>
          </a:solidFill>
          <a:ln w="12700">
            <a:solidFill>
              <a:srgbClr val="0F5E48"/>
            </a:solidFill>
            <a:prstDash val="solid"/>
          </a:ln>
        </p:spPr>
        <p:txBody>
          <a:bodyPr/>
          <a:p/>
        </p:txBody>
      </p:sp>
      <p:sp>
        <p:nvSpPr>
          <p:cNvPr id="30" name="Text 28"/>
          <p:cNvSpPr txBox="1"/>
          <p:nvPr/>
        </p:nvSpPr>
        <p:spPr>
          <a:xfrm>
            <a:off x="4983480" y="3977640"/>
            <a:ext cx="201168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Approve and send</a:t>
            </a:r>
            <a:endParaRPr lang="en-US" sz="1300" dirty="0"/>
          </a:p>
        </p:txBody>
      </p:sp>
      <p:sp>
        <p:nvSpPr>
          <p:cNvPr id="31" name="Text 29"/>
          <p:cNvSpPr txBox="1"/>
          <p:nvPr/>
        </p:nvSpPr>
        <p:spPr>
          <a:xfrm>
            <a:off x="7178040" y="3977640"/>
            <a:ext cx="1371600" cy="384048"/>
          </a:xfrm>
          <a:prstGeom prst="rect">
            <a:avLst/>
          </a:prstGeom>
          <a:noFill/>
          <a:ln/>
        </p:spPr>
        <p:txBody>
          <a:bodyPr wrap="square" lIns="0" tIns="0" rIns="0" bIns="0" rtlCol="0" anchor="ctr"/>
          <a:lstStyle/>
          <a:p>
            <a:pPr marL="0" indent="0">
              <a:buNone/>
            </a:pPr>
            <a:r>
              <a:rPr lang="en-US" sz="1100" dirty="0">
                <a:solidFill>
                  <a:srgbClr val="5B6B63"/>
                </a:solidFill>
                <a:latin typeface="Calibri" pitchFamily="34" charset="0"/>
                <a:ea typeface="Calibri" pitchFamily="34" charset="-122"/>
                <a:cs typeface="Calibri" pitchFamily="34" charset="-120"/>
              </a:rPr>
              <a:t>Voice notes follow the same path</a:t>
            </a:r>
            <a:endParaRPr lang="en-US" sz="1100" dirty="0"/>
          </a:p>
        </p:txBody>
      </p:sp>
      <p:sp>
        <p:nvSpPr>
          <p:cNvPr id="32" name="Text 30"/>
          <p:cNvSpPr txBox="1"/>
          <p:nvPr/>
        </p:nvSpPr>
        <p:spPr>
          <a:xfrm>
            <a:off x="457200" y="4617720"/>
            <a:ext cx="6400800" cy="228600"/>
          </a:xfrm>
          <a:prstGeom prst="rect">
            <a:avLst/>
          </a:prstGeom>
          <a:noFill/>
          <a:ln/>
        </p:spPr>
        <p:txBody>
          <a:bodyPr wrap="square" lIns="0" tIns="0" rIns="0" bIns="0" rtlCol="0" anchor="t"/>
          <a:lstStyle/>
          <a:p>
            <a:pPr marL="0" indent="0">
              <a:buNone/>
            </a:pPr>
            <a:r>
              <a:rPr lang="en-US" sz="1000" dirty="0">
                <a:solidFill>
                  <a:srgbClr val="5B6B63"/>
                </a:solidFill>
                <a:latin typeface="Calibri" pitchFamily="34" charset="0"/>
                <a:ea typeface="Calibri" pitchFamily="34" charset="-122"/>
                <a:cs typeface="Calibri" pitchFamily="34" charset="-120"/>
              </a:rPr>
              <a:t>Left: real Telegram screenshot. Right: owner screen recreated. Synthetic sample data.</a:t>
            </a:r>
            <a:endParaRPr lang="en-US" sz="1000" dirty="0"/>
          </a:p>
        </p:txBody>
      </p:sp>
      <p:sp>
        <p:nvSpPr>
          <p:cNvPr id="33"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63"/>
                </a:solidFill>
                <a:latin typeface="Arial"/>
                <a:ea typeface="Arial"/>
                <a:cs typeface="Arial"/>
              </a:defRPr>
            </a:lvl1pPr>
          </a:lstStyle>
          <a:p>
            <a:pPr algn="l"/>
            <a:fld id="{F7021451-1387-4CA6-816F-3879F97B5CBC}" type="slidenum">
              <a:rPr lang="en-US" b="0"/>
              <a:t>5</a:t>
            </a:fld>
            <a:endParaRPr lang="en-US"/>
          </a:p>
        </p:txBody>
      </p:sp>
      <p:pic>
        <p:nvPicPr>
          <p:cNvPr id="36" name="Picture 35">
            <a:extLst>
              <a:ext uri="{FF2B5EF4-FFF2-40B4-BE49-F238E27FC236}">
                <a16:creationId xmlns:a16="http://schemas.microsoft.com/office/drawing/2014/main" id="{A5F56C54-B68B-8A80-5BDC-A076A35C1E96}"/>
              </a:ext>
            </a:extLst>
          </p:cNvPr>
          <p:cNvPicPr>
            <a:picLocks noChangeAspect="1"/>
          </p:cNvPicPr>
          <p:nvPr/>
        </p:nvPicPr>
        <p:blipFill>
          <a:blip r:embed="rId3"/>
          <a:srcRect l="419" t="6499" r="-419" b="-2672"/>
          <a:stretch/>
        </p:blipFill>
        <p:spPr>
          <a:xfrm>
            <a:off x="1175513" y="1283494"/>
            <a:ext cx="2129533" cy="331834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28600"/>
            <a:ext cx="6583680" cy="731520"/>
          </a:xfrm>
          <a:prstGeom prst="rect">
            <a:avLst/>
          </a:prstGeom>
          <a:noFill/>
          <a:ln/>
        </p:spPr>
        <p:txBody>
          <a:bodyPr wrap="square" lIns="0" tIns="0" rIns="0" bIns="0" rtlCol="0" anchor="ctr"/>
          <a:lstStyle/>
          <a:p>
            <a:pPr marL="0" indent="0">
              <a:buNone/>
            </a:pPr>
            <a:r>
              <a:rPr lang="en-US" sz="3200" b="1" dirty="0">
                <a:solidFill>
                  <a:srgbClr val="16221B"/>
                </a:solidFill>
                <a:latin typeface="Arial" pitchFamily="34" charset="0"/>
                <a:ea typeface="Arial" pitchFamily="34" charset="-122"/>
                <a:cs typeface="Arial" pitchFamily="34" charset="-120"/>
              </a:rPr>
              <a:t>4. Why LARIS</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3154680"/>
        </p:xfrm>
        <a:graphic>
          <a:graphicData uri="http://schemas.openxmlformats.org/drawingml/2006/table">
            <a:tbl>
              <a:tblPr/>
              <a:tblGrid>
                <a:gridCol w="365760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411480">
                <a:tc>
                  <a:txBody>
                    <a:bodyPr/>
                    <a:lstStyle/>
                    <a:p>
                      <a:pPr marL="0" indent="0" algn="l">
                        <a:buNone/>
                      </a:pPr>
                      <a:endParaRPr lang="en-US" sz="1400" dirty="0">
                        <a:latin typeface="Calibri" charset="0"/>
                        <a:ea typeface="Calibri" charset="0"/>
                        <a:cs typeface="Calibri" charset="0"/>
                      </a:endParaRPr>
                    </a:p>
                  </a:txBody>
                  <a:tcPr marT="0" marB="0" anchor="ctr">
                    <a:lnL w="6350" cap="flat" cmpd="sng" algn="ctr">
                      <a:solidFill>
                        <a:srgbClr val="D9E3DD"/>
                      </a:solidFill>
                      <a:prstDash val="solid"/>
                      <a:round/>
                      <a:headEnd type="none" w="med" len="med"/>
                      <a:tailEnd type="none" w="med" len="med"/>
                    </a:lnL>
                    <a:lnR w="6350" cap="flat" cmpd="sng" algn="ctr">
                      <a:solidFill>
                        <a:srgbClr val="D9E3DD"/>
                      </a:solidFill>
                      <a:prstDash val="solid"/>
                      <a:round/>
                      <a:headEnd type="none" w="med" len="med"/>
                      <a:tailEnd type="none" w="med" len="med"/>
                    </a:lnR>
                    <a:lnT w="6350" cap="flat" cmpd="sng" algn="ctr">
                      <a:solidFill>
                        <a:srgbClr val="D9E3DD"/>
                      </a:solidFill>
                      <a:prstDash val="solid"/>
                      <a:round/>
                      <a:headEnd type="none" w="med" len="med"/>
                      <a:tailEnd type="none" w="med" len="med"/>
                    </a:lnT>
                    <a:lnB w="6350" cap="flat" cmpd="sng" algn="ctr">
                      <a:solidFill>
                        <a:srgbClr val="D9E3DD"/>
                      </a:solidFill>
                      <a:prstDash val="solid"/>
                      <a:round/>
                      <a:headEnd type="none" w="med" len="med"/>
                      <a:tailEnd type="none" w="med" len="med"/>
                    </a:lnB>
                    <a:solidFill>
                      <a:srgbClr val="16221B"/>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Chat and spreadsheet</a:t>
                      </a:r>
                      <a:endParaRPr lang="en-US" sz="1300" dirty="0">
                        <a:latin typeface="Calibri" charset="0"/>
                        <a:ea typeface="Calibri" charset="0"/>
                        <a:cs typeface="Calibri" charset="0"/>
                      </a:endParaRPr>
                    </a:p>
                  </a:txBody>
                  <a:tcPr marT="0" marB="0" anchor="ctr">
                    <a:lnL w="6350" cap="flat" cmpd="sng" algn="ctr">
                      <a:solidFill>
                        <a:srgbClr val="D9E3DD"/>
                      </a:solidFill>
                      <a:prstDash val="solid"/>
                      <a:round/>
                      <a:headEnd type="none" w="med" len="med"/>
                      <a:tailEnd type="none" w="med" len="med"/>
                    </a:lnL>
                    <a:lnR w="6350" cap="flat" cmpd="sng" algn="ctr">
                      <a:solidFill>
                        <a:srgbClr val="D9E3DD"/>
                      </a:solidFill>
                      <a:prstDash val="solid"/>
                      <a:round/>
                      <a:headEnd type="none" w="med" len="med"/>
                      <a:tailEnd type="none" w="med" len="med"/>
                    </a:lnR>
                    <a:lnT w="6350" cap="flat" cmpd="sng" algn="ctr">
                      <a:solidFill>
                        <a:srgbClr val="D9E3DD"/>
                      </a:solidFill>
                      <a:prstDash val="solid"/>
                      <a:round/>
                      <a:headEnd type="none" w="med" len="med"/>
                      <a:tailEnd type="none" w="med" len="med"/>
                    </a:lnT>
                    <a:lnB w="6350" cap="flat" cmpd="sng" algn="ctr">
                      <a:solidFill>
                        <a:srgbClr val="D9E3DD"/>
                      </a:solidFill>
                      <a:prstDash val="solid"/>
                      <a:round/>
                      <a:headEnd type="none" w="med" len="med"/>
                      <a:tailEnd type="none" w="med" len="med"/>
                    </a:lnB>
                    <a:solidFill>
                      <a:srgbClr val="16221B"/>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Accounting / ERP</a:t>
                      </a:r>
                      <a:endParaRPr lang="en-US" sz="1300" dirty="0">
                        <a:latin typeface="Calibri" charset="0"/>
                        <a:ea typeface="Calibri" charset="0"/>
                        <a:cs typeface="Calibri" charset="0"/>
                      </a:endParaRPr>
                    </a:p>
                  </a:txBody>
                  <a:tcPr marT="0" marB="0" anchor="ctr">
                    <a:lnL w="6350" cap="flat" cmpd="sng" algn="ctr">
                      <a:solidFill>
                        <a:srgbClr val="D9E3DD"/>
                      </a:solidFill>
                      <a:prstDash val="solid"/>
                      <a:round/>
                      <a:headEnd type="none" w="med" len="med"/>
                      <a:tailEnd type="none" w="med" len="med"/>
                    </a:lnL>
                    <a:lnR w="6350" cap="flat" cmpd="sng" algn="ctr">
                      <a:solidFill>
                        <a:srgbClr val="D9E3DD"/>
                      </a:solidFill>
                      <a:prstDash val="solid"/>
                      <a:round/>
                      <a:headEnd type="none" w="med" len="med"/>
                      <a:tailEnd type="none" w="med" len="med"/>
                    </a:lnR>
                    <a:lnT w="6350" cap="flat" cmpd="sng" algn="ctr">
                      <a:solidFill>
                        <a:srgbClr val="D9E3DD"/>
                      </a:solidFill>
                      <a:prstDash val="solid"/>
                      <a:round/>
                      <a:headEnd type="none" w="med" len="med"/>
                      <a:tailEnd type="none" w="med" len="med"/>
                    </a:lnT>
                    <a:lnB w="6350" cap="flat" cmpd="sng" algn="ctr">
                      <a:solidFill>
                        <a:srgbClr val="D9E3DD"/>
                      </a:solidFill>
                      <a:prstDash val="solid"/>
                      <a:round/>
                      <a:headEnd type="none" w="med" len="med"/>
                      <a:tailEnd type="none" w="med" len="med"/>
                    </a:lnB>
                    <a:solidFill>
                      <a:srgbClr val="16221B"/>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LARIS</a:t>
                      </a:r>
                      <a:endParaRPr lang="en-US" sz="1300" dirty="0">
                        <a:latin typeface="Calibri" charset="0"/>
                        <a:ea typeface="Calibri" charset="0"/>
                        <a:cs typeface="Calibri" charset="0"/>
                      </a:endParaRPr>
                    </a:p>
                  </a:txBody>
                  <a:tcPr marT="0" marB="0" anchor="ctr">
                    <a:lnL w="6350" cap="flat" cmpd="sng" algn="ctr">
                      <a:solidFill>
                        <a:srgbClr val="D9E3DD"/>
                      </a:solidFill>
                      <a:prstDash val="solid"/>
                      <a:round/>
                      <a:headEnd type="none" w="med" len="med"/>
                      <a:tailEnd type="none" w="med" len="med"/>
                    </a:lnL>
                    <a:lnR w="6350" cap="flat" cmpd="sng" algn="ctr">
                      <a:solidFill>
                        <a:srgbClr val="D9E3DD"/>
                      </a:solidFill>
                      <a:prstDash val="solid"/>
                      <a:round/>
                      <a:headEnd type="none" w="med" len="med"/>
                      <a:tailEnd type="none" w="med" len="med"/>
                    </a:lnR>
                    <a:lnT w="6350" cap="flat" cmpd="sng" algn="ctr">
                      <a:solidFill>
                        <a:srgbClr val="D9E3DD"/>
                      </a:solidFill>
                      <a:prstDash val="solid"/>
                      <a:round/>
                      <a:headEnd type="none" w="med" len="med"/>
                      <a:tailEnd type="none" w="med" len="med"/>
                    </a:lnT>
                    <a:lnB w="6350" cap="flat" cmpd="sng" algn="ctr">
                      <a:solidFill>
                        <a:srgbClr val="D9E3DD"/>
                      </a:solidFill>
                      <a:prstDash val="solid"/>
                      <a:round/>
                      <a:headEnd type="none" w="med" len="med"/>
                      <a:tailEnd type="none" w="med" len="med"/>
                    </a:lnB>
                    <a:solidFill>
                      <a:srgbClr val="0F5E48"/>
                    </a:solidFill>
                  </a:tcPr>
                </a:tc>
                <a:extLst>
                  <a:ext uri="{0D108BD9-81ED-4DB2-BD59-A6C34878D82A}">
                    <a16:rowId xmlns:a16="http://schemas.microsoft.com/office/drawing/2014/main" val="10000"/>
                  </a:ext>
                </a:extLst>
              </a:tr>
              <a:tr h="457200">
                <a:tc>
                  <a:txBody>
                    <a:bodyPr/>
                    <a:lstStyle/>
                    <a:p>
                      <a:pPr marL="0" indent="0" algn="l">
                        <a:buNone/>
                      </a:pPr>
                      <a:r>
                        <a:rPr lang="en-US" sz="1400" dirty="0">
                          <a:solidFill>
                            <a:srgbClr val="5B6B63"/>
                          </a:solidFill>
                          <a:latin typeface="Calibri" pitchFamily="34" charset="0"/>
                          <a:ea typeface="Calibri" pitchFamily="34" charset="-122"/>
                          <a:cs typeface="Calibri" pitchFamily="34" charset="-120"/>
                        </a:rPr>
                        <a:t>Works inside the chats customers use</a:t>
                      </a:r>
                      <a:endParaRPr lang="en-US" sz="1400" dirty="0">
                        <a:latin typeface="Calibri" charset="0"/>
                        <a:ea typeface="Calibri" charset="0"/>
                        <a:cs typeface="Calibri" charset="0"/>
                      </a:endParaRPr>
                    </a:p>
                  </a:txBody>
                  <a:tcPr marT="0" marB="0" anchor="ctr">
                    <a:lnL w="6350" cap="flat" cmpd="sng" algn="ctr">
                      <a:solidFill>
                        <a:srgbClr val="D9E3DD"/>
                      </a:solidFill>
                      <a:prstDash val="solid"/>
                      <a:round/>
                      <a:headEnd type="none" w="med" len="med"/>
                      <a:tailEnd type="none" w="med" len="med"/>
                    </a:lnL>
                    <a:lnR w="6350" cap="flat" cmpd="sng" algn="ctr">
                      <a:solidFill>
                        <a:srgbClr val="D9E3DD"/>
                      </a:solidFill>
                      <a:prstDash val="solid"/>
                      <a:round/>
                      <a:headEnd type="none" w="med" len="med"/>
                      <a:tailEnd type="none" w="med" len="med"/>
                    </a:lnR>
                    <a:lnT w="6350" cap="flat" cmpd="sng" algn="ctr">
                      <a:solidFill>
                        <a:srgbClr val="D9E3DD"/>
                      </a:solidFill>
                      <a:prstDash val="solid"/>
                      <a:round/>
                      <a:headEnd type="none" w="med" len="med"/>
                      <a:tailEnd type="none" w="med" len="med"/>
                    </a:lnT>
                    <a:lnB w="6350" cap="flat" cmpd="sng" algn="ctr">
                      <a:solidFill>
                        <a:srgbClr val="D9E3DD"/>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0F5E48"/>
                          </a:solidFill>
                          <a:latin typeface="Arial" pitchFamily="34" charset="0"/>
                          <a:ea typeface="Arial" pitchFamily="34" charset="-122"/>
                          <a:cs typeface="Arial" pitchFamily="34" charset="-120"/>
                        </a:rPr>
                        <a:t>✓</a:t>
                      </a:r>
                      <a:endParaRPr lang="en-US" sz="1800" dirty="0">
                        <a:latin typeface="Arial" charset="0"/>
                        <a:ea typeface="Arial" charset="0"/>
                        <a:cs typeface="Arial" charset="0"/>
                      </a:endParaRPr>
                    </a:p>
                  </a:txBody>
                  <a:tcPr marT="0" marB="0" anchor="ctr">
                    <a:lnL w="6350" cap="flat" cmpd="sng" algn="ctr">
                      <a:solidFill>
                        <a:srgbClr val="D9E3DD"/>
                      </a:solidFill>
                      <a:prstDash val="solid"/>
                      <a:round/>
                      <a:headEnd type="none" w="med" len="med"/>
                      <a:tailEnd type="none" w="med" len="med"/>
                    </a:lnL>
                    <a:lnR w="6350" cap="flat" cmpd="sng" algn="ctr">
                      <a:solidFill>
                        <a:srgbClr val="D9E3DD"/>
                      </a:solidFill>
                      <a:prstDash val="solid"/>
                      <a:round/>
                      <a:headEnd type="none" w="med" len="med"/>
                      <a:tailEnd type="none" w="med" len="med"/>
                    </a:lnR>
                    <a:lnT w="6350" cap="flat" cmpd="sng" algn="ctr">
                      <a:solidFill>
                        <a:srgbClr val="D9E3DD"/>
                      </a:solidFill>
                      <a:prstDash val="solid"/>
                      <a:round/>
                      <a:headEnd type="none" w="med" len="med"/>
                      <a:tailEnd type="none" w="med" len="med"/>
                    </a:lnT>
                    <a:lnB w="6350" cap="flat" cmpd="sng" algn="ctr">
                      <a:solidFill>
                        <a:srgbClr val="D9E3DD"/>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B3261E"/>
                          </a:solidFill>
                          <a:latin typeface="Arial" pitchFamily="34" charset="0"/>
                          <a:ea typeface="Arial" pitchFamily="34" charset="-122"/>
                          <a:cs typeface="Arial" pitchFamily="34" charset="-120"/>
                        </a:rPr>
                        <a:t>✗</a:t>
                      </a:r>
                      <a:endParaRPr lang="en-US" sz="1800" dirty="0">
                        <a:latin typeface="Arial" charset="0"/>
                        <a:ea typeface="Arial" charset="0"/>
                        <a:cs typeface="Arial" charset="0"/>
                      </a:endParaRPr>
                    </a:p>
                  </a:txBody>
                  <a:tcPr marT="0" marB="0" anchor="ctr">
                    <a:lnL w="6350" cap="flat" cmpd="sng" algn="ctr">
                      <a:solidFill>
                        <a:srgbClr val="D9E3DD"/>
                      </a:solidFill>
                      <a:prstDash val="solid"/>
                      <a:round/>
                      <a:headEnd type="none" w="med" len="med"/>
                      <a:tailEnd type="none" w="med" len="med"/>
                    </a:lnL>
                    <a:lnR w="6350" cap="flat" cmpd="sng" algn="ctr">
                      <a:solidFill>
                        <a:srgbClr val="D9E3DD"/>
                      </a:solidFill>
                      <a:prstDash val="solid"/>
                      <a:round/>
                      <a:headEnd type="none" w="med" len="med"/>
                      <a:tailEnd type="none" w="med" len="med"/>
                    </a:lnR>
                    <a:lnT w="6350" cap="flat" cmpd="sng" algn="ctr">
                      <a:solidFill>
                        <a:srgbClr val="D9E3DD"/>
                      </a:solidFill>
                      <a:prstDash val="solid"/>
                      <a:round/>
                      <a:headEnd type="none" w="med" len="med"/>
                      <a:tailEnd type="none" w="med" len="med"/>
                    </a:lnT>
                    <a:lnB w="6350" cap="flat" cmpd="sng" algn="ctr">
                      <a:solidFill>
                        <a:srgbClr val="D9E3DD"/>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0F5E48"/>
                          </a:solidFill>
                          <a:latin typeface="Arial" pitchFamily="34" charset="0"/>
                          <a:ea typeface="Arial" pitchFamily="34" charset="-122"/>
                          <a:cs typeface="Arial" pitchFamily="34" charset="-120"/>
                        </a:rPr>
                        <a:t>✓</a:t>
                      </a:r>
                      <a:endParaRPr lang="en-US" sz="1800" dirty="0">
                        <a:latin typeface="Arial" charset="0"/>
                        <a:ea typeface="Arial" charset="0"/>
                        <a:cs typeface="Arial" charset="0"/>
                      </a:endParaRPr>
                    </a:p>
                  </a:txBody>
                  <a:tcPr marT="0" marB="0" anchor="ctr">
                    <a:lnL w="6350" cap="flat" cmpd="sng" algn="ctr">
                      <a:solidFill>
                        <a:srgbClr val="D9E3DD"/>
                      </a:solidFill>
                      <a:prstDash val="solid"/>
                      <a:round/>
                      <a:headEnd type="none" w="med" len="med"/>
                      <a:tailEnd type="none" w="med" len="med"/>
                    </a:lnL>
                    <a:lnR w="6350" cap="flat" cmpd="sng" algn="ctr">
                      <a:solidFill>
                        <a:srgbClr val="D9E3DD"/>
                      </a:solidFill>
                      <a:prstDash val="solid"/>
                      <a:round/>
                      <a:headEnd type="none" w="med" len="med"/>
                      <a:tailEnd type="none" w="med" len="med"/>
                    </a:lnR>
                    <a:lnT w="6350" cap="flat" cmpd="sng" algn="ctr">
                      <a:solidFill>
                        <a:srgbClr val="D9E3DD"/>
                      </a:solidFill>
                      <a:prstDash val="solid"/>
                      <a:round/>
                      <a:headEnd type="none" w="med" len="med"/>
                      <a:tailEnd type="none" w="med" len="med"/>
                    </a:lnT>
                    <a:lnB w="6350" cap="flat" cmpd="sng" algn="ctr">
                      <a:solidFill>
                        <a:srgbClr val="D9E3DD"/>
                      </a:solidFill>
                      <a:prstDash val="solid"/>
                      <a:round/>
                      <a:headEnd type="none" w="med" len="med"/>
                      <a:tailEnd type="none" w="med" len="med"/>
                    </a:lnB>
                    <a:solidFill>
                      <a:srgbClr val="DDEFD6"/>
                    </a:solidFill>
                  </a:tcPr>
                </a:tc>
                <a:extLst>
                  <a:ext uri="{0D108BD9-81ED-4DB2-BD59-A6C34878D82A}">
                    <a16:rowId xmlns:a16="http://schemas.microsoft.com/office/drawing/2014/main" val="10001"/>
                  </a:ext>
                </a:extLst>
              </a:tr>
              <a:tr h="457200">
                <a:tc>
                  <a:txBody>
                    <a:bodyPr/>
                    <a:lstStyle/>
                    <a:p>
                      <a:pPr marL="0" indent="0" algn="l">
                        <a:buNone/>
                      </a:pPr>
                      <a:r>
                        <a:rPr lang="en-US" sz="1400" dirty="0">
                          <a:solidFill>
                            <a:srgbClr val="5B6B63"/>
                          </a:solidFill>
                          <a:latin typeface="Calibri" pitchFamily="34" charset="0"/>
                          <a:ea typeface="Calibri" pitchFamily="34" charset="-122"/>
                          <a:cs typeface="Calibri" pitchFamily="34" charset="-120"/>
                        </a:rPr>
                        <a:t>Reads voice-note enquiries</a:t>
                      </a:r>
                      <a:endParaRPr lang="en-US" sz="1400" dirty="0">
                        <a:latin typeface="Calibri" charset="0"/>
                        <a:ea typeface="Calibri" charset="0"/>
                        <a:cs typeface="Calibri" charset="0"/>
                      </a:endParaRPr>
                    </a:p>
                  </a:txBody>
                  <a:tcPr marT="0" marB="0" anchor="ctr">
                    <a:lnL w="6350" cap="flat" cmpd="sng" algn="ctr">
                      <a:solidFill>
                        <a:srgbClr val="D9E3DD"/>
                      </a:solidFill>
                      <a:prstDash val="solid"/>
                      <a:round/>
                      <a:headEnd type="none" w="med" len="med"/>
                      <a:tailEnd type="none" w="med" len="med"/>
                    </a:lnL>
                    <a:lnR w="6350" cap="flat" cmpd="sng" algn="ctr">
                      <a:solidFill>
                        <a:srgbClr val="D9E3DD"/>
                      </a:solidFill>
                      <a:prstDash val="solid"/>
                      <a:round/>
                      <a:headEnd type="none" w="med" len="med"/>
                      <a:tailEnd type="none" w="med" len="med"/>
                    </a:lnR>
                    <a:lnT w="6350" cap="flat" cmpd="sng" algn="ctr">
                      <a:solidFill>
                        <a:srgbClr val="D9E3DD"/>
                      </a:solidFill>
                      <a:prstDash val="solid"/>
                      <a:round/>
                      <a:headEnd type="none" w="med" len="med"/>
                      <a:tailEnd type="none" w="med" len="med"/>
                    </a:lnT>
                    <a:lnB w="6350" cap="flat" cmpd="sng" algn="ctr">
                      <a:solidFill>
                        <a:srgbClr val="D9E3DD"/>
                      </a:solidFill>
                      <a:prstDash val="solid"/>
                      <a:round/>
                      <a:headEnd type="none" w="med" len="med"/>
                      <a:tailEnd type="none" w="med" len="med"/>
                    </a:lnB>
                    <a:solidFill>
                      <a:srgbClr val="EEF5F1"/>
                    </a:solidFill>
                  </a:tcPr>
                </a:tc>
                <a:tc>
                  <a:txBody>
                    <a:bodyPr/>
                    <a:lstStyle/>
                    <a:p>
                      <a:pPr marL="0" indent="0" algn="ctr">
                        <a:buNone/>
                      </a:pPr>
                      <a:r>
                        <a:rPr lang="en-US" sz="1800" b="1" dirty="0">
                          <a:solidFill>
                            <a:srgbClr val="B3261E"/>
                          </a:solidFill>
                          <a:latin typeface="Arial" pitchFamily="34" charset="0"/>
                          <a:ea typeface="Arial" pitchFamily="34" charset="-122"/>
                          <a:cs typeface="Arial" pitchFamily="34" charset="-120"/>
                        </a:rPr>
                        <a:t>✗</a:t>
                      </a:r>
                      <a:endParaRPr lang="en-US" sz="1800" dirty="0">
                        <a:latin typeface="Arial" charset="0"/>
                        <a:ea typeface="Arial" charset="0"/>
                        <a:cs typeface="Arial" charset="0"/>
                      </a:endParaRPr>
                    </a:p>
                  </a:txBody>
                  <a:tcPr marT="0" marB="0" anchor="ctr">
                    <a:lnL w="6350" cap="flat" cmpd="sng" algn="ctr">
                      <a:solidFill>
                        <a:srgbClr val="D9E3DD"/>
                      </a:solidFill>
                      <a:prstDash val="solid"/>
                      <a:round/>
                      <a:headEnd type="none" w="med" len="med"/>
                      <a:tailEnd type="none" w="med" len="med"/>
                    </a:lnL>
                    <a:lnR w="6350" cap="flat" cmpd="sng" algn="ctr">
                      <a:solidFill>
                        <a:srgbClr val="D9E3DD"/>
                      </a:solidFill>
                      <a:prstDash val="solid"/>
                      <a:round/>
                      <a:headEnd type="none" w="med" len="med"/>
                      <a:tailEnd type="none" w="med" len="med"/>
                    </a:lnR>
                    <a:lnT w="6350" cap="flat" cmpd="sng" algn="ctr">
                      <a:solidFill>
                        <a:srgbClr val="D9E3DD"/>
                      </a:solidFill>
                      <a:prstDash val="solid"/>
                      <a:round/>
                      <a:headEnd type="none" w="med" len="med"/>
                      <a:tailEnd type="none" w="med" len="med"/>
                    </a:lnT>
                    <a:lnB w="6350" cap="flat" cmpd="sng" algn="ctr">
                      <a:solidFill>
                        <a:srgbClr val="D9E3DD"/>
                      </a:solidFill>
                      <a:prstDash val="solid"/>
                      <a:round/>
                      <a:headEnd type="none" w="med" len="med"/>
                      <a:tailEnd type="none" w="med" len="med"/>
                    </a:lnB>
                    <a:solidFill>
                      <a:srgbClr val="EEF5F1"/>
                    </a:solidFill>
                  </a:tcPr>
                </a:tc>
                <a:tc>
                  <a:txBody>
                    <a:bodyPr/>
                    <a:lstStyle/>
                    <a:p>
                      <a:pPr marL="0" indent="0" algn="ctr">
                        <a:buNone/>
                      </a:pPr>
                      <a:r>
                        <a:rPr lang="en-US" sz="1800" b="1" dirty="0">
                          <a:solidFill>
                            <a:srgbClr val="B3261E"/>
                          </a:solidFill>
                          <a:latin typeface="Arial" pitchFamily="34" charset="0"/>
                          <a:ea typeface="Arial" pitchFamily="34" charset="-122"/>
                          <a:cs typeface="Arial" pitchFamily="34" charset="-120"/>
                        </a:rPr>
                        <a:t>✗</a:t>
                      </a:r>
                      <a:endParaRPr lang="en-US" sz="1800" dirty="0">
                        <a:latin typeface="Arial" charset="0"/>
                        <a:ea typeface="Arial" charset="0"/>
                        <a:cs typeface="Arial" charset="0"/>
                      </a:endParaRPr>
                    </a:p>
                  </a:txBody>
                  <a:tcPr marT="0" marB="0" anchor="ctr">
                    <a:lnL w="6350" cap="flat" cmpd="sng" algn="ctr">
                      <a:solidFill>
                        <a:srgbClr val="D9E3DD"/>
                      </a:solidFill>
                      <a:prstDash val="solid"/>
                      <a:round/>
                      <a:headEnd type="none" w="med" len="med"/>
                      <a:tailEnd type="none" w="med" len="med"/>
                    </a:lnL>
                    <a:lnR w="6350" cap="flat" cmpd="sng" algn="ctr">
                      <a:solidFill>
                        <a:srgbClr val="D9E3DD"/>
                      </a:solidFill>
                      <a:prstDash val="solid"/>
                      <a:round/>
                      <a:headEnd type="none" w="med" len="med"/>
                      <a:tailEnd type="none" w="med" len="med"/>
                    </a:lnR>
                    <a:lnT w="6350" cap="flat" cmpd="sng" algn="ctr">
                      <a:solidFill>
                        <a:srgbClr val="D9E3DD"/>
                      </a:solidFill>
                      <a:prstDash val="solid"/>
                      <a:round/>
                      <a:headEnd type="none" w="med" len="med"/>
                      <a:tailEnd type="none" w="med" len="med"/>
                    </a:lnT>
                    <a:lnB w="6350" cap="flat" cmpd="sng" algn="ctr">
                      <a:solidFill>
                        <a:srgbClr val="D9E3DD"/>
                      </a:solidFill>
                      <a:prstDash val="solid"/>
                      <a:round/>
                      <a:headEnd type="none" w="med" len="med"/>
                      <a:tailEnd type="none" w="med" len="med"/>
                    </a:lnB>
                    <a:solidFill>
                      <a:srgbClr val="EEF5F1"/>
                    </a:solidFill>
                  </a:tcPr>
                </a:tc>
                <a:tc>
                  <a:txBody>
                    <a:bodyPr/>
                    <a:lstStyle/>
                    <a:p>
                      <a:pPr marL="0" indent="0" algn="ctr">
                        <a:buNone/>
                      </a:pPr>
                      <a:r>
                        <a:rPr lang="en-US" sz="1800" b="1" dirty="0">
                          <a:solidFill>
                            <a:srgbClr val="0F5E48"/>
                          </a:solidFill>
                          <a:latin typeface="Arial" pitchFamily="34" charset="0"/>
                          <a:ea typeface="Arial" pitchFamily="34" charset="-122"/>
                          <a:cs typeface="Arial" pitchFamily="34" charset="-120"/>
                        </a:rPr>
                        <a:t>✓</a:t>
                      </a:r>
                      <a:endParaRPr lang="en-US" sz="1800" dirty="0">
                        <a:latin typeface="Arial" charset="0"/>
                        <a:ea typeface="Arial" charset="0"/>
                        <a:cs typeface="Arial" charset="0"/>
                      </a:endParaRPr>
                    </a:p>
                  </a:txBody>
                  <a:tcPr marT="0" marB="0" anchor="ctr">
                    <a:lnL w="6350" cap="flat" cmpd="sng" algn="ctr">
                      <a:solidFill>
                        <a:srgbClr val="D9E3DD"/>
                      </a:solidFill>
                      <a:prstDash val="solid"/>
                      <a:round/>
                      <a:headEnd type="none" w="med" len="med"/>
                      <a:tailEnd type="none" w="med" len="med"/>
                    </a:lnL>
                    <a:lnR w="6350" cap="flat" cmpd="sng" algn="ctr">
                      <a:solidFill>
                        <a:srgbClr val="D9E3DD"/>
                      </a:solidFill>
                      <a:prstDash val="solid"/>
                      <a:round/>
                      <a:headEnd type="none" w="med" len="med"/>
                      <a:tailEnd type="none" w="med" len="med"/>
                    </a:lnR>
                    <a:lnT w="6350" cap="flat" cmpd="sng" algn="ctr">
                      <a:solidFill>
                        <a:srgbClr val="D9E3DD"/>
                      </a:solidFill>
                      <a:prstDash val="solid"/>
                      <a:round/>
                      <a:headEnd type="none" w="med" len="med"/>
                      <a:tailEnd type="none" w="med" len="med"/>
                    </a:lnT>
                    <a:lnB w="6350" cap="flat" cmpd="sng" algn="ctr">
                      <a:solidFill>
                        <a:srgbClr val="D9E3DD"/>
                      </a:solidFill>
                      <a:prstDash val="solid"/>
                      <a:round/>
                      <a:headEnd type="none" w="med" len="med"/>
                      <a:tailEnd type="none" w="med" len="med"/>
                    </a:lnB>
                    <a:solidFill>
                      <a:srgbClr val="DDEFD6"/>
                    </a:solidFill>
                  </a:tcPr>
                </a:tc>
                <a:extLst>
                  <a:ext uri="{0D108BD9-81ED-4DB2-BD59-A6C34878D82A}">
                    <a16:rowId xmlns:a16="http://schemas.microsoft.com/office/drawing/2014/main" val="10002"/>
                  </a:ext>
                </a:extLst>
              </a:tr>
              <a:tr h="457200">
                <a:tc>
                  <a:txBody>
                    <a:bodyPr/>
                    <a:lstStyle/>
                    <a:p>
                      <a:pPr marL="0" indent="0" algn="l">
                        <a:buNone/>
                      </a:pPr>
                      <a:r>
                        <a:rPr lang="en-US" sz="1400" dirty="0">
                          <a:solidFill>
                            <a:srgbClr val="5B6B63"/>
                          </a:solidFill>
                          <a:latin typeface="Calibri" pitchFamily="34" charset="0"/>
                          <a:ea typeface="Calibri" pitchFamily="34" charset="-122"/>
                          <a:cs typeface="Calibri" pitchFamily="34" charset="-120"/>
                        </a:rPr>
                        <a:t>Price comes from rules, never AI</a:t>
                      </a:r>
                      <a:endParaRPr lang="en-US" sz="1400" dirty="0">
                        <a:latin typeface="Calibri" charset="0"/>
                        <a:ea typeface="Calibri" charset="0"/>
                        <a:cs typeface="Calibri" charset="0"/>
                      </a:endParaRPr>
                    </a:p>
                  </a:txBody>
                  <a:tcPr marT="0" marB="0" anchor="ctr">
                    <a:lnL w="6350" cap="flat" cmpd="sng" algn="ctr">
                      <a:solidFill>
                        <a:srgbClr val="D9E3DD"/>
                      </a:solidFill>
                      <a:prstDash val="solid"/>
                      <a:round/>
                      <a:headEnd type="none" w="med" len="med"/>
                      <a:tailEnd type="none" w="med" len="med"/>
                    </a:lnL>
                    <a:lnR w="6350" cap="flat" cmpd="sng" algn="ctr">
                      <a:solidFill>
                        <a:srgbClr val="D9E3DD"/>
                      </a:solidFill>
                      <a:prstDash val="solid"/>
                      <a:round/>
                      <a:headEnd type="none" w="med" len="med"/>
                      <a:tailEnd type="none" w="med" len="med"/>
                    </a:lnR>
                    <a:lnT w="6350" cap="flat" cmpd="sng" algn="ctr">
                      <a:solidFill>
                        <a:srgbClr val="D9E3DD"/>
                      </a:solidFill>
                      <a:prstDash val="solid"/>
                      <a:round/>
                      <a:headEnd type="none" w="med" len="med"/>
                      <a:tailEnd type="none" w="med" len="med"/>
                    </a:lnT>
                    <a:lnB w="6350" cap="flat" cmpd="sng" algn="ctr">
                      <a:solidFill>
                        <a:srgbClr val="D9E3DD"/>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B3261E"/>
                          </a:solidFill>
                          <a:latin typeface="Arial" pitchFamily="34" charset="0"/>
                          <a:ea typeface="Arial" pitchFamily="34" charset="-122"/>
                          <a:cs typeface="Arial" pitchFamily="34" charset="-120"/>
                        </a:rPr>
                        <a:t>✗</a:t>
                      </a:r>
                      <a:endParaRPr lang="en-US" sz="1800" dirty="0">
                        <a:latin typeface="Arial" charset="0"/>
                        <a:ea typeface="Arial" charset="0"/>
                        <a:cs typeface="Arial" charset="0"/>
                      </a:endParaRPr>
                    </a:p>
                  </a:txBody>
                  <a:tcPr marT="0" marB="0" anchor="ctr">
                    <a:lnL w="6350" cap="flat" cmpd="sng" algn="ctr">
                      <a:solidFill>
                        <a:srgbClr val="D9E3DD"/>
                      </a:solidFill>
                      <a:prstDash val="solid"/>
                      <a:round/>
                      <a:headEnd type="none" w="med" len="med"/>
                      <a:tailEnd type="none" w="med" len="med"/>
                    </a:lnL>
                    <a:lnR w="6350" cap="flat" cmpd="sng" algn="ctr">
                      <a:solidFill>
                        <a:srgbClr val="D9E3DD"/>
                      </a:solidFill>
                      <a:prstDash val="solid"/>
                      <a:round/>
                      <a:headEnd type="none" w="med" len="med"/>
                      <a:tailEnd type="none" w="med" len="med"/>
                    </a:lnR>
                    <a:lnT w="6350" cap="flat" cmpd="sng" algn="ctr">
                      <a:solidFill>
                        <a:srgbClr val="D9E3DD"/>
                      </a:solidFill>
                      <a:prstDash val="solid"/>
                      <a:round/>
                      <a:headEnd type="none" w="med" len="med"/>
                      <a:tailEnd type="none" w="med" len="med"/>
                    </a:lnT>
                    <a:lnB w="6350" cap="flat" cmpd="sng" algn="ctr">
                      <a:solidFill>
                        <a:srgbClr val="D9E3DD"/>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5B6B63"/>
                          </a:solidFill>
                          <a:latin typeface="Arial" pitchFamily="34" charset="0"/>
                          <a:ea typeface="Arial" pitchFamily="34" charset="-122"/>
                          <a:cs typeface="Arial" pitchFamily="34" charset="-120"/>
                        </a:rPr>
                        <a:t>~</a:t>
                      </a:r>
                      <a:endParaRPr lang="en-US" sz="1800" dirty="0">
                        <a:latin typeface="Arial" charset="0"/>
                        <a:ea typeface="Arial" charset="0"/>
                        <a:cs typeface="Arial" charset="0"/>
                      </a:endParaRPr>
                    </a:p>
                  </a:txBody>
                  <a:tcPr marT="0" marB="0" anchor="ctr">
                    <a:lnL w="6350" cap="flat" cmpd="sng" algn="ctr">
                      <a:solidFill>
                        <a:srgbClr val="D9E3DD"/>
                      </a:solidFill>
                      <a:prstDash val="solid"/>
                      <a:round/>
                      <a:headEnd type="none" w="med" len="med"/>
                      <a:tailEnd type="none" w="med" len="med"/>
                    </a:lnL>
                    <a:lnR w="6350" cap="flat" cmpd="sng" algn="ctr">
                      <a:solidFill>
                        <a:srgbClr val="D9E3DD"/>
                      </a:solidFill>
                      <a:prstDash val="solid"/>
                      <a:round/>
                      <a:headEnd type="none" w="med" len="med"/>
                      <a:tailEnd type="none" w="med" len="med"/>
                    </a:lnR>
                    <a:lnT w="6350" cap="flat" cmpd="sng" algn="ctr">
                      <a:solidFill>
                        <a:srgbClr val="D9E3DD"/>
                      </a:solidFill>
                      <a:prstDash val="solid"/>
                      <a:round/>
                      <a:headEnd type="none" w="med" len="med"/>
                      <a:tailEnd type="none" w="med" len="med"/>
                    </a:lnT>
                    <a:lnB w="6350" cap="flat" cmpd="sng" algn="ctr">
                      <a:solidFill>
                        <a:srgbClr val="D9E3DD"/>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0F5E48"/>
                          </a:solidFill>
                          <a:latin typeface="Arial" pitchFamily="34" charset="0"/>
                          <a:ea typeface="Arial" pitchFamily="34" charset="-122"/>
                          <a:cs typeface="Arial" pitchFamily="34" charset="-120"/>
                        </a:rPr>
                        <a:t>✓</a:t>
                      </a:r>
                      <a:endParaRPr lang="en-US" sz="1800" dirty="0">
                        <a:latin typeface="Arial" charset="0"/>
                        <a:ea typeface="Arial" charset="0"/>
                        <a:cs typeface="Arial" charset="0"/>
                      </a:endParaRPr>
                    </a:p>
                  </a:txBody>
                  <a:tcPr marT="0" marB="0" anchor="ctr">
                    <a:lnL w="6350" cap="flat" cmpd="sng" algn="ctr">
                      <a:solidFill>
                        <a:srgbClr val="D9E3DD"/>
                      </a:solidFill>
                      <a:prstDash val="solid"/>
                      <a:round/>
                      <a:headEnd type="none" w="med" len="med"/>
                      <a:tailEnd type="none" w="med" len="med"/>
                    </a:lnL>
                    <a:lnR w="6350" cap="flat" cmpd="sng" algn="ctr">
                      <a:solidFill>
                        <a:srgbClr val="D9E3DD"/>
                      </a:solidFill>
                      <a:prstDash val="solid"/>
                      <a:round/>
                      <a:headEnd type="none" w="med" len="med"/>
                      <a:tailEnd type="none" w="med" len="med"/>
                    </a:lnR>
                    <a:lnT w="6350" cap="flat" cmpd="sng" algn="ctr">
                      <a:solidFill>
                        <a:srgbClr val="D9E3DD"/>
                      </a:solidFill>
                      <a:prstDash val="solid"/>
                      <a:round/>
                      <a:headEnd type="none" w="med" len="med"/>
                      <a:tailEnd type="none" w="med" len="med"/>
                    </a:lnT>
                    <a:lnB w="6350" cap="flat" cmpd="sng" algn="ctr">
                      <a:solidFill>
                        <a:srgbClr val="D9E3DD"/>
                      </a:solidFill>
                      <a:prstDash val="solid"/>
                      <a:round/>
                      <a:headEnd type="none" w="med" len="med"/>
                      <a:tailEnd type="none" w="med" len="med"/>
                    </a:lnB>
                    <a:solidFill>
                      <a:srgbClr val="DDEFD6"/>
                    </a:solidFill>
                  </a:tcPr>
                </a:tc>
                <a:extLst>
                  <a:ext uri="{0D108BD9-81ED-4DB2-BD59-A6C34878D82A}">
                    <a16:rowId xmlns:a16="http://schemas.microsoft.com/office/drawing/2014/main" val="10003"/>
                  </a:ext>
                </a:extLst>
              </a:tr>
              <a:tr h="457200">
                <a:tc>
                  <a:txBody>
                    <a:bodyPr/>
                    <a:lstStyle/>
                    <a:p>
                      <a:pPr marL="0" indent="0" algn="l">
                        <a:buNone/>
                      </a:pPr>
                      <a:r>
                        <a:rPr lang="en-US" sz="1400" dirty="0">
                          <a:solidFill>
                            <a:srgbClr val="5B6B63"/>
                          </a:solidFill>
                          <a:latin typeface="Calibri" pitchFamily="34" charset="0"/>
                          <a:ea typeface="Calibri" pitchFamily="34" charset="-122"/>
                          <a:cs typeface="Calibri" pitchFamily="34" charset="-120"/>
                        </a:rPr>
                        <a:t>Owner approval and audit trail</a:t>
                      </a:r>
                      <a:endParaRPr lang="en-US" sz="1400" dirty="0">
                        <a:latin typeface="Calibri" charset="0"/>
                        <a:ea typeface="Calibri" charset="0"/>
                        <a:cs typeface="Calibri" charset="0"/>
                      </a:endParaRPr>
                    </a:p>
                  </a:txBody>
                  <a:tcPr marT="0" marB="0" anchor="ctr">
                    <a:lnL w="6350" cap="flat" cmpd="sng" algn="ctr">
                      <a:solidFill>
                        <a:srgbClr val="D9E3DD"/>
                      </a:solidFill>
                      <a:prstDash val="solid"/>
                      <a:round/>
                      <a:headEnd type="none" w="med" len="med"/>
                      <a:tailEnd type="none" w="med" len="med"/>
                    </a:lnL>
                    <a:lnR w="6350" cap="flat" cmpd="sng" algn="ctr">
                      <a:solidFill>
                        <a:srgbClr val="D9E3DD"/>
                      </a:solidFill>
                      <a:prstDash val="solid"/>
                      <a:round/>
                      <a:headEnd type="none" w="med" len="med"/>
                      <a:tailEnd type="none" w="med" len="med"/>
                    </a:lnR>
                    <a:lnT w="6350" cap="flat" cmpd="sng" algn="ctr">
                      <a:solidFill>
                        <a:srgbClr val="D9E3DD"/>
                      </a:solidFill>
                      <a:prstDash val="solid"/>
                      <a:round/>
                      <a:headEnd type="none" w="med" len="med"/>
                      <a:tailEnd type="none" w="med" len="med"/>
                    </a:lnT>
                    <a:lnB w="6350" cap="flat" cmpd="sng" algn="ctr">
                      <a:solidFill>
                        <a:srgbClr val="D9E3DD"/>
                      </a:solidFill>
                      <a:prstDash val="solid"/>
                      <a:round/>
                      <a:headEnd type="none" w="med" len="med"/>
                      <a:tailEnd type="none" w="med" len="med"/>
                    </a:lnB>
                    <a:solidFill>
                      <a:srgbClr val="EEF5F1"/>
                    </a:solidFill>
                  </a:tcPr>
                </a:tc>
                <a:tc>
                  <a:txBody>
                    <a:bodyPr/>
                    <a:lstStyle/>
                    <a:p>
                      <a:pPr marL="0" indent="0" algn="ctr">
                        <a:buNone/>
                      </a:pPr>
                      <a:r>
                        <a:rPr lang="en-US" sz="1800" b="1" dirty="0">
                          <a:solidFill>
                            <a:srgbClr val="B3261E"/>
                          </a:solidFill>
                          <a:latin typeface="Arial" pitchFamily="34" charset="0"/>
                          <a:ea typeface="Arial" pitchFamily="34" charset="-122"/>
                          <a:cs typeface="Arial" pitchFamily="34" charset="-120"/>
                        </a:rPr>
                        <a:t>✗</a:t>
                      </a:r>
                      <a:endParaRPr lang="en-US" sz="1800" dirty="0">
                        <a:latin typeface="Arial" charset="0"/>
                        <a:ea typeface="Arial" charset="0"/>
                        <a:cs typeface="Arial" charset="0"/>
                      </a:endParaRPr>
                    </a:p>
                  </a:txBody>
                  <a:tcPr marT="0" marB="0" anchor="ctr">
                    <a:lnL w="6350" cap="flat" cmpd="sng" algn="ctr">
                      <a:solidFill>
                        <a:srgbClr val="D9E3DD"/>
                      </a:solidFill>
                      <a:prstDash val="solid"/>
                      <a:round/>
                      <a:headEnd type="none" w="med" len="med"/>
                      <a:tailEnd type="none" w="med" len="med"/>
                    </a:lnL>
                    <a:lnR w="6350" cap="flat" cmpd="sng" algn="ctr">
                      <a:solidFill>
                        <a:srgbClr val="D9E3DD"/>
                      </a:solidFill>
                      <a:prstDash val="solid"/>
                      <a:round/>
                      <a:headEnd type="none" w="med" len="med"/>
                      <a:tailEnd type="none" w="med" len="med"/>
                    </a:lnR>
                    <a:lnT w="6350" cap="flat" cmpd="sng" algn="ctr">
                      <a:solidFill>
                        <a:srgbClr val="D9E3DD"/>
                      </a:solidFill>
                      <a:prstDash val="solid"/>
                      <a:round/>
                      <a:headEnd type="none" w="med" len="med"/>
                      <a:tailEnd type="none" w="med" len="med"/>
                    </a:lnT>
                    <a:lnB w="6350" cap="flat" cmpd="sng" algn="ctr">
                      <a:solidFill>
                        <a:srgbClr val="D9E3DD"/>
                      </a:solidFill>
                      <a:prstDash val="solid"/>
                      <a:round/>
                      <a:headEnd type="none" w="med" len="med"/>
                      <a:tailEnd type="none" w="med" len="med"/>
                    </a:lnB>
                    <a:solidFill>
                      <a:srgbClr val="EEF5F1"/>
                    </a:solidFill>
                  </a:tcPr>
                </a:tc>
                <a:tc>
                  <a:txBody>
                    <a:bodyPr/>
                    <a:lstStyle/>
                    <a:p>
                      <a:pPr marL="0" indent="0" algn="ctr">
                        <a:buNone/>
                      </a:pPr>
                      <a:r>
                        <a:rPr lang="en-US" sz="1800" b="1" dirty="0">
                          <a:solidFill>
                            <a:srgbClr val="0F5E48"/>
                          </a:solidFill>
                          <a:latin typeface="Arial" pitchFamily="34" charset="0"/>
                          <a:ea typeface="Arial" pitchFamily="34" charset="-122"/>
                          <a:cs typeface="Arial" pitchFamily="34" charset="-120"/>
                        </a:rPr>
                        <a:t>✓</a:t>
                      </a:r>
                      <a:endParaRPr lang="en-US" sz="1800" dirty="0">
                        <a:latin typeface="Arial" charset="0"/>
                        <a:ea typeface="Arial" charset="0"/>
                        <a:cs typeface="Arial" charset="0"/>
                      </a:endParaRPr>
                    </a:p>
                  </a:txBody>
                  <a:tcPr marT="0" marB="0" anchor="ctr">
                    <a:lnL w="6350" cap="flat" cmpd="sng" algn="ctr">
                      <a:solidFill>
                        <a:srgbClr val="D9E3DD"/>
                      </a:solidFill>
                      <a:prstDash val="solid"/>
                      <a:round/>
                      <a:headEnd type="none" w="med" len="med"/>
                      <a:tailEnd type="none" w="med" len="med"/>
                    </a:lnL>
                    <a:lnR w="6350" cap="flat" cmpd="sng" algn="ctr">
                      <a:solidFill>
                        <a:srgbClr val="D9E3DD"/>
                      </a:solidFill>
                      <a:prstDash val="solid"/>
                      <a:round/>
                      <a:headEnd type="none" w="med" len="med"/>
                      <a:tailEnd type="none" w="med" len="med"/>
                    </a:lnR>
                    <a:lnT w="6350" cap="flat" cmpd="sng" algn="ctr">
                      <a:solidFill>
                        <a:srgbClr val="D9E3DD"/>
                      </a:solidFill>
                      <a:prstDash val="solid"/>
                      <a:round/>
                      <a:headEnd type="none" w="med" len="med"/>
                      <a:tailEnd type="none" w="med" len="med"/>
                    </a:lnT>
                    <a:lnB w="6350" cap="flat" cmpd="sng" algn="ctr">
                      <a:solidFill>
                        <a:srgbClr val="D9E3DD"/>
                      </a:solidFill>
                      <a:prstDash val="solid"/>
                      <a:round/>
                      <a:headEnd type="none" w="med" len="med"/>
                      <a:tailEnd type="none" w="med" len="med"/>
                    </a:lnB>
                    <a:solidFill>
                      <a:srgbClr val="EEF5F1"/>
                    </a:solidFill>
                  </a:tcPr>
                </a:tc>
                <a:tc>
                  <a:txBody>
                    <a:bodyPr/>
                    <a:lstStyle/>
                    <a:p>
                      <a:pPr marL="0" indent="0" algn="ctr">
                        <a:buNone/>
                      </a:pPr>
                      <a:r>
                        <a:rPr lang="en-US" sz="1800" b="1" dirty="0">
                          <a:solidFill>
                            <a:srgbClr val="0F5E48"/>
                          </a:solidFill>
                          <a:latin typeface="Arial" pitchFamily="34" charset="0"/>
                          <a:ea typeface="Arial" pitchFamily="34" charset="-122"/>
                          <a:cs typeface="Arial" pitchFamily="34" charset="-120"/>
                        </a:rPr>
                        <a:t>✓</a:t>
                      </a:r>
                      <a:endParaRPr lang="en-US" sz="1800" dirty="0">
                        <a:latin typeface="Arial" charset="0"/>
                        <a:ea typeface="Arial" charset="0"/>
                        <a:cs typeface="Arial" charset="0"/>
                      </a:endParaRPr>
                    </a:p>
                  </a:txBody>
                  <a:tcPr marT="0" marB="0" anchor="ctr">
                    <a:lnL w="6350" cap="flat" cmpd="sng" algn="ctr">
                      <a:solidFill>
                        <a:srgbClr val="D9E3DD"/>
                      </a:solidFill>
                      <a:prstDash val="solid"/>
                      <a:round/>
                      <a:headEnd type="none" w="med" len="med"/>
                      <a:tailEnd type="none" w="med" len="med"/>
                    </a:lnL>
                    <a:lnR w="6350" cap="flat" cmpd="sng" algn="ctr">
                      <a:solidFill>
                        <a:srgbClr val="D9E3DD"/>
                      </a:solidFill>
                      <a:prstDash val="solid"/>
                      <a:round/>
                      <a:headEnd type="none" w="med" len="med"/>
                      <a:tailEnd type="none" w="med" len="med"/>
                    </a:lnR>
                    <a:lnT w="6350" cap="flat" cmpd="sng" algn="ctr">
                      <a:solidFill>
                        <a:srgbClr val="D9E3DD"/>
                      </a:solidFill>
                      <a:prstDash val="solid"/>
                      <a:round/>
                      <a:headEnd type="none" w="med" len="med"/>
                      <a:tailEnd type="none" w="med" len="med"/>
                    </a:lnT>
                    <a:lnB w="6350" cap="flat" cmpd="sng" algn="ctr">
                      <a:solidFill>
                        <a:srgbClr val="D9E3DD"/>
                      </a:solidFill>
                      <a:prstDash val="solid"/>
                      <a:round/>
                      <a:headEnd type="none" w="med" len="med"/>
                      <a:tailEnd type="none" w="med" len="med"/>
                    </a:lnB>
                    <a:solidFill>
                      <a:srgbClr val="DDEFD6"/>
                    </a:solidFill>
                  </a:tcPr>
                </a:tc>
                <a:extLst>
                  <a:ext uri="{0D108BD9-81ED-4DB2-BD59-A6C34878D82A}">
                    <a16:rowId xmlns:a16="http://schemas.microsoft.com/office/drawing/2014/main" val="10004"/>
                  </a:ext>
                </a:extLst>
              </a:tr>
              <a:tr h="457200">
                <a:tc>
                  <a:txBody>
                    <a:bodyPr/>
                    <a:lstStyle/>
                    <a:p>
                      <a:pPr marL="0" indent="0" algn="l">
                        <a:buNone/>
                      </a:pPr>
                      <a:r>
                        <a:rPr lang="en-US" sz="1400" dirty="0">
                          <a:solidFill>
                            <a:srgbClr val="5B6B63"/>
                          </a:solidFill>
                          <a:latin typeface="Calibri" pitchFamily="34" charset="0"/>
                          <a:ea typeface="Calibri" pitchFamily="34" charset="-122"/>
                          <a:cs typeface="Calibri" pitchFamily="34" charset="-120"/>
                        </a:rPr>
                        <a:t>Reads supplier lists and shelf photos</a:t>
                      </a:r>
                      <a:endParaRPr lang="en-US" sz="1400" dirty="0">
                        <a:latin typeface="Calibri" charset="0"/>
                        <a:ea typeface="Calibri" charset="0"/>
                        <a:cs typeface="Calibri" charset="0"/>
                      </a:endParaRPr>
                    </a:p>
                  </a:txBody>
                  <a:tcPr marT="0" marB="0" anchor="ctr">
                    <a:lnL w="6350" cap="flat" cmpd="sng" algn="ctr">
                      <a:solidFill>
                        <a:srgbClr val="D9E3DD"/>
                      </a:solidFill>
                      <a:prstDash val="solid"/>
                      <a:round/>
                      <a:headEnd type="none" w="med" len="med"/>
                      <a:tailEnd type="none" w="med" len="med"/>
                    </a:lnL>
                    <a:lnR w="6350" cap="flat" cmpd="sng" algn="ctr">
                      <a:solidFill>
                        <a:srgbClr val="D9E3DD"/>
                      </a:solidFill>
                      <a:prstDash val="solid"/>
                      <a:round/>
                      <a:headEnd type="none" w="med" len="med"/>
                      <a:tailEnd type="none" w="med" len="med"/>
                    </a:lnR>
                    <a:lnT w="6350" cap="flat" cmpd="sng" algn="ctr">
                      <a:solidFill>
                        <a:srgbClr val="D9E3DD"/>
                      </a:solidFill>
                      <a:prstDash val="solid"/>
                      <a:round/>
                      <a:headEnd type="none" w="med" len="med"/>
                      <a:tailEnd type="none" w="med" len="med"/>
                    </a:lnT>
                    <a:lnB w="6350" cap="flat" cmpd="sng" algn="ctr">
                      <a:solidFill>
                        <a:srgbClr val="D9E3DD"/>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B3261E"/>
                          </a:solidFill>
                          <a:latin typeface="Arial" pitchFamily="34" charset="0"/>
                          <a:ea typeface="Arial" pitchFamily="34" charset="-122"/>
                          <a:cs typeface="Arial" pitchFamily="34" charset="-120"/>
                        </a:rPr>
                        <a:t>✗</a:t>
                      </a:r>
                      <a:endParaRPr lang="en-US" sz="1800" dirty="0">
                        <a:latin typeface="Arial" charset="0"/>
                        <a:ea typeface="Arial" charset="0"/>
                        <a:cs typeface="Arial" charset="0"/>
                      </a:endParaRPr>
                    </a:p>
                  </a:txBody>
                  <a:tcPr marT="0" marB="0" anchor="ctr">
                    <a:lnL w="6350" cap="flat" cmpd="sng" algn="ctr">
                      <a:solidFill>
                        <a:srgbClr val="D9E3DD"/>
                      </a:solidFill>
                      <a:prstDash val="solid"/>
                      <a:round/>
                      <a:headEnd type="none" w="med" len="med"/>
                      <a:tailEnd type="none" w="med" len="med"/>
                    </a:lnL>
                    <a:lnR w="6350" cap="flat" cmpd="sng" algn="ctr">
                      <a:solidFill>
                        <a:srgbClr val="D9E3DD"/>
                      </a:solidFill>
                      <a:prstDash val="solid"/>
                      <a:round/>
                      <a:headEnd type="none" w="med" len="med"/>
                      <a:tailEnd type="none" w="med" len="med"/>
                    </a:lnR>
                    <a:lnT w="6350" cap="flat" cmpd="sng" algn="ctr">
                      <a:solidFill>
                        <a:srgbClr val="D9E3DD"/>
                      </a:solidFill>
                      <a:prstDash val="solid"/>
                      <a:round/>
                      <a:headEnd type="none" w="med" len="med"/>
                      <a:tailEnd type="none" w="med" len="med"/>
                    </a:lnT>
                    <a:lnB w="6350" cap="flat" cmpd="sng" algn="ctr">
                      <a:solidFill>
                        <a:srgbClr val="D9E3DD"/>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5B6B63"/>
                          </a:solidFill>
                          <a:latin typeface="Arial" pitchFamily="34" charset="0"/>
                          <a:ea typeface="Arial" pitchFamily="34" charset="-122"/>
                          <a:cs typeface="Arial" pitchFamily="34" charset="-120"/>
                        </a:rPr>
                        <a:t>~</a:t>
                      </a:r>
                      <a:endParaRPr lang="en-US" sz="1800" dirty="0">
                        <a:latin typeface="Arial" charset="0"/>
                        <a:ea typeface="Arial" charset="0"/>
                        <a:cs typeface="Arial" charset="0"/>
                      </a:endParaRPr>
                    </a:p>
                  </a:txBody>
                  <a:tcPr marT="0" marB="0" anchor="ctr">
                    <a:lnL w="6350" cap="flat" cmpd="sng" algn="ctr">
                      <a:solidFill>
                        <a:srgbClr val="D9E3DD"/>
                      </a:solidFill>
                      <a:prstDash val="solid"/>
                      <a:round/>
                      <a:headEnd type="none" w="med" len="med"/>
                      <a:tailEnd type="none" w="med" len="med"/>
                    </a:lnL>
                    <a:lnR w="6350" cap="flat" cmpd="sng" algn="ctr">
                      <a:solidFill>
                        <a:srgbClr val="D9E3DD"/>
                      </a:solidFill>
                      <a:prstDash val="solid"/>
                      <a:round/>
                      <a:headEnd type="none" w="med" len="med"/>
                      <a:tailEnd type="none" w="med" len="med"/>
                    </a:lnR>
                    <a:lnT w="6350" cap="flat" cmpd="sng" algn="ctr">
                      <a:solidFill>
                        <a:srgbClr val="D9E3DD"/>
                      </a:solidFill>
                      <a:prstDash val="solid"/>
                      <a:round/>
                      <a:headEnd type="none" w="med" len="med"/>
                      <a:tailEnd type="none" w="med" len="med"/>
                    </a:lnT>
                    <a:lnB w="6350" cap="flat" cmpd="sng" algn="ctr">
                      <a:solidFill>
                        <a:srgbClr val="D9E3DD"/>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0F5E48"/>
                          </a:solidFill>
                          <a:latin typeface="Arial" pitchFamily="34" charset="0"/>
                          <a:ea typeface="Arial" pitchFamily="34" charset="-122"/>
                          <a:cs typeface="Arial" pitchFamily="34" charset="-120"/>
                        </a:rPr>
                        <a:t>✓</a:t>
                      </a:r>
                      <a:endParaRPr lang="en-US" sz="1800" dirty="0">
                        <a:latin typeface="Arial" charset="0"/>
                        <a:ea typeface="Arial" charset="0"/>
                        <a:cs typeface="Arial" charset="0"/>
                      </a:endParaRPr>
                    </a:p>
                  </a:txBody>
                  <a:tcPr marT="0" marB="0" anchor="ctr">
                    <a:lnL w="6350" cap="flat" cmpd="sng" algn="ctr">
                      <a:solidFill>
                        <a:srgbClr val="D9E3DD"/>
                      </a:solidFill>
                      <a:prstDash val="solid"/>
                      <a:round/>
                      <a:headEnd type="none" w="med" len="med"/>
                      <a:tailEnd type="none" w="med" len="med"/>
                    </a:lnL>
                    <a:lnR w="6350" cap="flat" cmpd="sng" algn="ctr">
                      <a:solidFill>
                        <a:srgbClr val="D9E3DD"/>
                      </a:solidFill>
                      <a:prstDash val="solid"/>
                      <a:round/>
                      <a:headEnd type="none" w="med" len="med"/>
                      <a:tailEnd type="none" w="med" len="med"/>
                    </a:lnR>
                    <a:lnT w="6350" cap="flat" cmpd="sng" algn="ctr">
                      <a:solidFill>
                        <a:srgbClr val="D9E3DD"/>
                      </a:solidFill>
                      <a:prstDash val="solid"/>
                      <a:round/>
                      <a:headEnd type="none" w="med" len="med"/>
                      <a:tailEnd type="none" w="med" len="med"/>
                    </a:lnT>
                    <a:lnB w="6350" cap="flat" cmpd="sng" algn="ctr">
                      <a:solidFill>
                        <a:srgbClr val="D9E3DD"/>
                      </a:solidFill>
                      <a:prstDash val="solid"/>
                      <a:round/>
                      <a:headEnd type="none" w="med" len="med"/>
                      <a:tailEnd type="none" w="med" len="med"/>
                    </a:lnB>
                    <a:solidFill>
                      <a:srgbClr val="DDEFD6"/>
                    </a:solidFill>
                  </a:tcPr>
                </a:tc>
                <a:extLst>
                  <a:ext uri="{0D108BD9-81ED-4DB2-BD59-A6C34878D82A}">
                    <a16:rowId xmlns:a16="http://schemas.microsoft.com/office/drawing/2014/main" val="10005"/>
                  </a:ext>
                </a:extLst>
              </a:tr>
              <a:tr h="457200">
                <a:tc>
                  <a:txBody>
                    <a:bodyPr/>
                    <a:lstStyle/>
                    <a:p>
                      <a:pPr marL="0" indent="0" algn="l">
                        <a:buNone/>
                      </a:pPr>
                      <a:r>
                        <a:rPr lang="en-US" sz="1400" dirty="0">
                          <a:solidFill>
                            <a:srgbClr val="5B6B63"/>
                          </a:solidFill>
                          <a:latin typeface="Calibri" pitchFamily="34" charset="0"/>
                          <a:ea typeface="Calibri" pitchFamily="34" charset="-122"/>
                          <a:cs typeface="Calibri" pitchFamily="34" charset="-120"/>
                        </a:rPr>
                        <a:t>Ready without an IT team</a:t>
                      </a:r>
                      <a:endParaRPr lang="en-US" sz="1400" dirty="0">
                        <a:latin typeface="Calibri" charset="0"/>
                        <a:ea typeface="Calibri" charset="0"/>
                        <a:cs typeface="Calibri" charset="0"/>
                      </a:endParaRPr>
                    </a:p>
                  </a:txBody>
                  <a:tcPr marT="0" marB="0" anchor="ctr">
                    <a:lnL w="6350" cap="flat" cmpd="sng" algn="ctr">
                      <a:solidFill>
                        <a:srgbClr val="D9E3DD"/>
                      </a:solidFill>
                      <a:prstDash val="solid"/>
                      <a:round/>
                      <a:headEnd type="none" w="med" len="med"/>
                      <a:tailEnd type="none" w="med" len="med"/>
                    </a:lnL>
                    <a:lnR w="6350" cap="flat" cmpd="sng" algn="ctr">
                      <a:solidFill>
                        <a:srgbClr val="D9E3DD"/>
                      </a:solidFill>
                      <a:prstDash val="solid"/>
                      <a:round/>
                      <a:headEnd type="none" w="med" len="med"/>
                      <a:tailEnd type="none" w="med" len="med"/>
                    </a:lnR>
                    <a:lnT w="6350" cap="flat" cmpd="sng" algn="ctr">
                      <a:solidFill>
                        <a:srgbClr val="D9E3DD"/>
                      </a:solidFill>
                      <a:prstDash val="solid"/>
                      <a:round/>
                      <a:headEnd type="none" w="med" len="med"/>
                      <a:tailEnd type="none" w="med" len="med"/>
                    </a:lnT>
                    <a:lnB w="6350" cap="flat" cmpd="sng" algn="ctr">
                      <a:solidFill>
                        <a:srgbClr val="D9E3DD"/>
                      </a:solidFill>
                      <a:prstDash val="solid"/>
                      <a:round/>
                      <a:headEnd type="none" w="med" len="med"/>
                      <a:tailEnd type="none" w="med" len="med"/>
                    </a:lnB>
                    <a:solidFill>
                      <a:srgbClr val="EEF5F1"/>
                    </a:solidFill>
                  </a:tcPr>
                </a:tc>
                <a:tc>
                  <a:txBody>
                    <a:bodyPr/>
                    <a:lstStyle/>
                    <a:p>
                      <a:pPr marL="0" indent="0" algn="ctr">
                        <a:buNone/>
                      </a:pPr>
                      <a:r>
                        <a:rPr lang="en-US" sz="1800" b="1" dirty="0">
                          <a:solidFill>
                            <a:srgbClr val="0F5E48"/>
                          </a:solidFill>
                          <a:latin typeface="Arial" pitchFamily="34" charset="0"/>
                          <a:ea typeface="Arial" pitchFamily="34" charset="-122"/>
                          <a:cs typeface="Arial" pitchFamily="34" charset="-120"/>
                        </a:rPr>
                        <a:t>✓</a:t>
                      </a:r>
                      <a:endParaRPr lang="en-US" sz="1800" dirty="0">
                        <a:latin typeface="Arial" charset="0"/>
                        <a:ea typeface="Arial" charset="0"/>
                        <a:cs typeface="Arial" charset="0"/>
                      </a:endParaRPr>
                    </a:p>
                  </a:txBody>
                  <a:tcPr marT="0" marB="0" anchor="ctr">
                    <a:lnL w="6350" cap="flat" cmpd="sng" algn="ctr">
                      <a:solidFill>
                        <a:srgbClr val="D9E3DD"/>
                      </a:solidFill>
                      <a:prstDash val="solid"/>
                      <a:round/>
                      <a:headEnd type="none" w="med" len="med"/>
                      <a:tailEnd type="none" w="med" len="med"/>
                    </a:lnL>
                    <a:lnR w="6350" cap="flat" cmpd="sng" algn="ctr">
                      <a:solidFill>
                        <a:srgbClr val="D9E3DD"/>
                      </a:solidFill>
                      <a:prstDash val="solid"/>
                      <a:round/>
                      <a:headEnd type="none" w="med" len="med"/>
                      <a:tailEnd type="none" w="med" len="med"/>
                    </a:lnR>
                    <a:lnT w="6350" cap="flat" cmpd="sng" algn="ctr">
                      <a:solidFill>
                        <a:srgbClr val="D9E3DD"/>
                      </a:solidFill>
                      <a:prstDash val="solid"/>
                      <a:round/>
                      <a:headEnd type="none" w="med" len="med"/>
                      <a:tailEnd type="none" w="med" len="med"/>
                    </a:lnT>
                    <a:lnB w="6350" cap="flat" cmpd="sng" algn="ctr">
                      <a:solidFill>
                        <a:srgbClr val="D9E3DD"/>
                      </a:solidFill>
                      <a:prstDash val="solid"/>
                      <a:round/>
                      <a:headEnd type="none" w="med" len="med"/>
                      <a:tailEnd type="none" w="med" len="med"/>
                    </a:lnB>
                    <a:solidFill>
                      <a:srgbClr val="EEF5F1"/>
                    </a:solidFill>
                  </a:tcPr>
                </a:tc>
                <a:tc>
                  <a:txBody>
                    <a:bodyPr/>
                    <a:lstStyle/>
                    <a:p>
                      <a:pPr marL="0" indent="0" algn="ctr">
                        <a:buNone/>
                      </a:pPr>
                      <a:r>
                        <a:rPr lang="en-US" sz="1800" b="1" dirty="0">
                          <a:solidFill>
                            <a:srgbClr val="B3261E"/>
                          </a:solidFill>
                          <a:latin typeface="Arial" pitchFamily="34" charset="0"/>
                          <a:ea typeface="Arial" pitchFamily="34" charset="-122"/>
                          <a:cs typeface="Arial" pitchFamily="34" charset="-120"/>
                        </a:rPr>
                        <a:t>✗</a:t>
                      </a:r>
                      <a:endParaRPr lang="en-US" sz="1800" dirty="0">
                        <a:latin typeface="Arial" charset="0"/>
                        <a:ea typeface="Arial" charset="0"/>
                        <a:cs typeface="Arial" charset="0"/>
                      </a:endParaRPr>
                    </a:p>
                  </a:txBody>
                  <a:tcPr marT="0" marB="0" anchor="ctr">
                    <a:lnL w="6350" cap="flat" cmpd="sng" algn="ctr">
                      <a:solidFill>
                        <a:srgbClr val="D9E3DD"/>
                      </a:solidFill>
                      <a:prstDash val="solid"/>
                      <a:round/>
                      <a:headEnd type="none" w="med" len="med"/>
                      <a:tailEnd type="none" w="med" len="med"/>
                    </a:lnL>
                    <a:lnR w="6350" cap="flat" cmpd="sng" algn="ctr">
                      <a:solidFill>
                        <a:srgbClr val="D9E3DD"/>
                      </a:solidFill>
                      <a:prstDash val="solid"/>
                      <a:round/>
                      <a:headEnd type="none" w="med" len="med"/>
                      <a:tailEnd type="none" w="med" len="med"/>
                    </a:lnR>
                    <a:lnT w="6350" cap="flat" cmpd="sng" algn="ctr">
                      <a:solidFill>
                        <a:srgbClr val="D9E3DD"/>
                      </a:solidFill>
                      <a:prstDash val="solid"/>
                      <a:round/>
                      <a:headEnd type="none" w="med" len="med"/>
                      <a:tailEnd type="none" w="med" len="med"/>
                    </a:lnT>
                    <a:lnB w="6350" cap="flat" cmpd="sng" algn="ctr">
                      <a:solidFill>
                        <a:srgbClr val="D9E3DD"/>
                      </a:solidFill>
                      <a:prstDash val="solid"/>
                      <a:round/>
                      <a:headEnd type="none" w="med" len="med"/>
                      <a:tailEnd type="none" w="med" len="med"/>
                    </a:lnB>
                    <a:solidFill>
                      <a:srgbClr val="EEF5F1"/>
                    </a:solidFill>
                  </a:tcPr>
                </a:tc>
                <a:tc>
                  <a:txBody>
                    <a:bodyPr/>
                    <a:lstStyle/>
                    <a:p>
                      <a:pPr marL="0" indent="0" algn="ctr">
                        <a:buNone/>
                      </a:pPr>
                      <a:r>
                        <a:rPr lang="en-US" sz="1800" b="1" dirty="0">
                          <a:solidFill>
                            <a:srgbClr val="0F5E48"/>
                          </a:solidFill>
                          <a:latin typeface="Arial" pitchFamily="34" charset="0"/>
                          <a:ea typeface="Arial" pitchFamily="34" charset="-122"/>
                          <a:cs typeface="Arial" pitchFamily="34" charset="-120"/>
                        </a:rPr>
                        <a:t>✓</a:t>
                      </a:r>
                      <a:endParaRPr lang="en-US" sz="1800" dirty="0">
                        <a:latin typeface="Arial" charset="0"/>
                        <a:ea typeface="Arial" charset="0"/>
                        <a:cs typeface="Arial" charset="0"/>
                      </a:endParaRPr>
                    </a:p>
                  </a:txBody>
                  <a:tcPr marT="0" marB="0" anchor="ctr">
                    <a:lnL w="6350" cap="flat" cmpd="sng" algn="ctr">
                      <a:solidFill>
                        <a:srgbClr val="D9E3DD"/>
                      </a:solidFill>
                      <a:prstDash val="solid"/>
                      <a:round/>
                      <a:headEnd type="none" w="med" len="med"/>
                      <a:tailEnd type="none" w="med" len="med"/>
                    </a:lnL>
                    <a:lnR w="6350" cap="flat" cmpd="sng" algn="ctr">
                      <a:solidFill>
                        <a:srgbClr val="D9E3DD"/>
                      </a:solidFill>
                      <a:prstDash val="solid"/>
                      <a:round/>
                      <a:headEnd type="none" w="med" len="med"/>
                      <a:tailEnd type="none" w="med" len="med"/>
                    </a:lnR>
                    <a:lnT w="6350" cap="flat" cmpd="sng" algn="ctr">
                      <a:solidFill>
                        <a:srgbClr val="D9E3DD"/>
                      </a:solidFill>
                      <a:prstDash val="solid"/>
                      <a:round/>
                      <a:headEnd type="none" w="med" len="med"/>
                      <a:tailEnd type="none" w="med" len="med"/>
                    </a:lnT>
                    <a:lnB w="6350" cap="flat" cmpd="sng" algn="ctr">
                      <a:solidFill>
                        <a:srgbClr val="D9E3DD"/>
                      </a:solidFill>
                      <a:prstDash val="solid"/>
                      <a:round/>
                      <a:headEnd type="none" w="med" len="med"/>
                      <a:tailEnd type="none" w="med" len="med"/>
                    </a:lnB>
                    <a:solidFill>
                      <a:srgbClr val="DDEFD6"/>
                    </a:solidFill>
                  </a:tcPr>
                </a:tc>
                <a:extLst>
                  <a:ext uri="{0D108BD9-81ED-4DB2-BD59-A6C34878D82A}">
                    <a16:rowId xmlns:a16="http://schemas.microsoft.com/office/drawing/2014/main" val="10006"/>
                  </a:ext>
                </a:extLst>
              </a:tr>
            </a:tbl>
          </a:graphicData>
        </a:graphic>
      </p:graphicFrame>
      <p:sp>
        <p:nvSpPr>
          <p:cNvPr id="4" name="Text 1"/>
          <p:cNvSpPr txBox="1"/>
          <p:nvPr/>
        </p:nvSpPr>
        <p:spPr>
          <a:xfrm>
            <a:off x="457200" y="4572000"/>
            <a:ext cx="7315200" cy="228600"/>
          </a:xfrm>
          <a:prstGeom prst="rect">
            <a:avLst/>
          </a:prstGeom>
          <a:noFill/>
          <a:ln/>
        </p:spPr>
        <p:txBody>
          <a:bodyPr wrap="square" lIns="0" tIns="0" rIns="0" bIns="0" rtlCol="0" anchor="t"/>
          <a:lstStyle/>
          <a:p>
            <a:pPr marL="0" indent="0">
              <a:buNone/>
            </a:pPr>
            <a:r>
              <a:rPr lang="en-US" sz="1000" dirty="0">
                <a:solidFill>
                  <a:srgbClr val="5B6B63"/>
                </a:solidFill>
                <a:latin typeface="Calibri" pitchFamily="34" charset="0"/>
                <a:ea typeface="Calibri" pitchFamily="34" charset="-122"/>
                <a:cs typeface="Calibri" pitchFamily="34" charset="-120"/>
              </a:rPr>
              <a:t>✓ yes     ~ partly     ✗ no.   A comparison of tool categories, not named products.</a:t>
            </a:r>
            <a:endParaRPr lang="en-US" sz="10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63"/>
                </a:solidFill>
                <a:latin typeface="Arial"/>
                <a:ea typeface="Arial"/>
                <a:cs typeface="Aria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28600"/>
            <a:ext cx="6583680" cy="731520"/>
          </a:xfrm>
          <a:prstGeom prst="rect">
            <a:avLst/>
          </a:prstGeom>
          <a:noFill/>
          <a:ln/>
        </p:spPr>
        <p:txBody>
          <a:bodyPr wrap="square" lIns="0" tIns="0" rIns="0" bIns="0" rtlCol="0" anchor="ctr"/>
          <a:lstStyle/>
          <a:p>
            <a:pPr marL="0" indent="0">
              <a:buNone/>
            </a:pPr>
            <a:r>
              <a:rPr lang="en-US" sz="3200" b="1" dirty="0">
                <a:solidFill>
                  <a:srgbClr val="16221B"/>
                </a:solidFill>
                <a:latin typeface="Arial" pitchFamily="34" charset="0"/>
                <a:ea typeface="Arial" pitchFamily="34" charset="-122"/>
                <a:cs typeface="Arial" pitchFamily="34" charset="-120"/>
              </a:rPr>
              <a:t>5. Impact</a:t>
            </a:r>
            <a:endParaRPr lang="en-US" sz="3200" dirty="0"/>
          </a:p>
        </p:txBody>
      </p:sp>
      <p:sp>
        <p:nvSpPr>
          <p:cNvPr id="3" name="Shape 1"/>
          <p:cNvSpPr/>
          <p:nvPr/>
        </p:nvSpPr>
        <p:spPr>
          <a:xfrm>
            <a:off x="457200" y="1097280"/>
            <a:ext cx="2103120" cy="2788920"/>
          </a:xfrm>
          <a:prstGeom prst="roundRect">
            <a:avLst>
              <a:gd name="adj" fmla="val 3478"/>
            </a:avLst>
          </a:prstGeom>
          <a:solidFill>
            <a:srgbClr val="0F5E48"/>
          </a:solidFill>
          <a:ln w="12700">
            <a:solidFill>
              <a:srgbClr val="0F5E48"/>
            </a:solidFill>
            <a:prstDash val="solid"/>
          </a:ln>
        </p:spPr>
        <p:txBody>
          <a:bodyPr/>
          <a:p/>
        </p:txBody>
      </p:sp>
      <p:sp>
        <p:nvSpPr>
          <p:cNvPr id="4" name="Text 2"/>
          <p:cNvSpPr txBox="1"/>
          <p:nvPr/>
        </p:nvSpPr>
        <p:spPr>
          <a:xfrm>
            <a:off x="640080" y="1234440"/>
            <a:ext cx="1737360" cy="274320"/>
          </a:xfrm>
          <a:prstGeom prst="rect">
            <a:avLst/>
          </a:prstGeom>
          <a:noFill/>
          <a:ln/>
        </p:spPr>
        <p:txBody>
          <a:bodyPr wrap="square" lIns="0" tIns="0" rIns="0" bIns="0" rtlCol="0" anchor="t"/>
          <a:lstStyle/>
          <a:p>
            <a:pPr marL="0" indent="0">
              <a:buNone/>
            </a:pPr>
            <a:r>
              <a:rPr lang="en-US" sz="1400" b="1" dirty="0">
                <a:solidFill>
                  <a:srgbClr val="F2AC2E"/>
                </a:solidFill>
                <a:latin typeface="Calibri" pitchFamily="34" charset="0"/>
                <a:ea typeface="Calibri" pitchFamily="34" charset="-122"/>
                <a:cs typeface="Calibri" pitchFamily="34" charset="-120"/>
              </a:rPr>
              <a:t>SDG</a:t>
            </a:r>
            <a:endParaRPr lang="en-US" sz="1400" dirty="0"/>
          </a:p>
        </p:txBody>
      </p:sp>
      <p:sp>
        <p:nvSpPr>
          <p:cNvPr id="5" name="Text 3"/>
          <p:cNvSpPr txBox="1"/>
          <p:nvPr/>
        </p:nvSpPr>
        <p:spPr>
          <a:xfrm>
            <a:off x="640080" y="1463040"/>
            <a:ext cx="1737360" cy="1005840"/>
          </a:xfrm>
          <a:prstGeom prst="rect">
            <a:avLst/>
          </a:prstGeom>
          <a:noFill/>
          <a:ln/>
        </p:spPr>
        <p:txBody>
          <a:bodyPr wrap="square" lIns="0" tIns="0" rIns="0" bIns="0" rtlCol="0" anchor="t"/>
          <a:lstStyle/>
          <a:p>
            <a:pPr marL="0" indent="0">
              <a:buNone/>
            </a:pPr>
            <a:r>
              <a:rPr lang="en-US" sz="7200" b="1" dirty="0">
                <a:solidFill>
                  <a:srgbClr val="FFFFFF"/>
                </a:solidFill>
                <a:latin typeface="Arial" pitchFamily="34" charset="0"/>
                <a:ea typeface="Arial" pitchFamily="34" charset="-122"/>
                <a:cs typeface="Arial" pitchFamily="34" charset="-120"/>
              </a:rPr>
              <a:t>8</a:t>
            </a:r>
            <a:endParaRPr lang="en-US" sz="7200" dirty="0"/>
          </a:p>
        </p:txBody>
      </p:sp>
      <p:sp>
        <p:nvSpPr>
          <p:cNvPr id="6" name="Text 4"/>
          <p:cNvSpPr txBox="1"/>
          <p:nvPr/>
        </p:nvSpPr>
        <p:spPr>
          <a:xfrm>
            <a:off x="640080" y="2606040"/>
            <a:ext cx="1783080" cy="1188720"/>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Target 8.3: support growth of micro, small and medium enterprises</a:t>
            </a:r>
            <a:endParaRPr lang="en-US" sz="1300" dirty="0"/>
          </a:p>
        </p:txBody>
      </p:sp>
      <p:sp>
        <p:nvSpPr>
          <p:cNvPr id="7" name="Shape 5"/>
          <p:cNvSpPr/>
          <p:nvPr/>
        </p:nvSpPr>
        <p:spPr>
          <a:xfrm>
            <a:off x="2743200" y="1097280"/>
            <a:ext cx="5943600" cy="868680"/>
          </a:xfrm>
          <a:prstGeom prst="roundRect">
            <a:avLst>
              <a:gd name="adj" fmla="val 8421"/>
            </a:avLst>
          </a:prstGeom>
          <a:solidFill>
            <a:srgbClr val="EEF5F1"/>
          </a:solidFill>
          <a:ln w="12700">
            <a:solidFill>
              <a:srgbClr val="EEF5F1"/>
            </a:solidFill>
            <a:prstDash val="solid"/>
          </a:ln>
        </p:spPr>
        <p:txBody>
          <a:bodyPr/>
          <a:p/>
        </p:txBody>
      </p:sp>
      <p:sp>
        <p:nvSpPr>
          <p:cNvPr id="8" name="Text 6"/>
          <p:cNvSpPr txBox="1"/>
          <p:nvPr/>
        </p:nvSpPr>
        <p:spPr>
          <a:xfrm>
            <a:off x="2926080" y="1207008"/>
            <a:ext cx="3840480" cy="320040"/>
          </a:xfrm>
          <a:prstGeom prst="rect">
            <a:avLst/>
          </a:prstGeom>
          <a:noFill/>
          <a:ln/>
        </p:spPr>
        <p:txBody>
          <a:bodyPr wrap="square" lIns="0" tIns="0" rIns="0" bIns="0" rtlCol="0" anchor="t"/>
          <a:lstStyle/>
          <a:p>
            <a:pPr marL="0" indent="0">
              <a:buNone/>
            </a:pPr>
            <a:r>
              <a:rPr lang="en-US" sz="1400" b="1" dirty="0">
                <a:solidFill>
                  <a:srgbClr val="16221B"/>
                </a:solidFill>
                <a:latin typeface="Arial" pitchFamily="34" charset="0"/>
                <a:ea typeface="Arial" pitchFamily="34" charset="-122"/>
                <a:cs typeface="Arial" pitchFamily="34" charset="-120"/>
              </a:rPr>
              <a:t>Minutes from enquiry to sent quote</a:t>
            </a:r>
            <a:endParaRPr lang="en-US" sz="1400" dirty="0"/>
          </a:p>
        </p:txBody>
      </p:sp>
      <p:sp>
        <p:nvSpPr>
          <p:cNvPr id="9" name="Text 7"/>
          <p:cNvSpPr txBox="1"/>
          <p:nvPr/>
        </p:nvSpPr>
        <p:spPr>
          <a:xfrm>
            <a:off x="2926080" y="1572768"/>
            <a:ext cx="3840480" cy="274320"/>
          </a:xfrm>
          <a:prstGeom prst="rect">
            <a:avLst/>
          </a:prstGeom>
          <a:noFill/>
          <a:ln/>
        </p:spPr>
        <p:txBody>
          <a:bodyPr wrap="square" lIns="0" tIns="0" rIns="0" bIns="0" rtlCol="0" anchor="t"/>
          <a:lstStyle/>
          <a:p>
            <a:pPr marL="0" indent="0">
              <a:buNone/>
            </a:pPr>
            <a:r>
              <a:rPr lang="en-US" sz="1200" dirty="0">
                <a:solidFill>
                  <a:srgbClr val="5B6B63"/>
                </a:solidFill>
                <a:latin typeface="Calibri" pitchFamily="34" charset="0"/>
                <a:ea typeface="Calibri" pitchFamily="34" charset="-122"/>
                <a:cs typeface="Calibri" pitchFamily="34" charset="-120"/>
              </a:rPr>
              <a:t>Baseline: owner timing sessions in progress</a:t>
            </a:r>
            <a:endParaRPr lang="en-US" sz="1200" dirty="0"/>
          </a:p>
        </p:txBody>
      </p:sp>
      <p:sp>
        <p:nvSpPr>
          <p:cNvPr id="10" name="Text 8"/>
          <p:cNvSpPr txBox="1"/>
          <p:nvPr/>
        </p:nvSpPr>
        <p:spPr>
          <a:xfrm>
            <a:off x="6949440" y="1188720"/>
            <a:ext cx="1645920" cy="201168"/>
          </a:xfrm>
          <a:prstGeom prst="rect">
            <a:avLst/>
          </a:prstGeom>
          <a:noFill/>
          <a:ln/>
        </p:spPr>
        <p:txBody>
          <a:bodyPr wrap="square" lIns="0" tIns="0" rIns="0" bIns="0" rtlCol="0" anchor="t"/>
          <a:lstStyle/>
          <a:p>
            <a:pPr marL="0" indent="0" algn="r">
              <a:buNone/>
            </a:pPr>
            <a:r>
              <a:rPr lang="en-US" sz="1000" b="1" dirty="0">
                <a:solidFill>
                  <a:srgbClr val="5B6B63"/>
                </a:solidFill>
                <a:latin typeface="Calibri" pitchFamily="34" charset="0"/>
                <a:ea typeface="Calibri" pitchFamily="34" charset="-122"/>
                <a:cs typeface="Calibri" pitchFamily="34" charset="-120"/>
              </a:rPr>
              <a:t>PHASE 2 TARGET</a:t>
            </a:r>
            <a:endParaRPr lang="en-US" sz="1000" dirty="0"/>
          </a:p>
        </p:txBody>
      </p:sp>
      <p:sp>
        <p:nvSpPr>
          <p:cNvPr id="11" name="Text 9"/>
          <p:cNvSpPr txBox="1"/>
          <p:nvPr/>
        </p:nvSpPr>
        <p:spPr>
          <a:xfrm>
            <a:off x="6949440" y="1371600"/>
            <a:ext cx="1645920" cy="502920"/>
          </a:xfrm>
          <a:prstGeom prst="rect">
            <a:avLst/>
          </a:prstGeom>
          <a:noFill/>
          <a:ln/>
        </p:spPr>
        <p:txBody>
          <a:bodyPr wrap="square" lIns="0" tIns="0" rIns="0" bIns="0" rtlCol="0" anchor="t"/>
          <a:lstStyle/>
          <a:p>
            <a:pPr marL="0" indent="0" algn="r">
              <a:buNone/>
            </a:pPr>
            <a:r>
              <a:rPr lang="en-US" sz="2800" b="1" dirty="0">
                <a:solidFill>
                  <a:srgbClr val="0F5E48"/>
                </a:solidFill>
                <a:latin typeface="Arial" pitchFamily="34" charset="0"/>
                <a:ea typeface="Arial" pitchFamily="34" charset="-122"/>
                <a:cs typeface="Arial" pitchFamily="34" charset="-120"/>
              </a:rPr>
              <a:t>-50%</a:t>
            </a:r>
            <a:endParaRPr lang="en-US" sz="2800" dirty="0"/>
          </a:p>
        </p:txBody>
      </p:sp>
      <p:sp>
        <p:nvSpPr>
          <p:cNvPr id="12" name="Shape 10"/>
          <p:cNvSpPr/>
          <p:nvPr/>
        </p:nvSpPr>
        <p:spPr>
          <a:xfrm>
            <a:off x="2743200" y="2057400"/>
            <a:ext cx="5943600" cy="868680"/>
          </a:xfrm>
          <a:prstGeom prst="roundRect">
            <a:avLst>
              <a:gd name="adj" fmla="val 8421"/>
            </a:avLst>
          </a:prstGeom>
          <a:solidFill>
            <a:srgbClr val="EEF5F1"/>
          </a:solidFill>
          <a:ln w="12700">
            <a:solidFill>
              <a:srgbClr val="EEF5F1"/>
            </a:solidFill>
            <a:prstDash val="solid"/>
          </a:ln>
        </p:spPr>
        <p:txBody>
          <a:bodyPr/>
          <a:p/>
        </p:txBody>
      </p:sp>
      <p:sp>
        <p:nvSpPr>
          <p:cNvPr id="13" name="Text 11"/>
          <p:cNvSpPr txBox="1"/>
          <p:nvPr/>
        </p:nvSpPr>
        <p:spPr>
          <a:xfrm>
            <a:off x="2926080" y="2167128"/>
            <a:ext cx="3840480" cy="320040"/>
          </a:xfrm>
          <a:prstGeom prst="rect">
            <a:avLst/>
          </a:prstGeom>
          <a:noFill/>
          <a:ln/>
        </p:spPr>
        <p:txBody>
          <a:bodyPr wrap="square" lIns="0" tIns="0" rIns="0" bIns="0" rtlCol="0" anchor="t"/>
          <a:lstStyle/>
          <a:p>
            <a:pPr marL="0" indent="0">
              <a:buNone/>
            </a:pPr>
            <a:r>
              <a:rPr lang="en-US" sz="1400" b="1" dirty="0">
                <a:solidFill>
                  <a:srgbClr val="16221B"/>
                </a:solidFill>
                <a:latin typeface="Arial" pitchFamily="34" charset="0"/>
                <a:ea typeface="Arial" pitchFamily="34" charset="-122"/>
                <a:cs typeface="Arial" pitchFamily="34" charset="-120"/>
              </a:rPr>
              <a:t>Enquiries answered within 1 hour</a:t>
            </a:r>
            <a:endParaRPr lang="en-US" sz="1400" dirty="0"/>
          </a:p>
        </p:txBody>
      </p:sp>
      <p:sp>
        <p:nvSpPr>
          <p:cNvPr id="14" name="Text 12"/>
          <p:cNvSpPr txBox="1"/>
          <p:nvPr/>
        </p:nvSpPr>
        <p:spPr>
          <a:xfrm>
            <a:off x="2926080" y="2532888"/>
            <a:ext cx="3840480" cy="274320"/>
          </a:xfrm>
          <a:prstGeom prst="rect">
            <a:avLst/>
          </a:prstGeom>
          <a:noFill/>
          <a:ln/>
        </p:spPr>
        <p:txBody>
          <a:bodyPr wrap="square" lIns="0" tIns="0" rIns="0" bIns="0" rtlCol="0" anchor="t"/>
          <a:lstStyle/>
          <a:p>
            <a:pPr marL="0" indent="0">
              <a:buNone/>
            </a:pPr>
            <a:r>
              <a:rPr lang="en-US" sz="1200" dirty="0">
                <a:solidFill>
                  <a:srgbClr val="5B6B63"/>
                </a:solidFill>
                <a:latin typeface="Calibri" pitchFamily="34" charset="0"/>
                <a:ea typeface="Calibri" pitchFamily="34" charset="-122"/>
                <a:cs typeface="Calibri" pitchFamily="34" charset="-120"/>
              </a:rPr>
              <a:t>Baseline: being measured</a:t>
            </a:r>
            <a:endParaRPr lang="en-US" sz="1200" dirty="0"/>
          </a:p>
        </p:txBody>
      </p:sp>
      <p:sp>
        <p:nvSpPr>
          <p:cNvPr id="15" name="Text 13"/>
          <p:cNvSpPr txBox="1"/>
          <p:nvPr/>
        </p:nvSpPr>
        <p:spPr>
          <a:xfrm>
            <a:off x="6949440" y="2148840"/>
            <a:ext cx="1645920" cy="201168"/>
          </a:xfrm>
          <a:prstGeom prst="rect">
            <a:avLst/>
          </a:prstGeom>
          <a:noFill/>
          <a:ln/>
        </p:spPr>
        <p:txBody>
          <a:bodyPr wrap="square" lIns="0" tIns="0" rIns="0" bIns="0" rtlCol="0" anchor="t"/>
          <a:lstStyle/>
          <a:p>
            <a:pPr marL="0" indent="0" algn="r">
              <a:buNone/>
            </a:pPr>
            <a:r>
              <a:rPr lang="en-US" sz="1000" b="1" dirty="0">
                <a:solidFill>
                  <a:srgbClr val="5B6B63"/>
                </a:solidFill>
                <a:latin typeface="Calibri" pitchFamily="34" charset="0"/>
                <a:ea typeface="Calibri" pitchFamily="34" charset="-122"/>
                <a:cs typeface="Calibri" pitchFamily="34" charset="-120"/>
              </a:rPr>
              <a:t>PHASE 2 TARGET</a:t>
            </a:r>
            <a:endParaRPr lang="en-US" sz="1000" dirty="0"/>
          </a:p>
        </p:txBody>
      </p:sp>
      <p:sp>
        <p:nvSpPr>
          <p:cNvPr id="16" name="Text 14"/>
          <p:cNvSpPr txBox="1"/>
          <p:nvPr/>
        </p:nvSpPr>
        <p:spPr>
          <a:xfrm>
            <a:off x="6949440" y="2331720"/>
            <a:ext cx="1645920" cy="502920"/>
          </a:xfrm>
          <a:prstGeom prst="rect">
            <a:avLst/>
          </a:prstGeom>
          <a:noFill/>
          <a:ln/>
        </p:spPr>
        <p:txBody>
          <a:bodyPr wrap="square" lIns="0" tIns="0" rIns="0" bIns="0" rtlCol="0" anchor="t"/>
          <a:lstStyle/>
          <a:p>
            <a:pPr marL="0" indent="0" algn="r">
              <a:buNone/>
            </a:pPr>
            <a:r>
              <a:rPr lang="en-US" sz="2800" b="1" dirty="0">
                <a:solidFill>
                  <a:srgbClr val="0F5E48"/>
                </a:solidFill>
                <a:latin typeface="Arial" pitchFamily="34" charset="0"/>
                <a:ea typeface="Arial" pitchFamily="34" charset="-122"/>
                <a:cs typeface="Arial" pitchFamily="34" charset="-120"/>
              </a:rPr>
              <a:t>90%</a:t>
            </a:r>
            <a:endParaRPr lang="en-US" sz="2800" dirty="0"/>
          </a:p>
        </p:txBody>
      </p:sp>
      <p:sp>
        <p:nvSpPr>
          <p:cNvPr id="17" name="Shape 15"/>
          <p:cNvSpPr/>
          <p:nvPr/>
        </p:nvSpPr>
        <p:spPr>
          <a:xfrm>
            <a:off x="2743200" y="3017520"/>
            <a:ext cx="5943600" cy="868680"/>
          </a:xfrm>
          <a:prstGeom prst="roundRect">
            <a:avLst>
              <a:gd name="adj" fmla="val 8421"/>
            </a:avLst>
          </a:prstGeom>
          <a:solidFill>
            <a:srgbClr val="EEF5F1"/>
          </a:solidFill>
          <a:ln w="12700">
            <a:solidFill>
              <a:srgbClr val="EEF5F1"/>
            </a:solidFill>
            <a:prstDash val="solid"/>
          </a:ln>
        </p:spPr>
        <p:txBody>
          <a:bodyPr/>
          <a:p/>
        </p:txBody>
      </p:sp>
      <p:sp>
        <p:nvSpPr>
          <p:cNvPr id="18" name="Text 16"/>
          <p:cNvSpPr txBox="1"/>
          <p:nvPr/>
        </p:nvSpPr>
        <p:spPr>
          <a:xfrm>
            <a:off x="2926080" y="3127248"/>
            <a:ext cx="3840480" cy="320040"/>
          </a:xfrm>
          <a:prstGeom prst="rect">
            <a:avLst/>
          </a:prstGeom>
          <a:noFill/>
          <a:ln/>
        </p:spPr>
        <p:txBody>
          <a:bodyPr wrap="square" lIns="0" tIns="0" rIns="0" bIns="0" rtlCol="0" anchor="t"/>
          <a:lstStyle/>
          <a:p>
            <a:pPr marL="0" indent="0">
              <a:buNone/>
            </a:pPr>
            <a:r>
              <a:rPr lang="en-US" sz="1400" b="1" dirty="0">
                <a:solidFill>
                  <a:srgbClr val="16221B"/>
                </a:solidFill>
                <a:latin typeface="Arial" pitchFamily="34" charset="0"/>
                <a:ea typeface="Arial" pitchFamily="34" charset="-122"/>
                <a:cs typeface="Arial" pitchFamily="34" charset="-120"/>
              </a:rPr>
              <a:t>Sent quotes on a stale cost with no warning</a:t>
            </a:r>
            <a:endParaRPr lang="en-US" sz="1400" dirty="0"/>
          </a:p>
        </p:txBody>
      </p:sp>
      <p:sp>
        <p:nvSpPr>
          <p:cNvPr id="19" name="Text 17"/>
          <p:cNvSpPr txBox="1"/>
          <p:nvPr/>
        </p:nvSpPr>
        <p:spPr>
          <a:xfrm>
            <a:off x="2926080" y="3493008"/>
            <a:ext cx="3840480" cy="274320"/>
          </a:xfrm>
          <a:prstGeom prst="rect">
            <a:avLst/>
          </a:prstGeom>
          <a:noFill/>
          <a:ln/>
        </p:spPr>
        <p:txBody>
          <a:bodyPr wrap="square" lIns="0" tIns="0" rIns="0" bIns="0" rtlCol="0" anchor="t"/>
          <a:lstStyle/>
          <a:p>
            <a:pPr marL="0" indent="0">
              <a:buNone/>
            </a:pPr>
            <a:r>
              <a:rPr lang="en-US" sz="1200" dirty="0">
                <a:solidFill>
                  <a:srgbClr val="5B6B63"/>
                </a:solidFill>
                <a:latin typeface="Calibri" pitchFamily="34" charset="0"/>
                <a:ea typeface="Calibri" pitchFamily="34" charset="-122"/>
                <a:cs typeface="Calibri" pitchFamily="34" charset="-120"/>
              </a:rPr>
              <a:t>Today: nothing flags a moved price</a:t>
            </a:r>
            <a:endParaRPr lang="en-US" sz="1200" dirty="0"/>
          </a:p>
        </p:txBody>
      </p:sp>
      <p:sp>
        <p:nvSpPr>
          <p:cNvPr id="20" name="Text 18"/>
          <p:cNvSpPr txBox="1"/>
          <p:nvPr/>
        </p:nvSpPr>
        <p:spPr>
          <a:xfrm>
            <a:off x="6949440" y="3108960"/>
            <a:ext cx="1645920" cy="201168"/>
          </a:xfrm>
          <a:prstGeom prst="rect">
            <a:avLst/>
          </a:prstGeom>
          <a:noFill/>
          <a:ln/>
        </p:spPr>
        <p:txBody>
          <a:bodyPr wrap="square" lIns="0" tIns="0" rIns="0" bIns="0" rtlCol="0" anchor="t"/>
          <a:lstStyle/>
          <a:p>
            <a:pPr marL="0" indent="0" algn="r">
              <a:buNone/>
            </a:pPr>
            <a:r>
              <a:rPr lang="en-US" sz="1000" b="1" dirty="0">
                <a:solidFill>
                  <a:srgbClr val="5B6B63"/>
                </a:solidFill>
                <a:latin typeface="Calibri" pitchFamily="34" charset="0"/>
                <a:ea typeface="Calibri" pitchFamily="34" charset="-122"/>
                <a:cs typeface="Calibri" pitchFamily="34" charset="-120"/>
              </a:rPr>
              <a:t>PHASE 2 TARGET</a:t>
            </a:r>
            <a:endParaRPr lang="en-US" sz="1000" dirty="0"/>
          </a:p>
        </p:txBody>
      </p:sp>
      <p:sp>
        <p:nvSpPr>
          <p:cNvPr id="21" name="Text 19"/>
          <p:cNvSpPr txBox="1"/>
          <p:nvPr/>
        </p:nvSpPr>
        <p:spPr>
          <a:xfrm>
            <a:off x="6949440" y="3291840"/>
            <a:ext cx="1645920" cy="502920"/>
          </a:xfrm>
          <a:prstGeom prst="rect">
            <a:avLst/>
          </a:prstGeom>
          <a:noFill/>
          <a:ln/>
        </p:spPr>
        <p:txBody>
          <a:bodyPr wrap="square" lIns="0" tIns="0" rIns="0" bIns="0" rtlCol="0" anchor="t"/>
          <a:lstStyle/>
          <a:p>
            <a:pPr marL="0" indent="0" algn="r">
              <a:buNone/>
            </a:pPr>
            <a:r>
              <a:rPr lang="en-US" sz="2800" b="1" dirty="0">
                <a:solidFill>
                  <a:srgbClr val="0F5E48"/>
                </a:solidFill>
                <a:latin typeface="Arial" pitchFamily="34" charset="0"/>
                <a:ea typeface="Arial" pitchFamily="34" charset="-122"/>
                <a:cs typeface="Arial" pitchFamily="34" charset="-120"/>
              </a:rPr>
              <a:t>0</a:t>
            </a:r>
            <a:endParaRPr lang="en-US" sz="2800" dirty="0"/>
          </a:p>
        </p:txBody>
      </p:sp>
      <p:sp>
        <p:nvSpPr>
          <p:cNvPr id="22" name="Text 20"/>
          <p:cNvSpPr txBox="1"/>
          <p:nvPr/>
        </p:nvSpPr>
        <p:spPr>
          <a:xfrm>
            <a:off x="2743200" y="4023360"/>
            <a:ext cx="1920240" cy="365760"/>
          </a:xfrm>
          <a:prstGeom prst="rect">
            <a:avLst/>
          </a:prstGeom>
          <a:noFill/>
          <a:ln/>
        </p:spPr>
        <p:txBody>
          <a:bodyPr wrap="square" lIns="0" tIns="0" rIns="0" bIns="0" rtlCol="0" anchor="t"/>
          <a:lstStyle/>
          <a:p>
            <a:pPr marL="0" indent="0">
              <a:buNone/>
            </a:pPr>
            <a:r>
              <a:rPr lang="en-US" sz="2000" b="1" dirty="0">
                <a:solidFill>
                  <a:srgbClr val="0F5E48"/>
                </a:solidFill>
                <a:latin typeface="Arial" pitchFamily="34" charset="0"/>
                <a:ea typeface="Arial" pitchFamily="34" charset="-122"/>
                <a:cs typeface="Arial" pitchFamily="34" charset="-120"/>
              </a:rPr>
              <a:t>RM0.006</a:t>
            </a:r>
            <a:endParaRPr lang="en-US" sz="2000" dirty="0"/>
          </a:p>
        </p:txBody>
      </p:sp>
      <p:sp>
        <p:nvSpPr>
          <p:cNvPr id="23" name="Text 21"/>
          <p:cNvSpPr txBox="1"/>
          <p:nvPr/>
        </p:nvSpPr>
        <p:spPr>
          <a:xfrm>
            <a:off x="2743200" y="4370832"/>
            <a:ext cx="1828800" cy="365760"/>
          </a:xfrm>
          <a:prstGeom prst="rect">
            <a:avLst/>
          </a:prstGeom>
          <a:noFill/>
          <a:ln/>
        </p:spPr>
        <p:txBody>
          <a:bodyPr wrap="square" lIns="0" tIns="0" rIns="0" bIns="0" rtlCol="0" anchor="t"/>
          <a:lstStyle/>
          <a:p>
            <a:pPr marL="0" indent="0">
              <a:buNone/>
            </a:pPr>
            <a:r>
              <a:rPr lang="en-US" sz="1100" dirty="0">
                <a:solidFill>
                  <a:srgbClr val="5B6B63"/>
                </a:solidFill>
                <a:latin typeface="Calibri" pitchFamily="34" charset="0"/>
                <a:ea typeface="Calibri" pitchFamily="34" charset="-122"/>
                <a:cs typeface="Calibri" pitchFamily="34" charset="-120"/>
              </a:rPr>
              <a:t>ILMU speech for a 30 s voice note</a:t>
            </a:r>
            <a:endParaRPr lang="en-US" sz="1100" dirty="0"/>
          </a:p>
        </p:txBody>
      </p:sp>
      <p:sp>
        <p:nvSpPr>
          <p:cNvPr id="24" name="Text 22"/>
          <p:cNvSpPr txBox="1"/>
          <p:nvPr/>
        </p:nvSpPr>
        <p:spPr>
          <a:xfrm>
            <a:off x="4754880" y="4023360"/>
            <a:ext cx="1920240" cy="365760"/>
          </a:xfrm>
          <a:prstGeom prst="rect">
            <a:avLst/>
          </a:prstGeom>
          <a:noFill/>
          <a:ln/>
        </p:spPr>
        <p:txBody>
          <a:bodyPr wrap="square" lIns="0" tIns="0" rIns="0" bIns="0" rtlCol="0" anchor="t"/>
          <a:lstStyle/>
          <a:p>
            <a:pPr marL="0" indent="0">
              <a:buNone/>
            </a:pPr>
            <a:r>
              <a:rPr lang="en-US" sz="2000" b="1" dirty="0">
                <a:solidFill>
                  <a:srgbClr val="0F5E48"/>
                </a:solidFill>
                <a:latin typeface="Arial" pitchFamily="34" charset="0"/>
                <a:ea typeface="Arial" pitchFamily="34" charset="-122"/>
                <a:cs typeface="Arial" pitchFamily="34" charset="-120"/>
              </a:rPr>
              <a:t>1.07M</a:t>
            </a:r>
            <a:endParaRPr lang="en-US" sz="2000" dirty="0"/>
          </a:p>
        </p:txBody>
      </p:sp>
      <p:sp>
        <p:nvSpPr>
          <p:cNvPr id="25" name="Text 23"/>
          <p:cNvSpPr txBox="1"/>
          <p:nvPr/>
        </p:nvSpPr>
        <p:spPr>
          <a:xfrm>
            <a:off x="4754880" y="4370832"/>
            <a:ext cx="1828800" cy="365760"/>
          </a:xfrm>
          <a:prstGeom prst="rect">
            <a:avLst/>
          </a:prstGeom>
          <a:noFill/>
          <a:ln/>
        </p:spPr>
        <p:txBody>
          <a:bodyPr wrap="square" lIns="0" tIns="0" rIns="0" bIns="0" rtlCol="0" anchor="t"/>
          <a:lstStyle/>
          <a:p>
            <a:pPr marL="0" indent="0">
              <a:buNone/>
            </a:pPr>
            <a:r>
              <a:rPr lang="en-US" sz="1100" dirty="0">
                <a:solidFill>
                  <a:srgbClr val="5B6B63"/>
                </a:solidFill>
                <a:latin typeface="Calibri" pitchFamily="34" charset="0"/>
                <a:ea typeface="Calibri" pitchFamily="34" charset="-122"/>
                <a:cs typeface="Calibri" pitchFamily="34" charset="-120"/>
              </a:rPr>
              <a:t>MSMEs that could use it</a:t>
            </a:r>
            <a:endParaRPr lang="en-US" sz="1100" dirty="0"/>
          </a:p>
        </p:txBody>
      </p:sp>
      <p:sp>
        <p:nvSpPr>
          <p:cNvPr id="26" name="Text 24"/>
          <p:cNvSpPr txBox="1"/>
          <p:nvPr/>
        </p:nvSpPr>
        <p:spPr>
          <a:xfrm>
            <a:off x="6766560" y="4023360"/>
            <a:ext cx="1920240" cy="365760"/>
          </a:xfrm>
          <a:prstGeom prst="rect">
            <a:avLst/>
          </a:prstGeom>
          <a:noFill/>
          <a:ln/>
        </p:spPr>
        <p:txBody>
          <a:bodyPr wrap="square" lIns="0" tIns="0" rIns="0" bIns="0" rtlCol="0" anchor="t"/>
          <a:lstStyle/>
          <a:p>
            <a:pPr marL="0" indent="0">
              <a:buNone/>
            </a:pPr>
            <a:r>
              <a:rPr lang="en-US" sz="2000" b="1" dirty="0">
                <a:solidFill>
                  <a:srgbClr val="0F5E48"/>
                </a:solidFill>
                <a:latin typeface="Arial" pitchFamily="34" charset="0"/>
                <a:ea typeface="Arial" pitchFamily="34" charset="-122"/>
                <a:cs typeface="Arial" pitchFamily="34" charset="-120"/>
              </a:rPr>
              <a:t>~500</a:t>
            </a:r>
            <a:endParaRPr lang="en-US" sz="2000" dirty="0"/>
          </a:p>
        </p:txBody>
      </p:sp>
      <p:sp>
        <p:nvSpPr>
          <p:cNvPr id="27" name="Text 25"/>
          <p:cNvSpPr txBox="1"/>
          <p:nvPr/>
        </p:nvSpPr>
        <p:spPr>
          <a:xfrm>
            <a:off x="6766560" y="4370832"/>
            <a:ext cx="1828800" cy="365760"/>
          </a:xfrm>
          <a:prstGeom prst="rect">
            <a:avLst/>
          </a:prstGeom>
          <a:noFill/>
          <a:ln/>
        </p:spPr>
        <p:txBody>
          <a:bodyPr wrap="square" lIns="0" tIns="0" rIns="0" bIns="0" rtlCol="0" anchor="t"/>
          <a:lstStyle/>
          <a:p>
            <a:pPr marL="0" indent="0">
              <a:buNone/>
            </a:pPr>
            <a:r>
              <a:rPr lang="en-US" sz="1100" dirty="0">
                <a:solidFill>
                  <a:srgbClr val="5B6B63"/>
                </a:solidFill>
                <a:latin typeface="Calibri" pitchFamily="34" charset="0"/>
                <a:ea typeface="Calibri" pitchFamily="34" charset="-122"/>
                <a:cs typeface="Calibri" pitchFamily="34" charset="-120"/>
              </a:rPr>
              <a:t>automated tests on every commit</a:t>
            </a:r>
            <a:endParaRPr lang="en-US" sz="1100" dirty="0"/>
          </a:p>
        </p:txBody>
      </p:sp>
      <p:sp>
        <p:nvSpPr>
          <p:cNvPr id="28" name="Text 26"/>
          <p:cNvSpPr txBox="1"/>
          <p:nvPr/>
        </p:nvSpPr>
        <p:spPr>
          <a:xfrm>
            <a:off x="457200" y="4617720"/>
            <a:ext cx="2194560" cy="365760"/>
          </a:xfrm>
          <a:prstGeom prst="rect">
            <a:avLst/>
          </a:prstGeom>
          <a:noFill/>
          <a:ln/>
        </p:spPr>
        <p:txBody>
          <a:bodyPr wrap="square" lIns="0" tIns="0" rIns="0" bIns="0" rtlCol="0" anchor="t"/>
          <a:lstStyle/>
          <a:p>
            <a:pPr marL="0" indent="0">
              <a:buNone/>
            </a:pPr>
            <a:r>
              <a:rPr lang="en-US" sz="1000" dirty="0">
                <a:solidFill>
                  <a:srgbClr val="5B6B63"/>
                </a:solidFill>
                <a:latin typeface="Calibri" pitchFamily="34" charset="0"/>
                <a:ea typeface="Calibri" pitchFamily="34" charset="-122"/>
                <a:cs typeface="Calibri" pitchFamily="34" charset="-120"/>
              </a:rPr>
              <a:t>Targets are goals, not results. Speech price from the ILMU console (before SST).</a:t>
            </a:r>
            <a:endParaRPr lang="en-US" sz="1000" dirty="0"/>
          </a:p>
        </p:txBody>
      </p:sp>
      <p:sp>
        <p:nvSpPr>
          <p:cNvPr id="29"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63"/>
                </a:solidFill>
                <a:latin typeface="Arial"/>
                <a:ea typeface="Arial"/>
                <a:cs typeface="Aria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28600"/>
            <a:ext cx="6583680" cy="731520"/>
          </a:xfrm>
          <a:prstGeom prst="rect">
            <a:avLst/>
          </a:prstGeom>
          <a:noFill/>
          <a:ln/>
        </p:spPr>
        <p:txBody>
          <a:bodyPr wrap="square" lIns="0" tIns="0" rIns="0" bIns="0" rtlCol="0" anchor="ctr"/>
          <a:lstStyle/>
          <a:p>
            <a:pPr marL="0" indent="0">
              <a:buNone/>
            </a:pPr>
            <a:r>
              <a:rPr lang="en-US" sz="3200" b="1" dirty="0">
                <a:solidFill>
                  <a:srgbClr val="16221B"/>
                </a:solidFill>
                <a:latin typeface="Arial" pitchFamily="34" charset="0"/>
                <a:ea typeface="Arial" pitchFamily="34" charset="-122"/>
                <a:cs typeface="Arial" pitchFamily="34" charset="-120"/>
              </a:rPr>
              <a:t>6. Business Model</a:t>
            </a:r>
            <a:endParaRPr lang="en-US" sz="3200" dirty="0"/>
          </a:p>
        </p:txBody>
      </p:sp>
      <p:sp>
        <p:nvSpPr>
          <p:cNvPr id="3" name="Shape 1"/>
          <p:cNvSpPr/>
          <p:nvPr/>
        </p:nvSpPr>
        <p:spPr>
          <a:xfrm>
            <a:off x="457200" y="1005840"/>
            <a:ext cx="1587398" cy="2514600"/>
          </a:xfrm>
          <a:prstGeom prst="roundRect">
            <a:avLst>
              <a:gd name="adj" fmla="val 3456"/>
            </a:avLst>
          </a:prstGeom>
          <a:solidFill>
            <a:srgbClr val="EEF5F1"/>
          </a:solidFill>
          <a:ln w="12700">
            <a:solidFill>
              <a:srgbClr val="EEF5F1"/>
            </a:solidFill>
            <a:prstDash val="solid"/>
          </a:ln>
        </p:spPr>
        <p:txBody>
          <a:bodyPr/>
          <a:p/>
        </p:txBody>
      </p:sp>
      <p:sp>
        <p:nvSpPr>
          <p:cNvPr id="4" name="Text 2"/>
          <p:cNvSpPr txBox="1"/>
          <p:nvPr/>
        </p:nvSpPr>
        <p:spPr>
          <a:xfrm>
            <a:off x="530352" y="1069848"/>
            <a:ext cx="1441094" cy="182880"/>
          </a:xfrm>
          <a:prstGeom prst="rect">
            <a:avLst/>
          </a:prstGeom>
          <a:noFill/>
          <a:ln/>
        </p:spPr>
        <p:txBody>
          <a:bodyPr wrap="square" lIns="0" tIns="0" rIns="0" bIns="0" rtlCol="0" anchor="t"/>
          <a:lstStyle/>
          <a:p>
            <a:pPr marL="0" indent="0">
              <a:buNone/>
            </a:pPr>
            <a:r>
              <a:rPr lang="en-US" sz="1000" b="1" dirty="0">
                <a:solidFill>
                  <a:srgbClr val="0F5E48"/>
                </a:solidFill>
                <a:latin typeface="Calibri" pitchFamily="34" charset="0"/>
                <a:ea typeface="Calibri" pitchFamily="34" charset="-122"/>
                <a:cs typeface="Calibri" pitchFamily="34" charset="-120"/>
              </a:rPr>
              <a:t>KEY PARTNERS</a:t>
            </a:r>
            <a:endParaRPr lang="en-US" sz="1000" dirty="0"/>
          </a:p>
        </p:txBody>
      </p:sp>
      <p:sp>
        <p:nvSpPr>
          <p:cNvPr id="5" name="Text 3"/>
          <p:cNvSpPr txBox="1"/>
          <p:nvPr/>
        </p:nvSpPr>
        <p:spPr>
          <a:xfrm>
            <a:off x="530352" y="1298448"/>
            <a:ext cx="1459382" cy="2185416"/>
          </a:xfrm>
          <a:prstGeom prst="rect">
            <a:avLst/>
          </a:prstGeom>
          <a:noFill/>
          <a:ln/>
        </p:spPr>
        <p:txBody>
          <a:bodyPr wrap="square" lIns="0" tIns="0" rIns="0" bIns="0" rtlCol="0" anchor="t"/>
          <a:lstStyle/>
          <a:p>
            <a:pPr marL="127000" indent="-127000">
              <a:spcAft>
                <a:spcPts val="300"/>
              </a:spcAft>
              <a:buSzPct val="100000"/>
              <a:buChar char="•"/>
            </a:pPr>
            <a:r>
              <a:rPr lang="en-US" sz="1050" dirty="0">
                <a:solidFill>
                  <a:srgbClr val="16221B"/>
                </a:solidFill>
                <a:latin typeface="Calibri" pitchFamily="34" charset="0"/>
                <a:ea typeface="Calibri" pitchFamily="34" charset="-122"/>
                <a:cs typeface="Calibri" pitchFamily="34" charset="-120"/>
              </a:rPr>
              <a:t>ILMU (YTL AI Labs): speech and extraction</a:t>
            </a:r>
            <a:endParaRPr lang="en-US" sz="1050" dirty="0"/>
          </a:p>
          <a:p>
            <a:pPr marL="127000" indent="-127000">
              <a:spcAft>
                <a:spcPts val="300"/>
              </a:spcAft>
              <a:buSzPct val="100000"/>
              <a:buChar char="•"/>
            </a:pPr>
            <a:r>
              <a:rPr lang="en-US" sz="1050" dirty="0">
                <a:solidFill>
                  <a:srgbClr val="16221B"/>
                </a:solidFill>
                <a:latin typeface="Calibri" pitchFamily="34" charset="0"/>
                <a:ea typeface="Calibri" pitchFamily="34" charset="-122"/>
                <a:cs typeface="Calibri" pitchFamily="34" charset="-120"/>
              </a:rPr>
              <a:t>RunPod: GPU for vision</a:t>
            </a:r>
            <a:endParaRPr lang="en-US" sz="1050" dirty="0"/>
          </a:p>
          <a:p>
            <a:pPr marL="127000" indent="-127000">
              <a:spcAft>
                <a:spcPts val="300"/>
              </a:spcAft>
              <a:buSzPct val="100000"/>
              <a:buChar char="•"/>
            </a:pPr>
            <a:r>
              <a:rPr lang="en-US" sz="1050" dirty="0">
                <a:solidFill>
                  <a:srgbClr val="16221B"/>
                </a:solidFill>
                <a:latin typeface="Calibri" pitchFamily="34" charset="0"/>
                <a:ea typeface="Calibri" pitchFamily="34" charset="-122"/>
                <a:cs typeface="Calibri" pitchFamily="34" charset="-120"/>
              </a:rPr>
              <a:t>Replit: hosting</a:t>
            </a:r>
            <a:endParaRPr lang="en-US" sz="1050" dirty="0"/>
          </a:p>
          <a:p>
            <a:pPr marL="127000" indent="-127000">
              <a:spcAft>
                <a:spcPts val="300"/>
              </a:spcAft>
              <a:buSzPct val="100000"/>
              <a:buChar char="•"/>
            </a:pPr>
            <a:r>
              <a:rPr lang="en-US" sz="1050" dirty="0">
                <a:solidFill>
                  <a:srgbClr val="16221B"/>
                </a:solidFill>
                <a:latin typeface="Calibri" pitchFamily="34" charset="0"/>
                <a:ea typeface="Calibri" pitchFamily="34" charset="-122"/>
                <a:cs typeface="Calibri" pitchFamily="34" charset="-120"/>
              </a:rPr>
              <a:t>Telegram and Meta: chat channels</a:t>
            </a:r>
            <a:endParaRPr lang="en-US" sz="1050" dirty="0"/>
          </a:p>
        </p:txBody>
      </p:sp>
      <p:sp>
        <p:nvSpPr>
          <p:cNvPr id="6" name="Shape 4"/>
          <p:cNvSpPr/>
          <p:nvPr/>
        </p:nvSpPr>
        <p:spPr>
          <a:xfrm>
            <a:off x="2117750" y="1005840"/>
            <a:ext cx="1587398" cy="1220724"/>
          </a:xfrm>
          <a:prstGeom prst="roundRect">
            <a:avLst>
              <a:gd name="adj" fmla="val 4494"/>
            </a:avLst>
          </a:prstGeom>
          <a:solidFill>
            <a:srgbClr val="EEF5F1"/>
          </a:solidFill>
          <a:ln w="12700">
            <a:solidFill>
              <a:srgbClr val="EEF5F1"/>
            </a:solidFill>
            <a:prstDash val="solid"/>
          </a:ln>
        </p:spPr>
        <p:txBody>
          <a:bodyPr/>
          <a:p/>
        </p:txBody>
      </p:sp>
      <p:sp>
        <p:nvSpPr>
          <p:cNvPr id="7" name="Text 5"/>
          <p:cNvSpPr txBox="1"/>
          <p:nvPr/>
        </p:nvSpPr>
        <p:spPr>
          <a:xfrm>
            <a:off x="2190902" y="1069848"/>
            <a:ext cx="1441094" cy="182880"/>
          </a:xfrm>
          <a:prstGeom prst="rect">
            <a:avLst/>
          </a:prstGeom>
          <a:noFill/>
          <a:ln/>
        </p:spPr>
        <p:txBody>
          <a:bodyPr wrap="square" lIns="0" tIns="0" rIns="0" bIns="0" rtlCol="0" anchor="t"/>
          <a:lstStyle/>
          <a:p>
            <a:pPr marL="0" indent="0">
              <a:buNone/>
            </a:pPr>
            <a:r>
              <a:rPr lang="en-US" sz="1000" b="1" dirty="0">
                <a:solidFill>
                  <a:srgbClr val="0F5E48"/>
                </a:solidFill>
                <a:latin typeface="Calibri" pitchFamily="34" charset="0"/>
                <a:ea typeface="Calibri" pitchFamily="34" charset="-122"/>
                <a:cs typeface="Calibri" pitchFamily="34" charset="-120"/>
              </a:rPr>
              <a:t>KEY ACTIVITIES</a:t>
            </a:r>
            <a:endParaRPr lang="en-US" sz="1000" dirty="0"/>
          </a:p>
        </p:txBody>
      </p:sp>
      <p:sp>
        <p:nvSpPr>
          <p:cNvPr id="8" name="Text 6"/>
          <p:cNvSpPr txBox="1"/>
          <p:nvPr/>
        </p:nvSpPr>
        <p:spPr>
          <a:xfrm>
            <a:off x="2190902" y="1298448"/>
            <a:ext cx="1459382" cy="891540"/>
          </a:xfrm>
          <a:prstGeom prst="rect">
            <a:avLst/>
          </a:prstGeom>
          <a:noFill/>
          <a:ln/>
        </p:spPr>
        <p:txBody>
          <a:bodyPr wrap="square" lIns="0" tIns="0" rIns="0" bIns="0" rtlCol="0" anchor="t"/>
          <a:lstStyle/>
          <a:p>
            <a:pPr marL="127000" indent="-127000">
              <a:spcAft>
                <a:spcPts val="300"/>
              </a:spcAft>
              <a:buSzPct val="100000"/>
              <a:buChar char="•"/>
            </a:pPr>
            <a:r>
              <a:rPr lang="en-US" sz="1050" dirty="0">
                <a:solidFill>
                  <a:srgbClr val="16221B"/>
                </a:solidFill>
                <a:latin typeface="Calibri" pitchFamily="34" charset="0"/>
                <a:ea typeface="Calibri" pitchFamily="34" charset="-122"/>
                <a:cs typeface="Calibri" pitchFamily="34" charset="-120"/>
              </a:rPr>
              <a:t>Quote automation</a:t>
            </a:r>
            <a:endParaRPr lang="en-US" sz="1050" dirty="0"/>
          </a:p>
          <a:p>
            <a:pPr marL="127000" indent="-127000">
              <a:spcAft>
                <a:spcPts val="300"/>
              </a:spcAft>
              <a:buSzPct val="100000"/>
              <a:buChar char="•"/>
            </a:pPr>
            <a:r>
              <a:rPr lang="en-US" sz="1050" dirty="0">
                <a:solidFill>
                  <a:srgbClr val="16221B"/>
                </a:solidFill>
                <a:latin typeface="Calibri" pitchFamily="34" charset="0"/>
                <a:ea typeface="Calibri" pitchFamily="34" charset="-122"/>
                <a:cs typeface="Calibri" pitchFamily="34" charset="-120"/>
              </a:rPr>
              <a:t>Reading price lists and photos</a:t>
            </a:r>
            <a:endParaRPr lang="en-US" sz="1050" dirty="0"/>
          </a:p>
        </p:txBody>
      </p:sp>
      <p:sp>
        <p:nvSpPr>
          <p:cNvPr id="9" name="Shape 7"/>
          <p:cNvSpPr/>
          <p:nvPr/>
        </p:nvSpPr>
        <p:spPr>
          <a:xfrm>
            <a:off x="2117750" y="2299716"/>
            <a:ext cx="1587398" cy="1220724"/>
          </a:xfrm>
          <a:prstGeom prst="roundRect">
            <a:avLst>
              <a:gd name="adj" fmla="val 4494"/>
            </a:avLst>
          </a:prstGeom>
          <a:solidFill>
            <a:srgbClr val="EEF5F1"/>
          </a:solidFill>
          <a:ln w="12700">
            <a:solidFill>
              <a:srgbClr val="EEF5F1"/>
            </a:solidFill>
            <a:prstDash val="solid"/>
          </a:ln>
        </p:spPr>
        <p:txBody>
          <a:bodyPr/>
          <a:p/>
        </p:txBody>
      </p:sp>
      <p:sp>
        <p:nvSpPr>
          <p:cNvPr id="10" name="Text 8"/>
          <p:cNvSpPr txBox="1"/>
          <p:nvPr/>
        </p:nvSpPr>
        <p:spPr>
          <a:xfrm>
            <a:off x="2190902" y="2363724"/>
            <a:ext cx="1441094" cy="182880"/>
          </a:xfrm>
          <a:prstGeom prst="rect">
            <a:avLst/>
          </a:prstGeom>
          <a:noFill/>
          <a:ln/>
        </p:spPr>
        <p:txBody>
          <a:bodyPr wrap="square" lIns="0" tIns="0" rIns="0" bIns="0" rtlCol="0" anchor="t"/>
          <a:lstStyle/>
          <a:p>
            <a:pPr marL="0" indent="0">
              <a:buNone/>
            </a:pPr>
            <a:r>
              <a:rPr lang="en-US" sz="1000" b="1" dirty="0">
                <a:solidFill>
                  <a:srgbClr val="0F5E48"/>
                </a:solidFill>
                <a:latin typeface="Calibri" pitchFamily="34" charset="0"/>
                <a:ea typeface="Calibri" pitchFamily="34" charset="-122"/>
                <a:cs typeface="Calibri" pitchFamily="34" charset="-120"/>
              </a:rPr>
              <a:t>KEY RESOURCES</a:t>
            </a:r>
            <a:endParaRPr lang="en-US" sz="1000" dirty="0"/>
          </a:p>
        </p:txBody>
      </p:sp>
      <p:sp>
        <p:nvSpPr>
          <p:cNvPr id="11" name="Text 9"/>
          <p:cNvSpPr txBox="1"/>
          <p:nvPr/>
        </p:nvSpPr>
        <p:spPr>
          <a:xfrm>
            <a:off x="2190902" y="2592324"/>
            <a:ext cx="1459382" cy="891540"/>
          </a:xfrm>
          <a:prstGeom prst="rect">
            <a:avLst/>
          </a:prstGeom>
          <a:noFill/>
          <a:ln/>
        </p:spPr>
        <p:txBody>
          <a:bodyPr wrap="square" lIns="0" tIns="0" rIns="0" bIns="0" rtlCol="0" anchor="t"/>
          <a:lstStyle/>
          <a:p>
            <a:pPr marL="127000" indent="-127000">
              <a:spcAft>
                <a:spcPts val="300"/>
              </a:spcAft>
              <a:buSzPct val="100000"/>
              <a:buChar char="•"/>
            </a:pPr>
            <a:r>
              <a:rPr lang="en-US" sz="1050" dirty="0">
                <a:solidFill>
                  <a:srgbClr val="16221B"/>
                </a:solidFill>
                <a:latin typeface="Calibri" pitchFamily="34" charset="0"/>
                <a:ea typeface="Calibri" pitchFamily="34" charset="-122"/>
                <a:cs typeface="Calibri" pitchFamily="34" charset="-120"/>
              </a:rPr>
              <a:t>Rules engine and cost book</a:t>
            </a:r>
            <a:endParaRPr lang="en-US" sz="1050" dirty="0"/>
          </a:p>
          <a:p>
            <a:pPr marL="127000" indent="-127000">
              <a:spcAft>
                <a:spcPts val="300"/>
              </a:spcAft>
              <a:buSzPct val="100000"/>
              <a:buChar char="•"/>
            </a:pPr>
            <a:r>
              <a:rPr lang="en-US" sz="1050" dirty="0">
                <a:solidFill>
                  <a:srgbClr val="16221B"/>
                </a:solidFill>
                <a:latin typeface="Calibri" pitchFamily="34" charset="0"/>
                <a:ea typeface="Calibri" pitchFamily="34" charset="-122"/>
                <a:cs typeface="Calibri" pitchFamily="34" charset="-120"/>
              </a:rPr>
              <a:t>Signed-licence system</a:t>
            </a:r>
            <a:endParaRPr lang="en-US" sz="1050" dirty="0"/>
          </a:p>
        </p:txBody>
      </p:sp>
      <p:sp>
        <p:nvSpPr>
          <p:cNvPr id="12" name="Shape 10"/>
          <p:cNvSpPr/>
          <p:nvPr/>
        </p:nvSpPr>
        <p:spPr>
          <a:xfrm>
            <a:off x="3778301" y="1005840"/>
            <a:ext cx="1587398" cy="2514600"/>
          </a:xfrm>
          <a:prstGeom prst="roundRect">
            <a:avLst>
              <a:gd name="adj" fmla="val 3456"/>
            </a:avLst>
          </a:prstGeom>
          <a:solidFill>
            <a:srgbClr val="DDEFD6"/>
          </a:solidFill>
          <a:ln w="12700">
            <a:solidFill>
              <a:srgbClr val="DDEFD6"/>
            </a:solidFill>
            <a:prstDash val="solid"/>
          </a:ln>
        </p:spPr>
        <p:txBody>
          <a:bodyPr/>
          <a:p/>
        </p:txBody>
      </p:sp>
      <p:sp>
        <p:nvSpPr>
          <p:cNvPr id="13" name="Text 11"/>
          <p:cNvSpPr txBox="1"/>
          <p:nvPr/>
        </p:nvSpPr>
        <p:spPr>
          <a:xfrm>
            <a:off x="3851453" y="1069848"/>
            <a:ext cx="1441094" cy="182880"/>
          </a:xfrm>
          <a:prstGeom prst="rect">
            <a:avLst/>
          </a:prstGeom>
          <a:noFill/>
          <a:ln/>
        </p:spPr>
        <p:txBody>
          <a:bodyPr wrap="square" lIns="0" tIns="0" rIns="0" bIns="0" rtlCol="0" anchor="t"/>
          <a:lstStyle/>
          <a:p>
            <a:pPr marL="0" indent="0">
              <a:buNone/>
            </a:pPr>
            <a:r>
              <a:rPr lang="en-US" sz="1000" b="1" dirty="0">
                <a:solidFill>
                  <a:srgbClr val="0F5E48"/>
                </a:solidFill>
                <a:latin typeface="Calibri" pitchFamily="34" charset="0"/>
                <a:ea typeface="Calibri" pitchFamily="34" charset="-122"/>
                <a:cs typeface="Calibri" pitchFamily="34" charset="-120"/>
              </a:rPr>
              <a:t>VALUE PROPOSITION</a:t>
            </a:r>
            <a:endParaRPr lang="en-US" sz="1000" dirty="0"/>
          </a:p>
        </p:txBody>
      </p:sp>
      <p:sp>
        <p:nvSpPr>
          <p:cNvPr id="14" name="Text 12"/>
          <p:cNvSpPr txBox="1"/>
          <p:nvPr/>
        </p:nvSpPr>
        <p:spPr>
          <a:xfrm>
            <a:off x="3851453" y="1298448"/>
            <a:ext cx="1459382" cy="2185416"/>
          </a:xfrm>
          <a:prstGeom prst="rect">
            <a:avLst/>
          </a:prstGeom>
          <a:noFill/>
          <a:ln/>
        </p:spPr>
        <p:txBody>
          <a:bodyPr wrap="square" lIns="0" tIns="0" rIns="0" bIns="0" rtlCol="0" anchor="t"/>
          <a:lstStyle/>
          <a:p>
            <a:pPr marL="127000" indent="-127000">
              <a:spcAft>
                <a:spcPts val="300"/>
              </a:spcAft>
              <a:buSzPct val="100000"/>
              <a:buChar char="•"/>
            </a:pPr>
            <a:r>
              <a:rPr lang="en-US" sz="1050" dirty="0">
                <a:solidFill>
                  <a:srgbClr val="16221B"/>
                </a:solidFill>
                <a:latin typeface="Calibri" pitchFamily="34" charset="0"/>
                <a:ea typeface="Calibri" pitchFamily="34" charset="-122"/>
                <a:cs typeface="Calibri" pitchFamily="34" charset="-120"/>
              </a:rPr>
              <a:t>Quote from chat in minutes</a:t>
            </a:r>
            <a:endParaRPr lang="en-US" sz="1050" dirty="0"/>
          </a:p>
          <a:p>
            <a:pPr marL="127000" indent="-127000">
              <a:spcAft>
                <a:spcPts val="300"/>
              </a:spcAft>
              <a:buSzPct val="100000"/>
              <a:buChar char="•"/>
            </a:pPr>
            <a:r>
              <a:rPr lang="en-US" sz="1050" dirty="0">
                <a:solidFill>
                  <a:srgbClr val="16221B"/>
                </a:solidFill>
                <a:latin typeface="Calibri" pitchFamily="34" charset="0"/>
                <a:ea typeface="Calibri" pitchFamily="34" charset="-122"/>
                <a:cs typeface="Calibri" pitchFamily="34" charset="-120"/>
              </a:rPr>
              <a:t>No guessed prices: rules price, AI reads</a:t>
            </a:r>
            <a:endParaRPr lang="en-US" sz="1050" dirty="0"/>
          </a:p>
          <a:p>
            <a:pPr marL="127000" indent="-127000">
              <a:spcAft>
                <a:spcPts val="300"/>
              </a:spcAft>
              <a:buSzPct val="100000"/>
              <a:buChar char="•"/>
            </a:pPr>
            <a:r>
              <a:rPr lang="en-US" sz="1050" dirty="0">
                <a:solidFill>
                  <a:srgbClr val="16221B"/>
                </a:solidFill>
                <a:latin typeface="Calibri" pitchFamily="34" charset="0"/>
                <a:ea typeface="Calibri" pitchFamily="34" charset="-122"/>
                <a:cs typeface="Calibri" pitchFamily="34" charset="-120"/>
              </a:rPr>
              <a:t>Owner approves, audit log keeps the record</a:t>
            </a:r>
            <a:endParaRPr lang="en-US" sz="1050" dirty="0"/>
          </a:p>
        </p:txBody>
      </p:sp>
      <p:sp>
        <p:nvSpPr>
          <p:cNvPr id="15" name="Shape 13"/>
          <p:cNvSpPr/>
          <p:nvPr/>
        </p:nvSpPr>
        <p:spPr>
          <a:xfrm>
            <a:off x="5438851" y="1005840"/>
            <a:ext cx="1587398" cy="1220724"/>
          </a:xfrm>
          <a:prstGeom prst="roundRect">
            <a:avLst>
              <a:gd name="adj" fmla="val 4494"/>
            </a:avLst>
          </a:prstGeom>
          <a:solidFill>
            <a:srgbClr val="EEF5F1"/>
          </a:solidFill>
          <a:ln w="12700">
            <a:solidFill>
              <a:srgbClr val="EEF5F1"/>
            </a:solidFill>
            <a:prstDash val="solid"/>
          </a:ln>
        </p:spPr>
        <p:txBody>
          <a:bodyPr/>
          <a:p/>
        </p:txBody>
      </p:sp>
      <p:sp>
        <p:nvSpPr>
          <p:cNvPr id="16" name="Text 14"/>
          <p:cNvSpPr txBox="1"/>
          <p:nvPr/>
        </p:nvSpPr>
        <p:spPr>
          <a:xfrm>
            <a:off x="5512003" y="1069848"/>
            <a:ext cx="1441094" cy="182880"/>
          </a:xfrm>
          <a:prstGeom prst="rect">
            <a:avLst/>
          </a:prstGeom>
          <a:noFill/>
          <a:ln/>
        </p:spPr>
        <p:txBody>
          <a:bodyPr wrap="square" lIns="0" tIns="0" rIns="0" bIns="0" rtlCol="0" anchor="t"/>
          <a:lstStyle/>
          <a:p>
            <a:pPr marL="0" indent="0">
              <a:buNone/>
            </a:pPr>
            <a:r>
              <a:rPr lang="en-US" sz="1000" b="1" dirty="0">
                <a:solidFill>
                  <a:srgbClr val="0F5E48"/>
                </a:solidFill>
                <a:latin typeface="Calibri" pitchFamily="34" charset="0"/>
                <a:ea typeface="Calibri" pitchFamily="34" charset="-122"/>
                <a:cs typeface="Calibri" pitchFamily="34" charset="-120"/>
              </a:rPr>
              <a:t>RELATIONSHIPS</a:t>
            </a:r>
            <a:endParaRPr lang="en-US" sz="1000" dirty="0"/>
          </a:p>
        </p:txBody>
      </p:sp>
      <p:sp>
        <p:nvSpPr>
          <p:cNvPr id="17" name="Text 15"/>
          <p:cNvSpPr txBox="1"/>
          <p:nvPr/>
        </p:nvSpPr>
        <p:spPr>
          <a:xfrm>
            <a:off x="5512003" y="1298448"/>
            <a:ext cx="1459382" cy="891540"/>
          </a:xfrm>
          <a:prstGeom prst="rect">
            <a:avLst/>
          </a:prstGeom>
          <a:noFill/>
          <a:ln/>
        </p:spPr>
        <p:txBody>
          <a:bodyPr wrap="square" lIns="0" tIns="0" rIns="0" bIns="0" rtlCol="0" anchor="t"/>
          <a:lstStyle/>
          <a:p>
            <a:pPr marL="127000" indent="-127000">
              <a:spcAft>
                <a:spcPts val="300"/>
              </a:spcAft>
              <a:buSzPct val="100000"/>
              <a:buChar char="•"/>
            </a:pPr>
            <a:r>
              <a:rPr lang="en-US" sz="1050" dirty="0">
                <a:solidFill>
                  <a:srgbClr val="16221B"/>
                </a:solidFill>
                <a:latin typeface="Calibri" pitchFamily="34" charset="0"/>
                <a:ea typeface="Calibri" pitchFamily="34" charset="-122"/>
                <a:cs typeface="Calibri" pitchFamily="34" charset="-120"/>
              </a:rPr>
              <a:t>Self-serve sign-up</a:t>
            </a:r>
            <a:endParaRPr lang="en-US" sz="1050" dirty="0"/>
          </a:p>
          <a:p>
            <a:pPr marL="127000" indent="-127000">
              <a:spcAft>
                <a:spcPts val="300"/>
              </a:spcAft>
              <a:buSzPct val="100000"/>
              <a:buChar char="•"/>
            </a:pPr>
            <a:r>
              <a:rPr lang="en-US" sz="1050" dirty="0">
                <a:solidFill>
                  <a:srgbClr val="16221B"/>
                </a:solidFill>
                <a:latin typeface="Calibri" pitchFamily="34" charset="0"/>
                <a:ea typeface="Calibri" pitchFamily="34" charset="-122"/>
                <a:cs typeface="Calibri" pitchFamily="34" charset="-120"/>
              </a:rPr>
              <a:t>Owner support in BM and English</a:t>
            </a:r>
            <a:endParaRPr lang="en-US" sz="1050" dirty="0"/>
          </a:p>
        </p:txBody>
      </p:sp>
      <p:sp>
        <p:nvSpPr>
          <p:cNvPr id="18" name="Shape 16"/>
          <p:cNvSpPr/>
          <p:nvPr/>
        </p:nvSpPr>
        <p:spPr>
          <a:xfrm>
            <a:off x="5438851" y="2299716"/>
            <a:ext cx="1587398" cy="1220724"/>
          </a:xfrm>
          <a:prstGeom prst="roundRect">
            <a:avLst>
              <a:gd name="adj" fmla="val 4494"/>
            </a:avLst>
          </a:prstGeom>
          <a:solidFill>
            <a:srgbClr val="EEF5F1"/>
          </a:solidFill>
          <a:ln w="12700">
            <a:solidFill>
              <a:srgbClr val="EEF5F1"/>
            </a:solidFill>
            <a:prstDash val="solid"/>
          </a:ln>
        </p:spPr>
        <p:txBody>
          <a:bodyPr/>
          <a:p/>
        </p:txBody>
      </p:sp>
      <p:sp>
        <p:nvSpPr>
          <p:cNvPr id="19" name="Text 17"/>
          <p:cNvSpPr txBox="1"/>
          <p:nvPr/>
        </p:nvSpPr>
        <p:spPr>
          <a:xfrm>
            <a:off x="5512003" y="2363724"/>
            <a:ext cx="1441094" cy="182880"/>
          </a:xfrm>
          <a:prstGeom prst="rect">
            <a:avLst/>
          </a:prstGeom>
          <a:noFill/>
          <a:ln/>
        </p:spPr>
        <p:txBody>
          <a:bodyPr wrap="square" lIns="0" tIns="0" rIns="0" bIns="0" rtlCol="0" anchor="t"/>
          <a:lstStyle/>
          <a:p>
            <a:pPr marL="0" indent="0">
              <a:buNone/>
            </a:pPr>
            <a:r>
              <a:rPr lang="en-US" sz="1000" b="1" dirty="0">
                <a:solidFill>
                  <a:srgbClr val="0F5E48"/>
                </a:solidFill>
                <a:latin typeface="Calibri" pitchFamily="34" charset="0"/>
                <a:ea typeface="Calibri" pitchFamily="34" charset="-122"/>
                <a:cs typeface="Calibri" pitchFamily="34" charset="-120"/>
              </a:rPr>
              <a:t>CHANNELS</a:t>
            </a:r>
            <a:endParaRPr lang="en-US" sz="1000" dirty="0"/>
          </a:p>
        </p:txBody>
      </p:sp>
      <p:sp>
        <p:nvSpPr>
          <p:cNvPr id="20" name="Text 18"/>
          <p:cNvSpPr txBox="1"/>
          <p:nvPr/>
        </p:nvSpPr>
        <p:spPr>
          <a:xfrm>
            <a:off x="5512003" y="2592324"/>
            <a:ext cx="1459382" cy="891540"/>
          </a:xfrm>
          <a:prstGeom prst="rect">
            <a:avLst/>
          </a:prstGeom>
          <a:noFill/>
          <a:ln/>
        </p:spPr>
        <p:txBody>
          <a:bodyPr wrap="square" lIns="0" tIns="0" rIns="0" bIns="0" rtlCol="0" anchor="t"/>
          <a:lstStyle/>
          <a:p>
            <a:pPr marL="127000" indent="-127000">
              <a:spcAft>
                <a:spcPts val="300"/>
              </a:spcAft>
              <a:buSzPct val="100000"/>
              <a:buChar char="•"/>
            </a:pPr>
            <a:r>
              <a:rPr lang="en-US" sz="1050" dirty="0">
                <a:solidFill>
                  <a:srgbClr val="16221B"/>
                </a:solidFill>
                <a:latin typeface="Calibri" pitchFamily="34" charset="0"/>
                <a:ea typeface="Calibri" pitchFamily="34" charset="-122"/>
                <a:cs typeface="Calibri" pitchFamily="34" charset="-120"/>
              </a:rPr>
              <a:t>Telegram and WhatsApp</a:t>
            </a:r>
            <a:endParaRPr lang="en-US" sz="1050" dirty="0"/>
          </a:p>
          <a:p>
            <a:pPr marL="127000" indent="-127000">
              <a:spcAft>
                <a:spcPts val="300"/>
              </a:spcAft>
              <a:buSzPct val="100000"/>
              <a:buChar char="•"/>
            </a:pPr>
            <a:r>
              <a:rPr lang="en-US" sz="1050" dirty="0">
                <a:solidFill>
                  <a:srgbClr val="16221B"/>
                </a:solidFill>
                <a:latin typeface="Calibri" pitchFamily="34" charset="0"/>
                <a:ea typeface="Calibri" pitchFamily="34" charset="-122"/>
                <a:cs typeface="Calibri" pitchFamily="34" charset="-120"/>
              </a:rPr>
              <a:t>Web app</a:t>
            </a:r>
            <a:endParaRPr lang="en-US" sz="1050" dirty="0"/>
          </a:p>
          <a:p>
            <a:pPr marL="127000" indent="-127000">
              <a:spcAft>
                <a:spcPts val="300"/>
              </a:spcAft>
              <a:buSzPct val="100000"/>
              <a:buChar char="•"/>
            </a:pPr>
            <a:r>
              <a:rPr lang="en-US" sz="1050" dirty="0">
                <a:solidFill>
                  <a:srgbClr val="16221B"/>
                </a:solidFill>
                <a:latin typeface="Calibri" pitchFamily="34" charset="0"/>
                <a:ea typeface="Calibri" pitchFamily="34" charset="-122"/>
                <a:cs typeface="Calibri" pitchFamily="34" charset="-120"/>
              </a:rPr>
              <a:t>Trade communities</a:t>
            </a:r>
            <a:endParaRPr lang="en-US" sz="1050" dirty="0"/>
          </a:p>
        </p:txBody>
      </p:sp>
      <p:sp>
        <p:nvSpPr>
          <p:cNvPr id="21" name="Shape 19"/>
          <p:cNvSpPr/>
          <p:nvPr/>
        </p:nvSpPr>
        <p:spPr>
          <a:xfrm>
            <a:off x="7099402" y="1005840"/>
            <a:ext cx="1587398" cy="2514600"/>
          </a:xfrm>
          <a:prstGeom prst="roundRect">
            <a:avLst>
              <a:gd name="adj" fmla="val 3456"/>
            </a:avLst>
          </a:prstGeom>
          <a:solidFill>
            <a:srgbClr val="EEF5F1"/>
          </a:solidFill>
          <a:ln w="12700">
            <a:solidFill>
              <a:srgbClr val="EEF5F1"/>
            </a:solidFill>
            <a:prstDash val="solid"/>
          </a:ln>
        </p:spPr>
        <p:txBody>
          <a:bodyPr/>
          <a:p/>
        </p:txBody>
      </p:sp>
      <p:sp>
        <p:nvSpPr>
          <p:cNvPr id="22" name="Text 20"/>
          <p:cNvSpPr txBox="1"/>
          <p:nvPr/>
        </p:nvSpPr>
        <p:spPr>
          <a:xfrm>
            <a:off x="7172554" y="1069848"/>
            <a:ext cx="1441094" cy="182880"/>
          </a:xfrm>
          <a:prstGeom prst="rect">
            <a:avLst/>
          </a:prstGeom>
          <a:noFill/>
          <a:ln/>
        </p:spPr>
        <p:txBody>
          <a:bodyPr wrap="square" lIns="0" tIns="0" rIns="0" bIns="0" rtlCol="0" anchor="t"/>
          <a:lstStyle/>
          <a:p>
            <a:pPr marL="0" indent="0">
              <a:buNone/>
            </a:pPr>
            <a:r>
              <a:rPr lang="en-US" sz="1000" b="1" dirty="0">
                <a:solidFill>
                  <a:srgbClr val="0F5E48"/>
                </a:solidFill>
                <a:latin typeface="Calibri" pitchFamily="34" charset="0"/>
                <a:ea typeface="Calibri" pitchFamily="34" charset="-122"/>
                <a:cs typeface="Calibri" pitchFamily="34" charset="-120"/>
              </a:rPr>
              <a:t>CUSTOMER SEGMENTS</a:t>
            </a:r>
            <a:endParaRPr lang="en-US" sz="1000" dirty="0"/>
          </a:p>
        </p:txBody>
      </p:sp>
      <p:sp>
        <p:nvSpPr>
          <p:cNvPr id="23" name="Text 21"/>
          <p:cNvSpPr txBox="1"/>
          <p:nvPr/>
        </p:nvSpPr>
        <p:spPr>
          <a:xfrm>
            <a:off x="7172554" y="1298448"/>
            <a:ext cx="1459382" cy="2185416"/>
          </a:xfrm>
          <a:prstGeom prst="rect">
            <a:avLst/>
          </a:prstGeom>
          <a:noFill/>
          <a:ln/>
        </p:spPr>
        <p:txBody>
          <a:bodyPr wrap="square" lIns="0" tIns="0" rIns="0" bIns="0" rtlCol="0" anchor="t"/>
          <a:lstStyle/>
          <a:p>
            <a:pPr marL="127000" indent="-127000">
              <a:spcAft>
                <a:spcPts val="300"/>
              </a:spcAft>
              <a:buSzPct val="100000"/>
              <a:buChar char="•"/>
            </a:pPr>
            <a:r>
              <a:rPr lang="en-US" sz="1050" dirty="0">
                <a:solidFill>
                  <a:srgbClr val="16221B"/>
                </a:solidFill>
                <a:latin typeface="Calibri" pitchFamily="34" charset="0"/>
                <a:ea typeface="Calibri" pitchFamily="34" charset="-122"/>
                <a:cs typeface="Calibri" pitchFamily="34" charset="-120"/>
              </a:rPr>
              <a:t>Made-to-order micro and small firms</a:t>
            </a:r>
            <a:endParaRPr lang="en-US" sz="1050" dirty="0"/>
          </a:p>
          <a:p>
            <a:pPr marL="127000" indent="-127000">
              <a:spcAft>
                <a:spcPts val="300"/>
              </a:spcAft>
              <a:buSzPct val="100000"/>
              <a:buChar char="•"/>
            </a:pPr>
            <a:r>
              <a:rPr lang="en-US" sz="1050" dirty="0">
                <a:solidFill>
                  <a:srgbClr val="16221B"/>
                </a:solidFill>
                <a:latin typeface="Calibri" pitchFamily="34" charset="0"/>
                <a:ea typeface="Calibri" pitchFamily="34" charset="-122"/>
                <a:cs typeface="Calibri" pitchFamily="34" charset="-120"/>
              </a:rPr>
              <a:t>Signage, printing, 3D printing, fabrication, renovation</a:t>
            </a:r>
            <a:endParaRPr lang="en-US" sz="1050" dirty="0"/>
          </a:p>
          <a:p>
            <a:pPr marL="127000" indent="-127000">
              <a:spcAft>
                <a:spcPts val="300"/>
              </a:spcAft>
              <a:buSzPct val="100000"/>
              <a:buChar char="•"/>
            </a:pPr>
            <a:r>
              <a:rPr lang="en-US" sz="1050" dirty="0">
                <a:solidFill>
                  <a:srgbClr val="16221B"/>
                </a:solidFill>
                <a:latin typeface="Calibri" pitchFamily="34" charset="0"/>
                <a:ea typeface="Calibri" pitchFamily="34" charset="-122"/>
                <a:cs typeface="Calibri" pitchFamily="34" charset="-120"/>
              </a:rPr>
              <a:t>Owners who quote from chat</a:t>
            </a:r>
            <a:endParaRPr lang="en-US" sz="1050" dirty="0"/>
          </a:p>
        </p:txBody>
      </p:sp>
      <p:sp>
        <p:nvSpPr>
          <p:cNvPr id="24" name="Shape 22"/>
          <p:cNvSpPr/>
          <p:nvPr/>
        </p:nvSpPr>
        <p:spPr>
          <a:xfrm>
            <a:off x="457200" y="3593592"/>
            <a:ext cx="4078224" cy="1051560"/>
          </a:xfrm>
          <a:prstGeom prst="roundRect">
            <a:avLst>
              <a:gd name="adj" fmla="val 5217"/>
            </a:avLst>
          </a:prstGeom>
          <a:solidFill>
            <a:srgbClr val="EEF5F1"/>
          </a:solidFill>
          <a:ln w="12700">
            <a:solidFill>
              <a:srgbClr val="EEF5F1"/>
            </a:solidFill>
            <a:prstDash val="solid"/>
          </a:ln>
        </p:spPr>
        <p:txBody>
          <a:bodyPr/>
          <a:p/>
        </p:txBody>
      </p:sp>
      <p:sp>
        <p:nvSpPr>
          <p:cNvPr id="25" name="Text 23"/>
          <p:cNvSpPr txBox="1"/>
          <p:nvPr/>
        </p:nvSpPr>
        <p:spPr>
          <a:xfrm>
            <a:off x="530352" y="3657600"/>
            <a:ext cx="3931920" cy="182880"/>
          </a:xfrm>
          <a:prstGeom prst="rect">
            <a:avLst/>
          </a:prstGeom>
          <a:noFill/>
          <a:ln/>
        </p:spPr>
        <p:txBody>
          <a:bodyPr wrap="square" lIns="0" tIns="0" rIns="0" bIns="0" rtlCol="0" anchor="t"/>
          <a:lstStyle/>
          <a:p>
            <a:pPr marL="0" indent="0">
              <a:buNone/>
            </a:pPr>
            <a:r>
              <a:rPr lang="en-US" sz="1000" b="1" dirty="0">
                <a:solidFill>
                  <a:srgbClr val="0F5E48"/>
                </a:solidFill>
                <a:latin typeface="Calibri" pitchFamily="34" charset="0"/>
                <a:ea typeface="Calibri" pitchFamily="34" charset="-122"/>
                <a:cs typeface="Calibri" pitchFamily="34" charset="-120"/>
              </a:rPr>
              <a:t>COST STRUCTURE</a:t>
            </a:r>
            <a:endParaRPr lang="en-US" sz="1000" dirty="0"/>
          </a:p>
        </p:txBody>
      </p:sp>
      <p:sp>
        <p:nvSpPr>
          <p:cNvPr id="26" name="Text 24"/>
          <p:cNvSpPr txBox="1"/>
          <p:nvPr/>
        </p:nvSpPr>
        <p:spPr>
          <a:xfrm>
            <a:off x="530352" y="3886200"/>
            <a:ext cx="3950208" cy="722376"/>
          </a:xfrm>
          <a:prstGeom prst="rect">
            <a:avLst/>
          </a:prstGeom>
          <a:noFill/>
          <a:ln/>
        </p:spPr>
        <p:txBody>
          <a:bodyPr wrap="square" lIns="0" tIns="0" rIns="0" bIns="0" rtlCol="0" anchor="t"/>
          <a:lstStyle/>
          <a:p>
            <a:pPr marL="127000" indent="-127000">
              <a:spcAft>
                <a:spcPts val="300"/>
              </a:spcAft>
              <a:buSzPct val="100000"/>
              <a:buChar char="•"/>
            </a:pPr>
            <a:r>
              <a:rPr lang="en-US" sz="1050" dirty="0">
                <a:solidFill>
                  <a:srgbClr val="16221B"/>
                </a:solidFill>
                <a:latin typeface="Calibri" pitchFamily="34" charset="0"/>
                <a:ea typeface="Calibri" pitchFamily="34" charset="-122"/>
                <a:cs typeface="Calibri" pitchFamily="34" charset="-120"/>
              </a:rPr>
              <a:t>Speech and AI usage (ILMU, about RM0.0002 per second of audio)</a:t>
            </a:r>
            <a:endParaRPr lang="en-US" sz="1050" dirty="0"/>
          </a:p>
          <a:p>
            <a:pPr marL="127000" indent="-127000">
              <a:spcAft>
                <a:spcPts val="300"/>
              </a:spcAft>
              <a:buSzPct val="100000"/>
              <a:buChar char="•"/>
            </a:pPr>
            <a:r>
              <a:rPr lang="en-US" sz="1050" dirty="0">
                <a:solidFill>
                  <a:srgbClr val="16221B"/>
                </a:solidFill>
                <a:latin typeface="Calibri" pitchFamily="34" charset="0"/>
                <a:ea typeface="Calibri" pitchFamily="34" charset="-122"/>
                <a:cs typeface="Calibri" pitchFamily="34" charset="-120"/>
              </a:rPr>
              <a:t>GPU billed only while it runs, plus hosting and chat messages</a:t>
            </a:r>
            <a:endParaRPr lang="en-US" sz="1050" dirty="0"/>
          </a:p>
        </p:txBody>
      </p:sp>
      <p:sp>
        <p:nvSpPr>
          <p:cNvPr id="27" name="Shape 25"/>
          <p:cNvSpPr/>
          <p:nvPr/>
        </p:nvSpPr>
        <p:spPr>
          <a:xfrm>
            <a:off x="4608576" y="3593592"/>
            <a:ext cx="4078224" cy="1051560"/>
          </a:xfrm>
          <a:prstGeom prst="roundRect">
            <a:avLst>
              <a:gd name="adj" fmla="val 5217"/>
            </a:avLst>
          </a:prstGeom>
          <a:solidFill>
            <a:srgbClr val="DDEFD6"/>
          </a:solidFill>
          <a:ln w="12700">
            <a:solidFill>
              <a:srgbClr val="DDEFD6"/>
            </a:solidFill>
            <a:prstDash val="solid"/>
          </a:ln>
        </p:spPr>
        <p:txBody>
          <a:bodyPr/>
          <a:p/>
        </p:txBody>
      </p:sp>
      <p:sp>
        <p:nvSpPr>
          <p:cNvPr id="28" name="Text 26"/>
          <p:cNvSpPr txBox="1"/>
          <p:nvPr/>
        </p:nvSpPr>
        <p:spPr>
          <a:xfrm>
            <a:off x="4681728" y="3657600"/>
            <a:ext cx="3931920" cy="182880"/>
          </a:xfrm>
          <a:prstGeom prst="rect">
            <a:avLst/>
          </a:prstGeom>
          <a:noFill/>
          <a:ln/>
        </p:spPr>
        <p:txBody>
          <a:bodyPr wrap="square" lIns="0" tIns="0" rIns="0" bIns="0" rtlCol="0" anchor="t"/>
          <a:lstStyle/>
          <a:p>
            <a:pPr marL="0" indent="0">
              <a:buNone/>
            </a:pPr>
            <a:r>
              <a:rPr lang="en-US" sz="1000" b="1" dirty="0">
                <a:solidFill>
                  <a:srgbClr val="0F5E48"/>
                </a:solidFill>
                <a:latin typeface="Calibri" pitchFamily="34" charset="0"/>
                <a:ea typeface="Calibri" pitchFamily="34" charset="-122"/>
                <a:cs typeface="Calibri" pitchFamily="34" charset="-120"/>
              </a:rPr>
              <a:t>REVENUE STREAMS</a:t>
            </a:r>
            <a:endParaRPr lang="en-US" sz="1000" dirty="0"/>
          </a:p>
        </p:txBody>
      </p:sp>
      <p:sp>
        <p:nvSpPr>
          <p:cNvPr id="29" name="Text 27"/>
          <p:cNvSpPr txBox="1"/>
          <p:nvPr/>
        </p:nvSpPr>
        <p:spPr>
          <a:xfrm>
            <a:off x="4681728" y="3886200"/>
            <a:ext cx="3950208" cy="722376"/>
          </a:xfrm>
          <a:prstGeom prst="rect">
            <a:avLst/>
          </a:prstGeom>
          <a:noFill/>
          <a:ln/>
        </p:spPr>
        <p:txBody>
          <a:bodyPr wrap="square" lIns="0" tIns="0" rIns="0" bIns="0" rtlCol="0" anchor="t"/>
          <a:lstStyle/>
          <a:p>
            <a:pPr marL="127000" indent="-127000">
              <a:spcAft>
                <a:spcPts val="300"/>
              </a:spcAft>
              <a:buSzPct val="100000"/>
              <a:buChar char="•"/>
            </a:pPr>
            <a:r>
              <a:rPr lang="en-US" sz="1050" dirty="0">
                <a:solidFill>
                  <a:srgbClr val="16221B"/>
                </a:solidFill>
                <a:latin typeface="Calibri" pitchFamily="34" charset="0"/>
                <a:ea typeface="Calibri" pitchFamily="34" charset="-122"/>
                <a:cs typeface="Calibri" pitchFamily="34" charset="-120"/>
              </a:rPr>
              <a:t>Subscription per business with seats (signed licence, built). Illustrative: RM39 a month</a:t>
            </a:r>
            <a:endParaRPr lang="en-US" sz="1050" dirty="0"/>
          </a:p>
          <a:p>
            <a:pPr marL="127000" indent="-127000">
              <a:spcAft>
                <a:spcPts val="300"/>
              </a:spcAft>
              <a:buSzPct val="100000"/>
              <a:buChar char="•"/>
            </a:pPr>
            <a:r>
              <a:rPr lang="en-US" sz="1050" dirty="0">
                <a:solidFill>
                  <a:srgbClr val="16221B"/>
                </a:solidFill>
                <a:latin typeface="Calibri" pitchFamily="34" charset="0"/>
                <a:ea typeface="Calibri" pitchFamily="34" charset="-122"/>
                <a:cs typeface="Calibri" pitchFamily="34" charset="-120"/>
              </a:rPr>
              <a:t>Optional per-quote add-ons (price to be validated)</a:t>
            </a:r>
            <a:endParaRPr lang="en-US" sz="1050" dirty="0"/>
          </a:p>
        </p:txBody>
      </p:sp>
      <p:sp>
        <p:nvSpPr>
          <p:cNvPr id="30"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63"/>
                </a:solidFill>
                <a:latin typeface="Arial"/>
                <a:ea typeface="Arial"/>
                <a:cs typeface="Aria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457200" y="228600"/>
            <a:ext cx="6583680" cy="731520"/>
          </a:xfrm>
          <a:prstGeom prst="rect">
            <a:avLst/>
          </a:prstGeom>
          <a:noFill/>
          <a:ln/>
        </p:spPr>
        <p:txBody>
          <a:bodyPr wrap="square" lIns="0" tIns="0" rIns="0" bIns="0" rtlCol="0" anchor="ctr"/>
          <a:lstStyle/>
          <a:p>
            <a:pPr marL="0" indent="0">
              <a:buNone/>
            </a:pPr>
            <a:r>
              <a:rPr lang="en-US" sz="3200" b="1" dirty="0">
                <a:solidFill>
                  <a:srgbClr val="16221B"/>
                </a:solidFill>
                <a:latin typeface="Arial" pitchFamily="34" charset="0"/>
                <a:ea typeface="Arial" pitchFamily="34" charset="-122"/>
                <a:cs typeface="Arial" pitchFamily="34" charset="-120"/>
              </a:rPr>
              <a:t>7. Revenue and ROI</a:t>
            </a:r>
            <a:endParaRPr lang="en-US" sz="3200" dirty="0"/>
          </a:p>
        </p:txBody>
      </p:sp>
      <p:sp>
        <p:nvSpPr>
          <p:cNvPr id="32"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63"/>
                </a:solidFill>
                <a:latin typeface="Arial"/>
                <a:ea typeface="Arial"/>
                <a:cs typeface="Arial"/>
              </a:defRPr>
            </a:lvl1pPr>
          </a:lstStyle>
          <a:p>
            <a:pPr algn="l"/>
            <a:fld id="{F7021451-1387-4CA6-816F-3879F97B5CBC}" type="slidenum">
              <a:rPr lang="en-US" b="0"/>
              <a:t>9</a:t>
            </a:fld>
            <a:endParaRPr lang="en-US"/>
          </a:p>
        </p:txBody>
      </p:sp>
      <p:sp>
        <p:nvSpPr>
          <p:cNvPr id="33" name="Rounded Rectangle 32"/>
          <p:cNvSpPr/>
          <p:nvPr/>
        </p:nvSpPr>
        <p:spPr>
          <a:xfrm>
            <a:off x="457200" y="1024128"/>
            <a:ext cx="3566160" cy="274320"/>
          </a:xfrm>
          <a:prstGeom prst="roundRect">
            <a:avLst>
              <a:gd name="adj" fmla="val 20000"/>
            </a:avLst>
          </a:prstGeom>
          <a:solidFill>
            <a:srgbClr val="F2A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1024128"/>
            <a:ext cx="3566160" cy="274320"/>
          </a:xfrm>
          <a:prstGeom prst="rect">
            <a:avLst/>
          </a:prstGeom>
          <a:noFill/>
        </p:spPr>
        <p:txBody>
          <a:bodyPr wrap="square" anchor="ctr" lIns="0" rIns="0" tIns="0" bIns="0">
            <a:spAutoFit/>
          </a:bodyPr>
          <a:lstStyle/>
          <a:p>
            <a:pPr algn="ctr">
              <a:spcAft>
                <a:spcPts val="0"/>
              </a:spcAft>
            </a:pPr>
            <a:r>
              <a:rPr sz="1000" b="1">
                <a:solidFill>
                  <a:srgbClr val="16221B"/>
                </a:solidFill>
                <a:latin typeface="Calibri"/>
              </a:rPr>
              <a:t>ILLUSTRATIVE ASSUMPTIONS, TO VALIDATE WITH OWNERS</a:t>
            </a:r>
          </a:p>
        </p:txBody>
      </p:sp>
      <p:sp>
        <p:nvSpPr>
          <p:cNvPr id="35" name="Rounded Rectangle 34"/>
          <p:cNvSpPr/>
          <p:nvPr/>
        </p:nvSpPr>
        <p:spPr>
          <a:xfrm>
            <a:off x="457200" y="1417320"/>
            <a:ext cx="2651760" cy="2377440"/>
          </a:xfrm>
          <a:prstGeom prst="roundRect">
            <a:avLst>
              <a:gd name="adj" fmla="val 3076"/>
            </a:avLst>
          </a:prstGeom>
          <a:solidFill>
            <a:srgbClr val="EE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3246120" y="1417320"/>
            <a:ext cx="2651760" cy="2377440"/>
          </a:xfrm>
          <a:prstGeom prst="roundRect">
            <a:avLst>
              <a:gd name="adj" fmla="val 3076"/>
            </a:avLst>
          </a:prstGeom>
          <a:solidFill>
            <a:srgbClr val="EE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035040" y="1417320"/>
            <a:ext cx="2651760" cy="2377440"/>
          </a:xfrm>
          <a:prstGeom prst="roundRect">
            <a:avLst>
              <a:gd name="adj" fmla="val 3076"/>
            </a:avLst>
          </a:prstGeom>
          <a:solidFill>
            <a:srgbClr val="EE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21792" y="1536192"/>
            <a:ext cx="2331720" cy="228600"/>
          </a:xfrm>
          <a:prstGeom prst="rect">
            <a:avLst/>
          </a:prstGeom>
          <a:noFill/>
        </p:spPr>
        <p:txBody>
          <a:bodyPr wrap="square" anchor="t" lIns="0" rIns="0" tIns="0" bIns="0">
            <a:spAutoFit/>
          </a:bodyPr>
          <a:lstStyle/>
          <a:p>
            <a:pPr algn="l">
              <a:spcAft>
                <a:spcPts val="0"/>
              </a:spcAft>
            </a:pPr>
            <a:r>
              <a:rPr sz="1100" b="1">
                <a:solidFill>
                  <a:srgbClr val="0F5E48"/>
                </a:solidFill>
                <a:latin typeface="Calibri"/>
              </a:rPr>
              <a:t>ASSUMPTIONS</a:t>
            </a:r>
          </a:p>
        </p:txBody>
      </p:sp>
      <p:sp>
        <p:nvSpPr>
          <p:cNvPr id="39" name="TextBox 38"/>
          <p:cNvSpPr txBox="1"/>
          <p:nvPr/>
        </p:nvSpPr>
        <p:spPr>
          <a:xfrm>
            <a:off x="621792" y="1828800"/>
            <a:ext cx="2331720" cy="1920240"/>
          </a:xfrm>
          <a:prstGeom prst="rect">
            <a:avLst/>
          </a:prstGeom>
          <a:noFill/>
        </p:spPr>
        <p:txBody>
          <a:bodyPr wrap="square" anchor="t" lIns="0" rIns="0" tIns="0" bIns="0">
            <a:spAutoFit/>
          </a:bodyPr>
          <a:lstStyle/>
          <a:p>
            <a:pPr algn="l">
              <a:spcAft>
                <a:spcPts val="700"/>
              </a:spcAft>
            </a:pPr>
            <a:r>
              <a:rPr sz="1300" b="0">
                <a:solidFill>
                  <a:srgbClr val="16221B"/>
                </a:solidFill>
                <a:latin typeface="Calibri"/>
              </a:rPr>
              <a:t>30 quotes a month per business</a:t>
            </a:r>
          </a:p>
          <a:p>
            <a:pPr algn="l">
              <a:spcAft>
                <a:spcPts val="700"/>
              </a:spcAft>
            </a:pPr>
            <a:r>
              <a:rPr sz="1300" b="0">
                <a:solidFill>
                  <a:srgbClr val="16221B"/>
                </a:solidFill>
                <a:latin typeface="Calibri"/>
              </a:rPr>
              <a:t>10 minutes saved per quote (the 50% target)</a:t>
            </a:r>
          </a:p>
          <a:p>
            <a:pPr algn="l">
              <a:spcAft>
                <a:spcPts val="700"/>
              </a:spcAft>
            </a:pPr>
            <a:r>
              <a:rPr sz="1300" b="0">
                <a:solidFill>
                  <a:srgbClr val="16221B"/>
                </a:solidFill>
                <a:latin typeface="Calibri"/>
              </a:rPr>
              <a:t>Time valued at the minimum wage, RM8.72 an hour</a:t>
            </a:r>
          </a:p>
          <a:p>
            <a:pPr algn="l">
              <a:spcAft>
                <a:spcPts val="700"/>
              </a:spcAft>
            </a:pPr>
            <a:r>
              <a:rPr sz="1300" b="0">
                <a:solidFill>
                  <a:srgbClr val="16221B"/>
                </a:solidFill>
                <a:latin typeface="Calibri"/>
              </a:rPr>
              <a:t>Price hypothesis: RM39 per business per month</a:t>
            </a:r>
          </a:p>
        </p:txBody>
      </p:sp>
      <p:sp>
        <p:nvSpPr>
          <p:cNvPr id="40" name="TextBox 39"/>
          <p:cNvSpPr txBox="1"/>
          <p:nvPr/>
        </p:nvSpPr>
        <p:spPr>
          <a:xfrm>
            <a:off x="3410712" y="1536192"/>
            <a:ext cx="2331720" cy="228600"/>
          </a:xfrm>
          <a:prstGeom prst="rect">
            <a:avLst/>
          </a:prstGeom>
          <a:noFill/>
        </p:spPr>
        <p:txBody>
          <a:bodyPr wrap="square" anchor="t" lIns="0" rIns="0" tIns="0" bIns="0">
            <a:spAutoFit/>
          </a:bodyPr>
          <a:lstStyle/>
          <a:p>
            <a:pPr algn="l">
              <a:spcAft>
                <a:spcPts val="0"/>
              </a:spcAft>
            </a:pPr>
            <a:r>
              <a:rPr sz="1100" b="1">
                <a:solidFill>
                  <a:srgbClr val="0F5E48"/>
                </a:solidFill>
                <a:latin typeface="Calibri"/>
              </a:rPr>
              <a:t>OWNER ROI</a:t>
            </a:r>
          </a:p>
        </p:txBody>
      </p:sp>
      <p:sp>
        <p:nvSpPr>
          <p:cNvPr id="41" name="TextBox 40"/>
          <p:cNvSpPr txBox="1"/>
          <p:nvPr/>
        </p:nvSpPr>
        <p:spPr>
          <a:xfrm>
            <a:off x="3410712" y="1810512"/>
            <a:ext cx="2331720" cy="548640"/>
          </a:xfrm>
          <a:prstGeom prst="rect">
            <a:avLst/>
          </a:prstGeom>
          <a:noFill/>
        </p:spPr>
        <p:txBody>
          <a:bodyPr wrap="square" anchor="t" lIns="0" rIns="0" tIns="0" bIns="0">
            <a:spAutoFit/>
          </a:bodyPr>
          <a:lstStyle/>
          <a:p>
            <a:pPr algn="l">
              <a:spcAft>
                <a:spcPts val="0"/>
              </a:spcAft>
            </a:pPr>
            <a:r>
              <a:rPr sz="3400" b="1">
                <a:solidFill>
                  <a:srgbClr val="0F5E48"/>
                </a:solidFill>
                <a:latin typeface="Arial"/>
              </a:rPr>
              <a:t>RM43.60</a:t>
            </a:r>
          </a:p>
        </p:txBody>
      </p:sp>
      <p:sp>
        <p:nvSpPr>
          <p:cNvPr id="42" name="TextBox 41"/>
          <p:cNvSpPr txBox="1"/>
          <p:nvPr/>
        </p:nvSpPr>
        <p:spPr>
          <a:xfrm>
            <a:off x="3410712" y="2395728"/>
            <a:ext cx="2331720" cy="274320"/>
          </a:xfrm>
          <a:prstGeom prst="rect">
            <a:avLst/>
          </a:prstGeom>
          <a:noFill/>
        </p:spPr>
        <p:txBody>
          <a:bodyPr wrap="square" anchor="t" lIns="0" rIns="0" tIns="0" bIns="0">
            <a:spAutoFit/>
          </a:bodyPr>
          <a:lstStyle/>
          <a:p>
            <a:pPr algn="l">
              <a:spcAft>
                <a:spcPts val="0"/>
              </a:spcAft>
            </a:pPr>
            <a:r>
              <a:rPr sz="1300" b="0">
                <a:solidFill>
                  <a:srgbClr val="16221B"/>
                </a:solidFill>
                <a:latin typeface="Calibri"/>
              </a:rPr>
              <a:t>of time saved a month</a:t>
            </a:r>
          </a:p>
        </p:txBody>
      </p:sp>
      <p:sp>
        <p:nvSpPr>
          <p:cNvPr id="43" name="TextBox 42"/>
          <p:cNvSpPr txBox="1"/>
          <p:nvPr/>
        </p:nvSpPr>
        <p:spPr>
          <a:xfrm>
            <a:off x="3410712" y="2743200"/>
            <a:ext cx="2331720" cy="1005840"/>
          </a:xfrm>
          <a:prstGeom prst="rect">
            <a:avLst/>
          </a:prstGeom>
          <a:noFill/>
        </p:spPr>
        <p:txBody>
          <a:bodyPr wrap="square" anchor="t" lIns="0" rIns="0" tIns="0" bIns="0">
            <a:spAutoFit/>
          </a:bodyPr>
          <a:lstStyle/>
          <a:p>
            <a:pPr algn="l">
              <a:spcAft>
                <a:spcPts val="0"/>
              </a:spcAft>
            </a:pPr>
            <a:r>
              <a:rPr sz="1300" b="0">
                <a:solidFill>
                  <a:srgbClr val="16221B"/>
                </a:solidFill>
                <a:latin typeface="Calibri"/>
              </a:rPr>
              <a:t>vs RM39 subscription: covered even at the wage floor, before any margin protected.</a:t>
            </a:r>
          </a:p>
        </p:txBody>
      </p:sp>
      <p:sp>
        <p:nvSpPr>
          <p:cNvPr id="44" name="TextBox 43"/>
          <p:cNvSpPr txBox="1"/>
          <p:nvPr/>
        </p:nvSpPr>
        <p:spPr>
          <a:xfrm>
            <a:off x="6199631" y="1536192"/>
            <a:ext cx="2331720" cy="228600"/>
          </a:xfrm>
          <a:prstGeom prst="rect">
            <a:avLst/>
          </a:prstGeom>
          <a:noFill/>
        </p:spPr>
        <p:txBody>
          <a:bodyPr wrap="square" anchor="t" lIns="0" rIns="0" tIns="0" bIns="0">
            <a:spAutoFit/>
          </a:bodyPr>
          <a:lstStyle/>
          <a:p>
            <a:pPr algn="l">
              <a:spcAft>
                <a:spcPts val="0"/>
              </a:spcAft>
            </a:pPr>
            <a:r>
              <a:rPr sz="1100" b="1">
                <a:solidFill>
                  <a:srgbClr val="0F5E48"/>
                </a:solidFill>
                <a:latin typeface="Calibri"/>
              </a:rPr>
              <a:t>OUR ECONOMICS</a:t>
            </a:r>
          </a:p>
        </p:txBody>
      </p:sp>
      <p:sp>
        <p:nvSpPr>
          <p:cNvPr id="45" name="TextBox 44"/>
          <p:cNvSpPr txBox="1"/>
          <p:nvPr/>
        </p:nvSpPr>
        <p:spPr>
          <a:xfrm>
            <a:off x="6199631" y="1810512"/>
            <a:ext cx="2331720" cy="548640"/>
          </a:xfrm>
          <a:prstGeom prst="rect">
            <a:avLst/>
          </a:prstGeom>
          <a:noFill/>
        </p:spPr>
        <p:txBody>
          <a:bodyPr wrap="square" anchor="t" lIns="0" rIns="0" tIns="0" bIns="0">
            <a:spAutoFit/>
          </a:bodyPr>
          <a:lstStyle/>
          <a:p>
            <a:pPr algn="l">
              <a:spcAft>
                <a:spcPts val="0"/>
              </a:spcAft>
            </a:pPr>
            <a:r>
              <a:rPr sz="3400" b="1">
                <a:solidFill>
                  <a:srgbClr val="0F5E48"/>
                </a:solidFill>
                <a:latin typeface="Arial"/>
              </a:rPr>
              <a:t>~RM0.07</a:t>
            </a:r>
          </a:p>
        </p:txBody>
      </p:sp>
      <p:sp>
        <p:nvSpPr>
          <p:cNvPr id="46" name="TextBox 45"/>
          <p:cNvSpPr txBox="1"/>
          <p:nvPr/>
        </p:nvSpPr>
        <p:spPr>
          <a:xfrm>
            <a:off x="6199631" y="2395728"/>
            <a:ext cx="2331720" cy="274320"/>
          </a:xfrm>
          <a:prstGeom prst="rect">
            <a:avLst/>
          </a:prstGeom>
          <a:noFill/>
        </p:spPr>
        <p:txBody>
          <a:bodyPr wrap="square" anchor="t" lIns="0" rIns="0" tIns="0" bIns="0">
            <a:spAutoFit/>
          </a:bodyPr>
          <a:lstStyle/>
          <a:p>
            <a:pPr algn="l">
              <a:spcAft>
                <a:spcPts val="0"/>
              </a:spcAft>
            </a:pPr>
            <a:r>
              <a:rPr sz="1300" b="0">
                <a:solidFill>
                  <a:srgbClr val="16221B"/>
                </a:solidFill>
                <a:latin typeface="Calibri"/>
              </a:rPr>
              <a:t>variable cost per quote</a:t>
            </a:r>
          </a:p>
        </p:txBody>
      </p:sp>
      <p:sp>
        <p:nvSpPr>
          <p:cNvPr id="47" name="TextBox 46"/>
          <p:cNvSpPr txBox="1"/>
          <p:nvPr/>
        </p:nvSpPr>
        <p:spPr>
          <a:xfrm>
            <a:off x="6199631" y="2743200"/>
            <a:ext cx="2331720" cy="1005840"/>
          </a:xfrm>
          <a:prstGeom prst="rect">
            <a:avLst/>
          </a:prstGeom>
          <a:noFill/>
        </p:spPr>
        <p:txBody>
          <a:bodyPr wrap="square" anchor="t" lIns="0" rIns="0" tIns="0" bIns="0">
            <a:spAutoFit/>
          </a:bodyPr>
          <a:lstStyle/>
          <a:p>
            <a:pPr algn="l">
              <a:spcAft>
                <a:spcPts val="0"/>
              </a:spcAft>
            </a:pPr>
            <a:r>
              <a:rPr sz="1200" b="0">
                <a:solidFill>
                  <a:srgbClr val="16221B"/>
                </a:solidFill>
                <a:latin typeface="Calibri"/>
              </a:rPr>
              <a:t>Voice note RM0.006, chat message up to RM0.056, extraction under RM0.01 (est.). About 95% variable margin before hosting and GPU.</a:t>
            </a:r>
          </a:p>
        </p:txBody>
      </p:sp>
      <p:sp>
        <p:nvSpPr>
          <p:cNvPr id="48" name="Rounded Rectangle 47"/>
          <p:cNvSpPr/>
          <p:nvPr/>
        </p:nvSpPr>
        <p:spPr>
          <a:xfrm>
            <a:off x="457200" y="3931920"/>
            <a:ext cx="8229600" cy="502920"/>
          </a:xfrm>
          <a:prstGeom prst="roundRect">
            <a:avLst>
              <a:gd name="adj" fmla="val 14545"/>
            </a:avLst>
          </a:prstGeom>
          <a:solidFill>
            <a:srgbClr val="0F5E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0080" y="3931920"/>
            <a:ext cx="7863840" cy="502920"/>
          </a:xfrm>
          <a:prstGeom prst="rect">
            <a:avLst/>
          </a:prstGeom>
          <a:noFill/>
        </p:spPr>
        <p:txBody>
          <a:bodyPr wrap="square" anchor="ctr" lIns="0" rIns="0" tIns="0" bIns="0">
            <a:spAutoFit/>
          </a:bodyPr>
          <a:lstStyle/>
          <a:p>
            <a:pPr algn="l">
              <a:spcAft>
                <a:spcPts val="0"/>
              </a:spcAft>
            </a:pPr>
            <a:r>
              <a:rPr sz="1600" b="1">
                <a:solidFill>
                  <a:srgbClr val="FFFFFF"/>
                </a:solidFill>
                <a:latin typeface="Arial"/>
              </a:rPr>
              <a:t>100 businesses = about RM46,800 a year     </a:t>
            </a:r>
            <a:r>
              <a:rPr sz="1600" b="1">
                <a:solidFill>
                  <a:srgbClr val="F2AC2E"/>
                </a:solidFill>
                <a:latin typeface="Arial"/>
              </a:rPr>
              <a:t>0.1% of MSMEs = about RM0.5M</a:t>
            </a:r>
          </a:p>
        </p:txBody>
      </p:sp>
      <p:sp>
        <p:nvSpPr>
          <p:cNvPr id="50" name="TextBox 49"/>
          <p:cNvSpPr txBox="1"/>
          <p:nvPr/>
        </p:nvSpPr>
        <p:spPr>
          <a:xfrm>
            <a:off x="457200" y="4526280"/>
            <a:ext cx="7589520" cy="365760"/>
          </a:xfrm>
          <a:prstGeom prst="rect">
            <a:avLst/>
          </a:prstGeom>
          <a:noFill/>
        </p:spPr>
        <p:txBody>
          <a:bodyPr wrap="square" anchor="t" lIns="0" rIns="0" tIns="0" bIns="0">
            <a:spAutoFit/>
          </a:bodyPr>
          <a:lstStyle/>
          <a:p>
            <a:pPr algn="l">
              <a:spcAft>
                <a:spcPts val="0"/>
              </a:spcAft>
            </a:pPr>
            <a:r>
              <a:rPr sz="1000" b="0">
                <a:solidFill>
                  <a:srgbClr val="5B6B63"/>
                </a:solidFill>
                <a:latin typeface="Calibri"/>
              </a:rPr>
              <a:t>Scenarios, not forecasts. Minimum wage RM8.72 an hour (Minimum Wages Order 2024). Voice and chat prices from the ILMU console and a chat-vendor page, before SST; extraction cost is our estimate. GPU US$0.59 an hour, only while running.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28600"/>
            <a:ext cx="6583680" cy="731520"/>
          </a:xfrm>
          <a:prstGeom prst="rect">
            <a:avLst/>
          </a:prstGeom>
          <a:noFill/>
          <a:ln/>
        </p:spPr>
        <p:txBody>
          <a:bodyPr wrap="square" lIns="0" tIns="0" rIns="0" bIns="0" rtlCol="0" anchor="ctr"/>
          <a:lstStyle/>
          <a:p>
            <a:pPr marL="0" indent="0">
              <a:buNone/>
            </a:pPr>
            <a:r>
              <a:rPr lang="en-US" sz="3200" b="1" dirty="0">
                <a:solidFill>
                  <a:srgbClr val="16221B"/>
                </a:solidFill>
                <a:latin typeface="Arial" pitchFamily="34" charset="0"/>
                <a:ea typeface="Arial" pitchFamily="34" charset="-122"/>
                <a:cs typeface="Arial" pitchFamily="34" charset="-120"/>
              </a:rPr>
              <a:t>8. How It Is Built</a:t>
            </a:r>
            <a:endParaRPr lang="en-US" sz="3200" dirty="0"/>
          </a:p>
        </p:txBody>
      </p:sp>
      <p:sp>
        <p:nvSpPr>
          <p:cNvPr id="3" name="Shape 1"/>
          <p:cNvSpPr/>
          <p:nvPr/>
        </p:nvSpPr>
        <p:spPr>
          <a:xfrm>
            <a:off x="457200" y="1097280"/>
            <a:ext cx="1481328" cy="731520"/>
          </a:xfrm>
          <a:prstGeom prst="roundRect">
            <a:avLst>
              <a:gd name="adj" fmla="val 10000"/>
            </a:avLst>
          </a:prstGeom>
          <a:solidFill>
            <a:srgbClr val="EEF5F1"/>
          </a:solidFill>
          <a:ln w="12700">
            <a:solidFill>
              <a:srgbClr val="EEF5F1"/>
            </a:solidFill>
            <a:prstDash val="solid"/>
          </a:ln>
        </p:spPr>
        <p:txBody>
          <a:bodyPr/>
          <a:p/>
        </p:txBody>
      </p:sp>
      <p:sp>
        <p:nvSpPr>
          <p:cNvPr id="4" name="Text 2"/>
          <p:cNvSpPr txBox="1"/>
          <p:nvPr/>
        </p:nvSpPr>
        <p:spPr>
          <a:xfrm>
            <a:off x="530352" y="1097280"/>
            <a:ext cx="1335024" cy="731520"/>
          </a:xfrm>
          <a:prstGeom prst="rect">
            <a:avLst/>
          </a:prstGeom>
          <a:noFill/>
          <a:ln/>
        </p:spPr>
        <p:txBody>
          <a:bodyPr wrap="square" lIns="0" tIns="0" rIns="0" bIns="0" rtlCol="0" anchor="ctr"/>
          <a:lstStyle/>
          <a:p>
            <a:pPr marL="0" indent="0" algn="ctr">
              <a:buNone/>
            </a:pPr>
            <a:r>
              <a:rPr lang="en-US" sz="1300" b="1" dirty="0">
                <a:solidFill>
                  <a:srgbClr val="16221B"/>
                </a:solidFill>
                <a:latin typeface="Calibri" pitchFamily="34" charset="0"/>
                <a:ea typeface="Calibri" pitchFamily="34" charset="-122"/>
                <a:cs typeface="Calibri" pitchFamily="34" charset="-120"/>
              </a:rPr>
              <a:t>Telegram / WhatsApp</a:t>
            </a:r>
            <a:endParaRPr lang="en-US" sz="1300" dirty="0"/>
          </a:p>
        </p:txBody>
      </p:sp>
      <p:sp>
        <p:nvSpPr>
          <p:cNvPr id="5" name="Shape 3"/>
          <p:cNvSpPr/>
          <p:nvPr/>
        </p:nvSpPr>
        <p:spPr>
          <a:xfrm>
            <a:off x="1956816" y="1371600"/>
            <a:ext cx="164592" cy="182880"/>
          </a:xfrm>
          <a:prstGeom prst="rightArrow">
            <a:avLst/>
          </a:prstGeom>
          <a:solidFill>
            <a:srgbClr val="F2AC2E"/>
          </a:solidFill>
          <a:ln w="12700">
            <a:solidFill>
              <a:srgbClr val="F2AC2E"/>
            </a:solidFill>
            <a:prstDash val="solid"/>
          </a:ln>
        </p:spPr>
        <p:txBody>
          <a:bodyPr/>
          <a:p/>
        </p:txBody>
      </p:sp>
      <p:sp>
        <p:nvSpPr>
          <p:cNvPr id="6" name="Shape 4"/>
          <p:cNvSpPr/>
          <p:nvPr/>
        </p:nvSpPr>
        <p:spPr>
          <a:xfrm>
            <a:off x="2144268" y="1097280"/>
            <a:ext cx="1481328" cy="731520"/>
          </a:xfrm>
          <a:prstGeom prst="roundRect">
            <a:avLst>
              <a:gd name="adj" fmla="val 10000"/>
            </a:avLst>
          </a:prstGeom>
          <a:solidFill>
            <a:srgbClr val="EEF5F1"/>
          </a:solidFill>
          <a:ln w="12700">
            <a:solidFill>
              <a:srgbClr val="EEF5F1"/>
            </a:solidFill>
            <a:prstDash val="solid"/>
          </a:ln>
        </p:spPr>
        <p:txBody>
          <a:bodyPr/>
          <a:p/>
        </p:txBody>
      </p:sp>
      <p:sp>
        <p:nvSpPr>
          <p:cNvPr id="7" name="Text 5"/>
          <p:cNvSpPr txBox="1"/>
          <p:nvPr/>
        </p:nvSpPr>
        <p:spPr>
          <a:xfrm>
            <a:off x="2217420" y="1097280"/>
            <a:ext cx="1335024" cy="731520"/>
          </a:xfrm>
          <a:prstGeom prst="rect">
            <a:avLst/>
          </a:prstGeom>
          <a:noFill/>
          <a:ln/>
        </p:spPr>
        <p:txBody>
          <a:bodyPr wrap="square" lIns="0" tIns="0" rIns="0" bIns="0" rtlCol="0" anchor="ctr"/>
          <a:lstStyle/>
          <a:p>
            <a:pPr marL="0" indent="0" algn="ctr">
              <a:buNone/>
            </a:pPr>
            <a:r>
              <a:rPr lang="en-US" sz="1300" b="1" dirty="0">
                <a:solidFill>
                  <a:srgbClr val="16221B"/>
                </a:solidFill>
                <a:latin typeface="Calibri" pitchFamily="34" charset="0"/>
                <a:ea typeface="Calibri" pitchFamily="34" charset="-122"/>
                <a:cs typeface="Calibri" pitchFamily="34" charset="-120"/>
              </a:rPr>
              <a:t>FastAPI on Replit</a:t>
            </a:r>
            <a:endParaRPr lang="en-US" sz="1300" dirty="0"/>
          </a:p>
        </p:txBody>
      </p:sp>
      <p:sp>
        <p:nvSpPr>
          <p:cNvPr id="8" name="Shape 6"/>
          <p:cNvSpPr/>
          <p:nvPr/>
        </p:nvSpPr>
        <p:spPr>
          <a:xfrm>
            <a:off x="3643884" y="1371600"/>
            <a:ext cx="164592" cy="182880"/>
          </a:xfrm>
          <a:prstGeom prst="rightArrow">
            <a:avLst/>
          </a:prstGeom>
          <a:solidFill>
            <a:srgbClr val="F2AC2E"/>
          </a:solidFill>
          <a:ln w="12700">
            <a:solidFill>
              <a:srgbClr val="F2AC2E"/>
            </a:solidFill>
            <a:prstDash val="solid"/>
          </a:ln>
        </p:spPr>
        <p:txBody>
          <a:bodyPr/>
          <a:p/>
        </p:txBody>
      </p:sp>
      <p:sp>
        <p:nvSpPr>
          <p:cNvPr id="9" name="Shape 7"/>
          <p:cNvSpPr/>
          <p:nvPr/>
        </p:nvSpPr>
        <p:spPr>
          <a:xfrm>
            <a:off x="3831336" y="1097280"/>
            <a:ext cx="1481328" cy="731520"/>
          </a:xfrm>
          <a:prstGeom prst="roundRect">
            <a:avLst>
              <a:gd name="adj" fmla="val 10000"/>
            </a:avLst>
          </a:prstGeom>
          <a:solidFill>
            <a:srgbClr val="EEF5F1"/>
          </a:solidFill>
          <a:ln w="12700">
            <a:solidFill>
              <a:srgbClr val="EEF5F1"/>
            </a:solidFill>
            <a:prstDash val="solid"/>
          </a:ln>
        </p:spPr>
        <p:txBody>
          <a:bodyPr/>
          <a:p/>
        </p:txBody>
      </p:sp>
      <p:sp>
        <p:nvSpPr>
          <p:cNvPr id="10" name="Text 8"/>
          <p:cNvSpPr txBox="1"/>
          <p:nvPr/>
        </p:nvSpPr>
        <p:spPr>
          <a:xfrm>
            <a:off x="3904488" y="1097280"/>
            <a:ext cx="1335024" cy="731520"/>
          </a:xfrm>
          <a:prstGeom prst="rect">
            <a:avLst/>
          </a:prstGeom>
          <a:noFill/>
          <a:ln/>
        </p:spPr>
        <p:txBody>
          <a:bodyPr wrap="square" lIns="0" tIns="0" rIns="0" bIns="0" rtlCol="0" anchor="ctr"/>
          <a:lstStyle/>
          <a:p>
            <a:pPr marL="0" indent="0" algn="ctr">
              <a:buNone/>
            </a:pPr>
            <a:r>
              <a:rPr lang="en-US" sz="1300" b="1" dirty="0">
                <a:solidFill>
                  <a:srgbClr val="16221B"/>
                </a:solidFill>
                <a:latin typeface="Calibri" pitchFamily="34" charset="0"/>
                <a:ea typeface="Calibri" pitchFamily="34" charset="-122"/>
                <a:cs typeface="Calibri" pitchFamily="34" charset="-120"/>
              </a:rPr>
              <a:t>ILMU and RunPod AI</a:t>
            </a:r>
            <a:endParaRPr lang="en-US" sz="1300" dirty="0"/>
          </a:p>
        </p:txBody>
      </p:sp>
      <p:sp>
        <p:nvSpPr>
          <p:cNvPr id="11" name="Shape 9"/>
          <p:cNvSpPr/>
          <p:nvPr/>
        </p:nvSpPr>
        <p:spPr>
          <a:xfrm>
            <a:off x="5330952" y="1371600"/>
            <a:ext cx="164592" cy="182880"/>
          </a:xfrm>
          <a:prstGeom prst="rightArrow">
            <a:avLst/>
          </a:prstGeom>
          <a:solidFill>
            <a:srgbClr val="F2AC2E"/>
          </a:solidFill>
          <a:ln w="12700">
            <a:solidFill>
              <a:srgbClr val="F2AC2E"/>
            </a:solidFill>
            <a:prstDash val="solid"/>
          </a:ln>
        </p:spPr>
        <p:txBody>
          <a:bodyPr/>
          <a:p/>
        </p:txBody>
      </p:sp>
      <p:sp>
        <p:nvSpPr>
          <p:cNvPr id="12" name="Shape 10"/>
          <p:cNvSpPr/>
          <p:nvPr/>
        </p:nvSpPr>
        <p:spPr>
          <a:xfrm>
            <a:off x="5518404" y="1097280"/>
            <a:ext cx="1481328" cy="731520"/>
          </a:xfrm>
          <a:prstGeom prst="roundRect">
            <a:avLst>
              <a:gd name="adj" fmla="val 10000"/>
            </a:avLst>
          </a:prstGeom>
          <a:solidFill>
            <a:srgbClr val="0F5E48"/>
          </a:solidFill>
          <a:ln w="12700">
            <a:solidFill>
              <a:srgbClr val="0F5E48"/>
            </a:solidFill>
            <a:prstDash val="solid"/>
          </a:ln>
        </p:spPr>
        <p:txBody>
          <a:bodyPr/>
          <a:p/>
        </p:txBody>
      </p:sp>
      <p:sp>
        <p:nvSpPr>
          <p:cNvPr id="13" name="Text 11"/>
          <p:cNvSpPr txBox="1"/>
          <p:nvPr/>
        </p:nvSpPr>
        <p:spPr>
          <a:xfrm>
            <a:off x="5591556" y="1097280"/>
            <a:ext cx="1335024" cy="7315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Rules engine and cost book</a:t>
            </a:r>
            <a:endParaRPr lang="en-US" sz="1300" dirty="0"/>
          </a:p>
        </p:txBody>
      </p:sp>
      <p:sp>
        <p:nvSpPr>
          <p:cNvPr id="14" name="Shape 12"/>
          <p:cNvSpPr/>
          <p:nvPr/>
        </p:nvSpPr>
        <p:spPr>
          <a:xfrm>
            <a:off x="7018020" y="1371600"/>
            <a:ext cx="164592" cy="182880"/>
          </a:xfrm>
          <a:prstGeom prst="rightArrow">
            <a:avLst/>
          </a:prstGeom>
          <a:solidFill>
            <a:srgbClr val="F2AC2E"/>
          </a:solidFill>
          <a:ln w="12700">
            <a:solidFill>
              <a:srgbClr val="F2AC2E"/>
            </a:solidFill>
            <a:prstDash val="solid"/>
          </a:ln>
        </p:spPr>
        <p:txBody>
          <a:bodyPr/>
          <a:p/>
        </p:txBody>
      </p:sp>
      <p:sp>
        <p:nvSpPr>
          <p:cNvPr id="15" name="Shape 13"/>
          <p:cNvSpPr/>
          <p:nvPr/>
        </p:nvSpPr>
        <p:spPr>
          <a:xfrm>
            <a:off x="7205472" y="1097280"/>
            <a:ext cx="1481328" cy="731520"/>
          </a:xfrm>
          <a:prstGeom prst="roundRect">
            <a:avLst>
              <a:gd name="adj" fmla="val 10000"/>
            </a:avLst>
          </a:prstGeom>
          <a:solidFill>
            <a:srgbClr val="EEF5F1"/>
          </a:solidFill>
          <a:ln w="12700">
            <a:solidFill>
              <a:srgbClr val="EEF5F1"/>
            </a:solidFill>
            <a:prstDash val="solid"/>
          </a:ln>
        </p:spPr>
        <p:txBody>
          <a:bodyPr/>
          <a:p/>
        </p:txBody>
      </p:sp>
      <p:sp>
        <p:nvSpPr>
          <p:cNvPr id="16" name="Text 14"/>
          <p:cNvSpPr txBox="1"/>
          <p:nvPr/>
        </p:nvSpPr>
        <p:spPr>
          <a:xfrm>
            <a:off x="7278624" y="1097280"/>
            <a:ext cx="1335024" cy="731520"/>
          </a:xfrm>
          <a:prstGeom prst="rect">
            <a:avLst/>
          </a:prstGeom>
          <a:noFill/>
          <a:ln/>
        </p:spPr>
        <p:txBody>
          <a:bodyPr wrap="square" lIns="0" tIns="0" rIns="0" bIns="0" rtlCol="0" anchor="ctr"/>
          <a:lstStyle/>
          <a:p>
            <a:pPr marL="0" indent="0" algn="ctr">
              <a:buNone/>
            </a:pPr>
            <a:r>
              <a:rPr lang="en-US" sz="1300" b="1" dirty="0">
                <a:solidFill>
                  <a:srgbClr val="16221B"/>
                </a:solidFill>
                <a:latin typeface="Calibri" pitchFamily="34" charset="0"/>
                <a:ea typeface="Calibri" pitchFamily="34" charset="-122"/>
                <a:cs typeface="Calibri" pitchFamily="34" charset="-120"/>
              </a:rPr>
              <a:t>Owner web app</a:t>
            </a:r>
            <a:endParaRPr lang="en-US" sz="1300" dirty="0"/>
          </a:p>
        </p:txBody>
      </p:sp>
      <p:sp>
        <p:nvSpPr>
          <p:cNvPr id="17" name="Shape 15"/>
          <p:cNvSpPr/>
          <p:nvPr/>
        </p:nvSpPr>
        <p:spPr>
          <a:xfrm>
            <a:off x="457200" y="2103120"/>
            <a:ext cx="2651760" cy="1554480"/>
          </a:xfrm>
          <a:prstGeom prst="roundRect">
            <a:avLst>
              <a:gd name="adj" fmla="val 4706"/>
            </a:avLst>
          </a:prstGeom>
          <a:solidFill>
            <a:srgbClr val="EEF5F1"/>
          </a:solidFill>
          <a:ln w="12700">
            <a:solidFill>
              <a:srgbClr val="EEF5F1"/>
            </a:solidFill>
            <a:prstDash val="solid"/>
          </a:ln>
        </p:spPr>
        <p:txBody>
          <a:bodyPr/>
          <a:p/>
        </p:txBody>
      </p:sp>
      <p:sp>
        <p:nvSpPr>
          <p:cNvPr id="18" name="Text 16"/>
          <p:cNvSpPr txBox="1"/>
          <p:nvPr/>
        </p:nvSpPr>
        <p:spPr>
          <a:xfrm>
            <a:off x="640080" y="2240280"/>
            <a:ext cx="2286000" cy="320040"/>
          </a:xfrm>
          <a:prstGeom prst="rect">
            <a:avLst/>
          </a:prstGeom>
          <a:noFill/>
          <a:ln/>
        </p:spPr>
        <p:txBody>
          <a:bodyPr wrap="square" lIns="0" tIns="0" rIns="0" bIns="0" rtlCol="0" anchor="t"/>
          <a:lstStyle/>
          <a:p>
            <a:pPr marL="0" indent="0">
              <a:buNone/>
            </a:pPr>
            <a:r>
              <a:rPr lang="en-US" sz="1800" b="1" dirty="0">
                <a:solidFill>
                  <a:srgbClr val="0F5E48"/>
                </a:solidFill>
                <a:latin typeface="Arial" pitchFamily="34" charset="0"/>
                <a:ea typeface="Arial" pitchFamily="34" charset="-122"/>
                <a:cs typeface="Arial" pitchFamily="34" charset="-120"/>
              </a:rPr>
              <a:t>Replit</a:t>
            </a:r>
            <a:endParaRPr lang="en-US" sz="1800" dirty="0"/>
          </a:p>
        </p:txBody>
      </p:sp>
      <p:sp>
        <p:nvSpPr>
          <p:cNvPr id="19" name="Text 17"/>
          <p:cNvSpPr txBox="1"/>
          <p:nvPr/>
        </p:nvSpPr>
        <p:spPr>
          <a:xfrm>
            <a:off x="640080" y="2651760"/>
            <a:ext cx="2286000" cy="914400"/>
          </a:xfrm>
          <a:prstGeom prst="rect">
            <a:avLst/>
          </a:prstGeom>
          <a:noFill/>
          <a:ln/>
        </p:spPr>
        <p:txBody>
          <a:bodyPr wrap="square" lIns="0" tIns="0" rIns="0" bIns="0" rtlCol="0" anchor="t"/>
          <a:lstStyle/>
          <a:p>
            <a:pPr marL="0" indent="0">
              <a:buNone/>
            </a:pPr>
            <a:r>
              <a:rPr lang="en-US" sz="1300" dirty="0">
                <a:solidFill>
                  <a:srgbClr val="16221B"/>
                </a:solidFill>
                <a:latin typeface="Calibri" pitchFamily="34" charset="0"/>
                <a:ea typeface="Calibri" pitchFamily="34" charset="-122"/>
                <a:cs typeface="Calibri" pitchFamily="34" charset="-120"/>
              </a:rPr>
              <a:t>Hosts the app, API and PostgreSQL. All secrets live in Replit Secrets.</a:t>
            </a:r>
            <a:endParaRPr lang="en-US" sz="1300" dirty="0"/>
          </a:p>
        </p:txBody>
      </p:sp>
      <p:sp>
        <p:nvSpPr>
          <p:cNvPr id="20" name="Shape 18"/>
          <p:cNvSpPr/>
          <p:nvPr/>
        </p:nvSpPr>
        <p:spPr>
          <a:xfrm>
            <a:off x="3246120" y="2103120"/>
            <a:ext cx="2651760" cy="1554480"/>
          </a:xfrm>
          <a:prstGeom prst="roundRect">
            <a:avLst>
              <a:gd name="adj" fmla="val 4706"/>
            </a:avLst>
          </a:prstGeom>
          <a:solidFill>
            <a:srgbClr val="EEF5F1"/>
          </a:solidFill>
          <a:ln w="12700">
            <a:solidFill>
              <a:srgbClr val="EEF5F1"/>
            </a:solidFill>
            <a:prstDash val="solid"/>
          </a:ln>
        </p:spPr>
        <p:txBody>
          <a:bodyPr/>
          <a:p/>
        </p:txBody>
      </p:sp>
      <p:sp>
        <p:nvSpPr>
          <p:cNvPr id="21" name="Text 19"/>
          <p:cNvSpPr txBox="1"/>
          <p:nvPr/>
        </p:nvSpPr>
        <p:spPr>
          <a:xfrm>
            <a:off x="3429000" y="2240280"/>
            <a:ext cx="2286000" cy="320040"/>
          </a:xfrm>
          <a:prstGeom prst="rect">
            <a:avLst/>
          </a:prstGeom>
          <a:noFill/>
          <a:ln/>
        </p:spPr>
        <p:txBody>
          <a:bodyPr wrap="square" lIns="0" tIns="0" rIns="0" bIns="0" rtlCol="0" anchor="t"/>
          <a:lstStyle/>
          <a:p>
            <a:pPr marL="0" indent="0">
              <a:buNone/>
            </a:pPr>
            <a:r>
              <a:rPr lang="en-US" sz="1800" b="1" dirty="0">
                <a:solidFill>
                  <a:srgbClr val="0F5E48"/>
                </a:solidFill>
                <a:latin typeface="Arial" pitchFamily="34" charset="0"/>
                <a:ea typeface="Arial" pitchFamily="34" charset="-122"/>
                <a:cs typeface="Arial" pitchFamily="34" charset="-120"/>
              </a:rPr>
              <a:t>RunPod</a:t>
            </a:r>
            <a:endParaRPr lang="en-US" sz="1800" dirty="0"/>
          </a:p>
        </p:txBody>
      </p:sp>
      <p:sp>
        <p:nvSpPr>
          <p:cNvPr id="22" name="Text 20"/>
          <p:cNvSpPr txBox="1"/>
          <p:nvPr/>
        </p:nvSpPr>
        <p:spPr>
          <a:xfrm>
            <a:off x="3429000" y="2651760"/>
            <a:ext cx="2286000" cy="914400"/>
          </a:xfrm>
          <a:prstGeom prst="rect">
            <a:avLst/>
          </a:prstGeom>
          <a:noFill/>
          <a:ln/>
        </p:spPr>
        <p:txBody>
          <a:bodyPr wrap="square" lIns="0" tIns="0" rIns="0" bIns="0" rtlCol="0" anchor="t"/>
          <a:lstStyle/>
          <a:p>
            <a:pPr marL="0" indent="0">
              <a:buNone/>
            </a:pPr>
            <a:r>
              <a:rPr lang="en-US" sz="1300" dirty="0">
                <a:solidFill>
                  <a:srgbClr val="16221B"/>
                </a:solidFill>
                <a:latin typeface="Calibri" pitchFamily="34" charset="0"/>
                <a:ea typeface="Calibri" pitchFamily="34" charset="-122"/>
                <a:cs typeface="Calibri" pitchFamily="34" charset="-120"/>
              </a:rPr>
              <a:t>A GPU runs Qwen2.5-VL with vLLM and reads catalog photos. Stopped when idle.</a:t>
            </a:r>
            <a:endParaRPr lang="en-US" sz="1300" dirty="0"/>
          </a:p>
        </p:txBody>
      </p:sp>
      <p:sp>
        <p:nvSpPr>
          <p:cNvPr id="23" name="Shape 21"/>
          <p:cNvSpPr/>
          <p:nvPr/>
        </p:nvSpPr>
        <p:spPr>
          <a:xfrm>
            <a:off x="6035040" y="2103120"/>
            <a:ext cx="2651760" cy="1554480"/>
          </a:xfrm>
          <a:prstGeom prst="roundRect">
            <a:avLst>
              <a:gd name="adj" fmla="val 4706"/>
            </a:avLst>
          </a:prstGeom>
          <a:solidFill>
            <a:srgbClr val="EEF5F1"/>
          </a:solidFill>
          <a:ln w="12700">
            <a:solidFill>
              <a:srgbClr val="EEF5F1"/>
            </a:solidFill>
            <a:prstDash val="solid"/>
          </a:ln>
        </p:spPr>
        <p:txBody>
          <a:bodyPr/>
          <a:p/>
        </p:txBody>
      </p:sp>
      <p:sp>
        <p:nvSpPr>
          <p:cNvPr id="24" name="Text 22"/>
          <p:cNvSpPr txBox="1"/>
          <p:nvPr/>
        </p:nvSpPr>
        <p:spPr>
          <a:xfrm>
            <a:off x="6217920" y="2240280"/>
            <a:ext cx="2286000" cy="320040"/>
          </a:xfrm>
          <a:prstGeom prst="rect">
            <a:avLst/>
          </a:prstGeom>
          <a:noFill/>
          <a:ln/>
        </p:spPr>
        <p:txBody>
          <a:bodyPr wrap="square" lIns="0" tIns="0" rIns="0" bIns="0" rtlCol="0" anchor="t"/>
          <a:lstStyle/>
          <a:p>
            <a:pPr marL="0" indent="0">
              <a:buNone/>
            </a:pPr>
            <a:r>
              <a:rPr lang="en-US" sz="1800" b="1" dirty="0">
                <a:solidFill>
                  <a:srgbClr val="0F5E48"/>
                </a:solidFill>
                <a:latin typeface="Arial" pitchFamily="34" charset="0"/>
                <a:ea typeface="Arial" pitchFamily="34" charset="-122"/>
                <a:cs typeface="Arial" pitchFamily="34" charset="-120"/>
              </a:rPr>
              <a:t>ILMU</a:t>
            </a:r>
            <a:endParaRPr lang="en-US" sz="1800" dirty="0"/>
          </a:p>
        </p:txBody>
      </p:sp>
      <p:sp>
        <p:nvSpPr>
          <p:cNvPr id="25" name="Text 23"/>
          <p:cNvSpPr txBox="1"/>
          <p:nvPr/>
        </p:nvSpPr>
        <p:spPr>
          <a:xfrm>
            <a:off x="6217920" y="2651760"/>
            <a:ext cx="2286000" cy="914400"/>
          </a:xfrm>
          <a:prstGeom prst="rect">
            <a:avLst/>
          </a:prstGeom>
          <a:noFill/>
          <a:ln/>
        </p:spPr>
        <p:txBody>
          <a:bodyPr wrap="square" lIns="0" tIns="0" rIns="0" bIns="0" rtlCol="0" anchor="t"/>
          <a:lstStyle/>
          <a:p>
            <a:pPr marL="0" indent="0">
              <a:buNone/>
            </a:pPr>
            <a:r>
              <a:rPr lang="en-US" sz="1300" dirty="0">
                <a:solidFill>
                  <a:srgbClr val="16221B"/>
                </a:solidFill>
                <a:latin typeface="Calibri" pitchFamily="34" charset="0"/>
                <a:ea typeface="Calibri" pitchFamily="34" charset="-122"/>
                <a:cs typeface="Calibri" pitchFamily="34" charset="-120"/>
              </a:rPr>
              <a:t>Manglish speech-to-text and structured extraction through the ILMU API.</a:t>
            </a:r>
            <a:endParaRPr lang="en-US" sz="1300" dirty="0"/>
          </a:p>
        </p:txBody>
      </p:sp>
      <p:sp>
        <p:nvSpPr>
          <p:cNvPr id="26" name="Text 24"/>
          <p:cNvSpPr txBox="1"/>
          <p:nvPr/>
        </p:nvSpPr>
        <p:spPr>
          <a:xfrm>
            <a:off x="457200" y="3886200"/>
            <a:ext cx="2651760" cy="411480"/>
          </a:xfrm>
          <a:prstGeom prst="rect">
            <a:avLst/>
          </a:prstGeom>
          <a:noFill/>
          <a:ln/>
        </p:spPr>
        <p:txBody>
          <a:bodyPr wrap="square" lIns="0" tIns="0" rIns="0" bIns="0" rtlCol="0" anchor="t"/>
          <a:lstStyle/>
          <a:p>
            <a:pPr marL="0" indent="0">
              <a:buNone/>
            </a:pPr>
            <a:r>
              <a:rPr lang="en-US" sz="2400" b="1" dirty="0">
                <a:solidFill>
                  <a:srgbClr val="0F5E48"/>
                </a:solidFill>
                <a:latin typeface="Arial" pitchFamily="34" charset="0"/>
                <a:ea typeface="Arial" pitchFamily="34" charset="-122"/>
                <a:cs typeface="Arial" pitchFamily="34" charset="-120"/>
              </a:rPr>
              <a:t>~500</a:t>
            </a:r>
            <a:endParaRPr lang="en-US" sz="2400" dirty="0"/>
          </a:p>
        </p:txBody>
      </p:sp>
      <p:sp>
        <p:nvSpPr>
          <p:cNvPr id="27" name="Text 25"/>
          <p:cNvSpPr txBox="1"/>
          <p:nvPr/>
        </p:nvSpPr>
        <p:spPr>
          <a:xfrm>
            <a:off x="457200" y="4315968"/>
            <a:ext cx="2651760" cy="274320"/>
          </a:xfrm>
          <a:prstGeom prst="rect">
            <a:avLst/>
          </a:prstGeom>
          <a:noFill/>
          <a:ln/>
        </p:spPr>
        <p:txBody>
          <a:bodyPr wrap="square" lIns="0" tIns="0" rIns="0" bIns="0" rtlCol="0" anchor="t"/>
          <a:lstStyle/>
          <a:p>
            <a:pPr marL="0" indent="0">
              <a:buNone/>
            </a:pPr>
            <a:r>
              <a:rPr lang="en-US" sz="1200" dirty="0">
                <a:solidFill>
                  <a:srgbClr val="5B6B63"/>
                </a:solidFill>
                <a:latin typeface="Calibri" pitchFamily="34" charset="0"/>
                <a:ea typeface="Calibri" pitchFamily="34" charset="-122"/>
                <a:cs typeface="Calibri" pitchFamily="34" charset="-120"/>
              </a:rPr>
              <a:t>automated tests, green in CI</a:t>
            </a:r>
            <a:endParaRPr lang="en-US" sz="1200" dirty="0"/>
          </a:p>
        </p:txBody>
      </p:sp>
      <p:sp>
        <p:nvSpPr>
          <p:cNvPr id="28" name="Text 26"/>
          <p:cNvSpPr txBox="1"/>
          <p:nvPr/>
        </p:nvSpPr>
        <p:spPr>
          <a:xfrm>
            <a:off x="3246120" y="3886200"/>
            <a:ext cx="2651760" cy="411480"/>
          </a:xfrm>
          <a:prstGeom prst="rect">
            <a:avLst/>
          </a:prstGeom>
          <a:noFill/>
          <a:ln/>
        </p:spPr>
        <p:txBody>
          <a:bodyPr wrap="square" lIns="0" tIns="0" rIns="0" bIns="0" rtlCol="0" anchor="t"/>
          <a:lstStyle/>
          <a:p>
            <a:pPr marL="0" indent="0">
              <a:buNone/>
            </a:pPr>
            <a:r>
              <a:rPr lang="en-US" sz="2400" b="1" dirty="0">
                <a:solidFill>
                  <a:srgbClr val="0F5E48"/>
                </a:solidFill>
                <a:latin typeface="Arial" pitchFamily="34" charset="0"/>
                <a:ea typeface="Arial" pitchFamily="34" charset="-122"/>
                <a:cs typeface="Arial" pitchFamily="34" charset="-120"/>
              </a:rPr>
              <a:t>Live</a:t>
            </a:r>
            <a:endParaRPr lang="en-US" sz="2400" dirty="0"/>
          </a:p>
        </p:txBody>
      </p:sp>
      <p:sp>
        <p:nvSpPr>
          <p:cNvPr id="29" name="Text 27"/>
          <p:cNvSpPr txBox="1"/>
          <p:nvPr/>
        </p:nvSpPr>
        <p:spPr>
          <a:xfrm>
            <a:off x="3246120" y="4315968"/>
            <a:ext cx="2651760" cy="274320"/>
          </a:xfrm>
          <a:prstGeom prst="rect">
            <a:avLst/>
          </a:prstGeom>
          <a:noFill/>
          <a:ln/>
        </p:spPr>
        <p:txBody>
          <a:bodyPr wrap="square" lIns="0" tIns="0" rIns="0" bIns="0" rtlCol="0" anchor="t"/>
          <a:lstStyle/>
          <a:p>
            <a:pPr marL="0" indent="0">
              <a:buNone/>
            </a:pPr>
            <a:r>
              <a:rPr lang="en-US" sz="1200" dirty="0">
                <a:solidFill>
                  <a:srgbClr val="5B6B63"/>
                </a:solidFill>
                <a:latin typeface="Calibri" pitchFamily="34" charset="0"/>
                <a:ea typeface="Calibri" pitchFamily="34" charset="-122"/>
                <a:cs typeface="Calibri" pitchFamily="34" charset="-120"/>
              </a:rPr>
              <a:t>Telegram bot and web app</a:t>
            </a:r>
            <a:endParaRPr lang="en-US" sz="1200" dirty="0"/>
          </a:p>
        </p:txBody>
      </p:sp>
      <p:sp>
        <p:nvSpPr>
          <p:cNvPr id="30" name="Text 28"/>
          <p:cNvSpPr txBox="1"/>
          <p:nvPr/>
        </p:nvSpPr>
        <p:spPr>
          <a:xfrm>
            <a:off x="6035040" y="3886200"/>
            <a:ext cx="2651760" cy="411480"/>
          </a:xfrm>
          <a:prstGeom prst="rect">
            <a:avLst/>
          </a:prstGeom>
          <a:noFill/>
          <a:ln/>
        </p:spPr>
        <p:txBody>
          <a:bodyPr wrap="square" lIns="0" tIns="0" rIns="0" bIns="0" rtlCol="0" anchor="t"/>
          <a:lstStyle/>
          <a:p>
            <a:pPr marL="0" indent="0">
              <a:buNone/>
            </a:pPr>
            <a:r>
              <a:rPr lang="en-US" sz="2400" b="1" dirty="0">
                <a:solidFill>
                  <a:srgbClr val="0F5E48"/>
                </a:solidFill>
                <a:latin typeface="Arial" pitchFamily="34" charset="0"/>
                <a:ea typeface="Arial" pitchFamily="34" charset="-122"/>
                <a:cs typeface="Arial" pitchFamily="34" charset="-120"/>
              </a:rPr>
              <a:t>Synthetic</a:t>
            </a:r>
            <a:endParaRPr lang="en-US" sz="2400" dirty="0"/>
          </a:p>
        </p:txBody>
      </p:sp>
      <p:sp>
        <p:nvSpPr>
          <p:cNvPr id="31" name="Text 29"/>
          <p:cNvSpPr txBox="1"/>
          <p:nvPr/>
        </p:nvSpPr>
        <p:spPr>
          <a:xfrm>
            <a:off x="6035040" y="4315968"/>
            <a:ext cx="2651760" cy="274320"/>
          </a:xfrm>
          <a:prstGeom prst="rect">
            <a:avLst/>
          </a:prstGeom>
          <a:noFill/>
          <a:ln/>
        </p:spPr>
        <p:txBody>
          <a:bodyPr wrap="square" lIns="0" tIns="0" rIns="0" bIns="0" rtlCol="0" anchor="t"/>
          <a:lstStyle/>
          <a:p>
            <a:pPr marL="0" indent="0">
              <a:buNone/>
            </a:pPr>
            <a:r>
              <a:rPr lang="en-US" sz="1200" dirty="0">
                <a:solidFill>
                  <a:srgbClr val="5B6B63"/>
                </a:solidFill>
                <a:latin typeface="Calibri" pitchFamily="34" charset="0"/>
                <a:ea typeface="Calibri" pitchFamily="34" charset="-122"/>
                <a:cs typeface="Calibri" pitchFamily="34" charset="-120"/>
              </a:rPr>
              <a:t>data only, PDPA-safe demo</a:t>
            </a:r>
            <a:endParaRPr lang="en-US" sz="1200" dirty="0"/>
          </a:p>
        </p:txBody>
      </p:sp>
      <p:sp>
        <p:nvSpPr>
          <p:cNvPr id="32"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63"/>
                </a:solidFill>
                <a:latin typeface="Arial"/>
                <a:ea typeface="Arial"/>
                <a:cs typeface="Arial"/>
              </a:defRPr>
            </a:lvl1pPr>
          </a:lstStyle>
          <a:p>
            <a:pPr algn="l"/>
            <a:fld id="{F7021451-1387-4CA6-816F-3879F97B5CBC}" type="slidenum">
              <a:rPr lang="en-US" b="0"/>
              <a:t>9</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28600"/>
            <a:ext cx="658368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Next, and who we are</a:t>
            </a:r>
            <a:endParaRPr lang="en-US" sz="3200" dirty="0"/>
          </a:p>
        </p:txBody>
      </p:sp>
      <p:sp>
        <p:nvSpPr>
          <p:cNvPr id="3" name="Text 1"/>
          <p:cNvSpPr txBox="1"/>
          <p:nvPr/>
        </p:nvSpPr>
        <p:spPr>
          <a:xfrm>
            <a:off x="457200" y="1097280"/>
            <a:ext cx="3657600" cy="228600"/>
          </a:xfrm>
          <a:prstGeom prst="rect">
            <a:avLst/>
          </a:prstGeom>
          <a:noFill/>
          <a:ln/>
        </p:spPr>
        <p:txBody>
          <a:bodyPr wrap="square" lIns="0" tIns="0" rIns="0" bIns="0" rtlCol="0" anchor="t"/>
          <a:lstStyle/>
          <a:p>
            <a:pPr marL="0" indent="0">
              <a:buNone/>
            </a:pPr>
            <a:r>
              <a:rPr lang="en-US" sz="1100" b="1" dirty="0">
                <a:solidFill>
                  <a:srgbClr val="F2AC2E"/>
                </a:solidFill>
                <a:latin typeface="Calibri" pitchFamily="34" charset="0"/>
                <a:ea typeface="Calibri" pitchFamily="34" charset="-122"/>
                <a:cs typeface="Calibri" pitchFamily="34" charset="-120"/>
              </a:rPr>
              <a:t>NEXT</a:t>
            </a:r>
            <a:endParaRPr lang="en-US" sz="1100" dirty="0"/>
          </a:p>
        </p:txBody>
      </p:sp>
      <p:sp>
        <p:nvSpPr>
          <p:cNvPr id="4" name="Text 2"/>
          <p:cNvSpPr txBox="1"/>
          <p:nvPr/>
        </p:nvSpPr>
        <p:spPr>
          <a:xfrm>
            <a:off x="457200" y="1371600"/>
            <a:ext cx="3840480" cy="17373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Connect WhatsApp through Meta</a:t>
            </a:r>
            <a:endParaRPr lang="en-US" sz="1500" dirty="0"/>
          </a:p>
          <a:p>
            <a:pPr marL="342900" indent="-342900">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Per-size prices and quantity tiers</a:t>
            </a:r>
            <a:endParaRPr lang="en-US" sz="1500" dirty="0"/>
          </a:p>
          <a:p>
            <a:pPr marL="342900" indent="-342900">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Time real owners: manual vs LARIS</a:t>
            </a:r>
            <a:endParaRPr lang="en-US" sz="1500" dirty="0"/>
          </a:p>
          <a:p>
            <a:pPr marL="342900" indent="-342900">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Stock levels for "in stock" answers</a:t>
            </a:r>
            <a:endParaRPr lang="en-US" sz="1500" dirty="0"/>
          </a:p>
        </p:txBody>
      </p:sp>
      <p:sp>
        <p:nvSpPr>
          <p:cNvPr id="5" name="Text 3"/>
          <p:cNvSpPr txBox="1"/>
          <p:nvPr/>
        </p:nvSpPr>
        <p:spPr>
          <a:xfrm>
            <a:off x="4754880" y="1097280"/>
            <a:ext cx="3657600" cy="228600"/>
          </a:xfrm>
          <a:prstGeom prst="rect">
            <a:avLst/>
          </a:prstGeom>
          <a:noFill/>
          <a:ln/>
        </p:spPr>
        <p:txBody>
          <a:bodyPr wrap="square" lIns="0" tIns="0" rIns="0" bIns="0" rtlCol="0" anchor="t"/>
          <a:lstStyle/>
          <a:p>
            <a:pPr marL="0" indent="0">
              <a:buNone/>
            </a:pPr>
            <a:r>
              <a:rPr lang="en-US" sz="1100" b="1" dirty="0">
                <a:solidFill>
                  <a:srgbClr val="F2AC2E"/>
                </a:solidFill>
                <a:latin typeface="Calibri" pitchFamily="34" charset="0"/>
                <a:ea typeface="Calibri" pitchFamily="34" charset="-122"/>
                <a:cs typeface="Calibri" pitchFamily="34" charset="-120"/>
              </a:rPr>
              <a:t>TEAM SPARK SURGE</a:t>
            </a:r>
            <a:endParaRPr lang="en-US" sz="1100" dirty="0"/>
          </a:p>
        </p:txBody>
      </p:sp>
      <p:sp>
        <p:nvSpPr>
          <p:cNvPr id="6" name="Text 4"/>
          <p:cNvSpPr txBox="1"/>
          <p:nvPr/>
        </p:nvSpPr>
        <p:spPr>
          <a:xfrm>
            <a:off x="4754880" y="1371600"/>
            <a:ext cx="3931920" cy="292608"/>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Harrish Govind</a:t>
            </a:r>
            <a:r>
              <a:rPr lang="en-US" sz="1400" dirty="0">
                <a:solidFill>
                  <a:srgbClr val="CFE3DA"/>
                </a:solidFill>
                <a:latin typeface="Calibri" pitchFamily="34" charset="0"/>
                <a:ea typeface="Calibri" pitchFamily="34" charset="-122"/>
                <a:cs typeface="Calibri" pitchFamily="34" charset="-120"/>
              </a:rPr>
              <a:t>   Team Leader</a:t>
            </a:r>
            <a:endParaRPr lang="en-US" sz="1400" dirty="0"/>
          </a:p>
        </p:txBody>
      </p:sp>
      <p:sp>
        <p:nvSpPr>
          <p:cNvPr id="7" name="Text 5"/>
          <p:cNvSpPr txBox="1"/>
          <p:nvPr/>
        </p:nvSpPr>
        <p:spPr>
          <a:xfrm>
            <a:off x="4754880" y="1700784"/>
            <a:ext cx="3931920" cy="292608"/>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Larm Kai Xian</a:t>
            </a:r>
            <a:r>
              <a:rPr lang="en-US" sz="1400" dirty="0">
                <a:solidFill>
                  <a:srgbClr val="CFE3DA"/>
                </a:solidFill>
                <a:latin typeface="Calibri" pitchFamily="34" charset="0"/>
                <a:ea typeface="Calibri" pitchFamily="34" charset="-122"/>
                <a:cs typeface="Calibri" pitchFamily="34" charset="-120"/>
              </a:rPr>
              <a:t>   Full-stack developer</a:t>
            </a:r>
            <a:endParaRPr lang="en-US" sz="1400" dirty="0"/>
          </a:p>
        </p:txBody>
      </p:sp>
      <p:sp>
        <p:nvSpPr>
          <p:cNvPr id="8" name="Text 6"/>
          <p:cNvSpPr txBox="1"/>
          <p:nvPr/>
        </p:nvSpPr>
        <p:spPr>
          <a:xfrm>
            <a:off x="4754880" y="2029968"/>
            <a:ext cx="3931920" cy="292608"/>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Kevinraj Gaunder</a:t>
            </a:r>
            <a:r>
              <a:rPr lang="en-US" sz="1400" dirty="0">
                <a:solidFill>
                  <a:srgbClr val="CFE3DA"/>
                </a:solidFill>
                <a:latin typeface="Calibri" pitchFamily="34" charset="0"/>
                <a:ea typeface="Calibri" pitchFamily="34" charset="-122"/>
                <a:cs typeface="Calibri" pitchFamily="34" charset="-120"/>
              </a:rPr>
              <a:t>   Researcher, Tester</a:t>
            </a:r>
            <a:endParaRPr lang="en-US" sz="1400" dirty="0"/>
          </a:p>
        </p:txBody>
      </p:sp>
      <p:sp>
        <p:nvSpPr>
          <p:cNvPr id="9" name="Text 7"/>
          <p:cNvSpPr txBox="1"/>
          <p:nvPr/>
        </p:nvSpPr>
        <p:spPr>
          <a:xfrm>
            <a:off x="4754880" y="2359152"/>
            <a:ext cx="3931920" cy="292608"/>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Teoh Yeong Boon</a:t>
            </a:r>
            <a:r>
              <a:rPr lang="en-US" sz="1400" dirty="0">
                <a:solidFill>
                  <a:srgbClr val="CFE3DA"/>
                </a:solidFill>
                <a:latin typeface="Calibri" pitchFamily="34" charset="0"/>
                <a:ea typeface="Calibri" pitchFamily="34" charset="-122"/>
                <a:cs typeface="Calibri" pitchFamily="34" charset="-120"/>
              </a:rPr>
              <a:t>   Store and quotation dataset</a:t>
            </a:r>
            <a:endParaRPr lang="en-US" sz="1400" dirty="0"/>
          </a:p>
        </p:txBody>
      </p:sp>
      <p:sp>
        <p:nvSpPr>
          <p:cNvPr id="10" name="Text 8"/>
          <p:cNvSpPr txBox="1"/>
          <p:nvPr/>
        </p:nvSpPr>
        <p:spPr>
          <a:xfrm>
            <a:off x="4754880" y="2688336"/>
            <a:ext cx="3931920" cy="292608"/>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Muhammad Aqil</a:t>
            </a:r>
            <a:r>
              <a:rPr lang="en-US" sz="1400" dirty="0">
                <a:solidFill>
                  <a:srgbClr val="CFE3DA"/>
                </a:solidFill>
                <a:latin typeface="Calibri" pitchFamily="34" charset="0"/>
                <a:ea typeface="Calibri" pitchFamily="34" charset="-122"/>
                <a:cs typeface="Calibri" pitchFamily="34" charset="-120"/>
              </a:rPr>
              <a:t>   Deck designer, Tester</a:t>
            </a:r>
            <a:endParaRPr lang="en-US" sz="1400" dirty="0"/>
          </a:p>
        </p:txBody>
      </p:sp>
      <p:sp>
        <p:nvSpPr>
          <p:cNvPr id="11" name="Shape 9"/>
          <p:cNvSpPr/>
          <p:nvPr/>
        </p:nvSpPr>
        <p:spPr>
          <a:xfrm>
            <a:off x="457200" y="3291840"/>
            <a:ext cx="8229600" cy="1234440"/>
          </a:xfrm>
          <a:prstGeom prst="roundRect">
            <a:avLst>
              <a:gd name="adj" fmla="val 5926"/>
            </a:avLst>
          </a:prstGeom>
          <a:solidFill>
            <a:srgbClr val="FFFFFF"/>
          </a:solidFill>
          <a:ln w="12700">
            <a:solidFill>
              <a:srgbClr val="FFFFFF"/>
            </a:solidFill>
            <a:prstDash val="solid"/>
          </a:ln>
        </p:spPr>
        <p:txBody>
          <a:bodyPr/>
          <a:p/>
        </p:txBody>
      </p:sp>
      <p:sp>
        <p:nvSpPr>
          <p:cNvPr id="12" name="Text 10"/>
          <p:cNvSpPr txBox="1"/>
          <p:nvPr/>
        </p:nvSpPr>
        <p:spPr>
          <a:xfrm>
            <a:off x="685800" y="3383280"/>
            <a:ext cx="2011680" cy="274320"/>
          </a:xfrm>
          <a:prstGeom prst="rect">
            <a:avLst/>
          </a:prstGeom>
          <a:noFill/>
          <a:ln/>
        </p:spPr>
        <p:txBody>
          <a:bodyPr wrap="square" lIns="0" tIns="0" rIns="0" bIns="0" rtlCol="0" anchor="t"/>
          <a:lstStyle/>
          <a:p>
            <a:pPr marL="0" indent="0">
              <a:buNone/>
            </a:pPr>
            <a:r>
              <a:rPr lang="en-US" sz="1200" b="1" dirty="0">
                <a:solidFill>
                  <a:srgbClr val="0F5E48"/>
                </a:solidFill>
                <a:latin typeface="Calibri" pitchFamily="34" charset="0"/>
                <a:ea typeface="Calibri" pitchFamily="34" charset="-122"/>
                <a:cs typeface="Calibri" pitchFamily="34" charset="-120"/>
              </a:rPr>
              <a:t>Try it now</a:t>
            </a:r>
            <a:endParaRPr lang="en-US" sz="1200" dirty="0"/>
          </a:p>
        </p:txBody>
      </p:sp>
      <p:sp>
        <p:nvSpPr>
          <p:cNvPr id="13" name="Text 11"/>
          <p:cNvSpPr txBox="1"/>
          <p:nvPr/>
        </p:nvSpPr>
        <p:spPr>
          <a:xfrm>
            <a:off x="685800" y="3639312"/>
            <a:ext cx="3840480" cy="457200"/>
          </a:xfrm>
          <a:prstGeom prst="rect">
            <a:avLst/>
          </a:prstGeom>
          <a:noFill/>
          <a:ln/>
        </p:spPr>
        <p:txBody>
          <a:bodyPr wrap="square" lIns="0" tIns="0" rIns="0" bIns="0" rtlCol="0" anchor="ctr"/>
          <a:lstStyle/>
          <a:p>
            <a:pPr marL="0" indent="0">
              <a:buNone/>
            </a:pPr>
            <a:r>
              <a:rPr lang="en-US" sz="1800" b="1" dirty="0">
                <a:solidFill>
                  <a:srgbClr val="16221B"/>
                </a:solidFill>
                <a:latin typeface="Arial" pitchFamily="34" charset="0"/>
                <a:ea typeface="Arial" pitchFamily="34" charset="-122"/>
                <a:cs typeface="Arial" pitchFamily="34" charset="-120"/>
              </a:rPr>
              <a:t>Telegram  @Gyser3DPrintBot</a:t>
            </a:r>
            <a:endParaRPr lang="en-US" sz="1800" dirty="0"/>
          </a:p>
        </p:txBody>
      </p:sp>
      <p:sp>
        <p:nvSpPr>
          <p:cNvPr id="14" name="Text 12"/>
          <p:cNvSpPr txBox="1"/>
          <p:nvPr/>
        </p:nvSpPr>
        <p:spPr>
          <a:xfrm>
            <a:off x="4754880" y="3639312"/>
            <a:ext cx="3749040" cy="457200"/>
          </a:xfrm>
          <a:prstGeom prst="rect">
            <a:avLst/>
          </a:prstGeom>
          <a:noFill/>
          <a:ln/>
        </p:spPr>
        <p:txBody>
          <a:bodyPr wrap="square" lIns="0" tIns="0" rIns="0" bIns="0" rtlCol="0" anchor="ctr"/>
          <a:lstStyle/>
          <a:p>
            <a:pPr marL="0" indent="0">
              <a:buNone/>
            </a:pPr>
            <a:r>
              <a:rPr lang="en-US" sz="1800" b="1" dirty="0">
                <a:solidFill>
                  <a:srgbClr val="16221B"/>
                </a:solidFill>
                <a:latin typeface="Arial" pitchFamily="34" charset="0"/>
                <a:ea typeface="Arial" pitchFamily="34" charset="-122"/>
                <a:cs typeface="Arial" pitchFamily="34" charset="-120"/>
              </a:rPr>
              <a:t>laris-malaysia.replit.app</a:t>
            </a:r>
            <a:endParaRPr lang="en-US" sz="1800" dirty="0"/>
          </a:p>
        </p:txBody>
      </p:sp>
      <p:sp>
        <p:nvSpPr>
          <p:cNvPr id="15" name="Text 13"/>
          <p:cNvSpPr txBox="1"/>
          <p:nvPr/>
        </p:nvSpPr>
        <p:spPr>
          <a:xfrm>
            <a:off x="685800" y="4160520"/>
            <a:ext cx="7680960" cy="274320"/>
          </a:xfrm>
          <a:prstGeom prst="rect">
            <a:avLst/>
          </a:prstGeom>
          <a:noFill/>
          <a:ln/>
        </p:spPr>
        <p:txBody>
          <a:bodyPr wrap="square" lIns="0" tIns="0" rIns="0" bIns="0" rtlCol="0" anchor="ctr"/>
          <a:lstStyle/>
          <a:p>
            <a:pPr marL="0" indent="0">
              <a:buNone/>
            </a:pPr>
            <a:r>
              <a:rPr lang="en-US" sz="1400" b="1" dirty="0">
                <a:solidFill>
                  <a:srgbClr val="0F5E48"/>
                </a:solidFill>
                <a:latin typeface="Calibri" pitchFamily="34" charset="0"/>
                <a:ea typeface="Calibri" pitchFamily="34" charset="-122"/>
                <a:cs typeface="Calibri" pitchFamily="34" charset="-120"/>
              </a:rPr>
              <a:t>Judge login (demo account, synthetic data):   lkaixian91@gmail.com   /   sparksurge</a:t>
            </a:r>
            <a:endParaRPr lang="en-US" sz="1400" dirty="0"/>
          </a:p>
        </p:txBody>
      </p:sp>
      <p:sp>
        <p:nvSpPr>
          <p:cNvPr id="16" name="Text 14"/>
          <p:cNvSpPr txBox="1"/>
          <p:nvPr/>
        </p:nvSpPr>
        <p:spPr>
          <a:xfrm>
            <a:off x="457200" y="4617720"/>
            <a:ext cx="5486400" cy="274320"/>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Terima kasih.  Thank you.</a:t>
            </a:r>
            <a:endParaRPr lang="en-US" sz="14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CFE3DA"/>
                </a:solidFill>
                <a:latin typeface="Arial"/>
                <a:ea typeface="Arial"/>
                <a:cs typeface="Arial"/>
              </a:defRPr>
            </a:lvl1pPr>
          </a:lstStyle>
          <a:p>
            <a:pPr algn="l"/>
            <a:fld id="{F7021451-1387-4CA6-816F-3879F97B5CBC}" type="slidenum">
              <a:rPr lang="en-US" b="0"/>
              <a:t>10</a:t>
            </a:fld>
            <a:endParaRPr lang="en-US"/>
          </a:p>
        </p:txBody>
      </p:sp>
    </p:spTree>
  </p:cSld>
  <p:clrMapOvr>
    <a:masterClrMapping/>
  </p:clrMapOvr>
</p:sld>
</file>

<file path=ppt/theme/theme1.xml><?xml version="1.0" encoding="utf-8"?>
<a:theme xmlns:a="http://schemas.openxmlformats.org/drawingml/2006/main" name="LARIS">
  <a:themeElements>
    <a:clrScheme name="LARIS">
      <a:dk1>
        <a:srgbClr val="16221B"/>
      </a:dk1>
      <a:lt1>
        <a:srgbClr val="FFFFFF"/>
      </a:lt1>
      <a:dk2>
        <a:srgbClr val="0F5E48"/>
      </a:dk2>
      <a:lt2>
        <a:srgbClr val="EEF5F1"/>
      </a:lt2>
      <a:accent1>
        <a:srgbClr val="0F5E48"/>
      </a:accent1>
      <a:accent2>
        <a:srgbClr val="F2AC2E"/>
      </a:accent2>
      <a:accent3>
        <a:srgbClr val="5B6B63"/>
      </a:accent3>
      <a:accent4>
        <a:srgbClr val="D9E3DD"/>
      </a:accent4>
      <a:accent5>
        <a:srgbClr val="2E8B6A"/>
      </a:accent5>
      <a:accent6>
        <a:srgbClr val="B3261E"/>
      </a:accent6>
      <a:hlink>
        <a:srgbClr val="0F5E48"/>
      </a:hlink>
      <a:folHlink>
        <a:srgbClr val="5B6B63"/>
      </a:folHlink>
    </a:clrScheme>
    <a:fontScheme name="LARI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1689</Words>
  <Application>Microsoft Office PowerPoint</Application>
  <PresentationFormat>On-screen Show (16:9)</PresentationFormat>
  <Paragraphs>215</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LARIS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Team Spark Surge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LARIS Pitch Deck</dc:title>
  <dc:subject>PptxGenJS Presentation</dc:subject>
  <dc:creator>Team Spark Surge</dc:creator>
  <cp:lastModifiedBy>LARM KAI XIAN</cp:lastModifiedBy>
  <cp:revision>2</cp:revision>
  <dcterms:created xsi:type="dcterms:W3CDTF">2026-10-24T18:08:50Z</dcterms:created>
  <dcterms:modified xsi:type="dcterms:W3CDTF">2026-10-24T18:13:02Z</dcterms:modified>
</cp:coreProperties>
</file>